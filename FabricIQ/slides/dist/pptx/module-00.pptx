
<file path=[Content_Types].xml><?xml version="1.0" encoding="utf-8"?>
<Types xmlns="http://schemas.openxmlformats.org/package/2006/content-types">
  <Default Extension="xml" ContentType="application/xml"/>
  <Default Extension="jpg" ContentType="image/jpeg"/>
  <Default Extension="rels" ContentType="application/vnd.openxmlformats-package.relationships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35.xml" ContentType="application/vnd.openxmlformats-officedocument.presentationml.slide+xml"/>
  <Override PartName="/ppt/slides/slide33.xml" ContentType="application/vnd.openxmlformats-officedocument.presentationml.slide+xml"/>
  <Override PartName="/ppt/slides/slide31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3.xml" ContentType="application/vnd.openxmlformats-officedocument.theme+xml"/>
  <Override PartName="/ppt/slideLayouts/slideLayout12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slides/slide36.xml" ContentType="application/vnd.openxmlformats-officedocument.presentationml.slide+xml"/>
  <Override PartName="/ppt/slides/slide34.xml" ContentType="application/vnd.openxmlformats-officedocument.presentationml.slide+xml"/>
  <Override PartName="/ppt/slides/slide32.xml" ContentType="application/vnd.openxmlformats-officedocument.presentationml.slide+xml"/>
  <Override PartName="/ppt/slides/slide30.xml" ContentType="application/vnd.openxmlformats-officedocument.presentationml.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p15="http://schemas.microsoft.com/office/powerpoint/2012/main"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78" r:id="rId4"/>
    <p:sldMasterId id="2147483680" r:id="rId5"/>
    <p:sldMasterId id="2147483682" r:id="rId6"/>
    <p:sldMasterId id="2147483684" r:id="rId7"/>
  </p:sldMasterIdLst>
  <p:notesMasterIdLst>
    <p:notesMasterId r:id="rId22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notes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0" clrIdx="1"/>
</p:cmAuthorLst>
</file>

<file path=ppt/presProps.xml><?xml version="1.0" encoding="utf-8"?>
<p:presentationPr xmlns:p14="http://schemas.microsoft.com/office/powerpoint/2010/main" xmlns:p15="http://schemas.microsoft.com/office/powerpoint/2012/main"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25B44"/>
    <a:srgbClr val="007864"/>
    <a:srgbClr val="013F34"/>
    <a:srgbClr val="BCA045"/>
    <a:srgbClr val="FFC300"/>
    <a:srgbClr val="F4F4F4"/>
    <a:srgbClr val="002C4C"/>
    <a:srgbClr val="FF4713"/>
    <a:srgbClr val="D0DBFF"/>
    <a:srgbClr val="002B4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D6A60C5-3AC7-2D4E-951A-6654EB0F1546}" v="2" dt="2026-08-11T14:48:25.92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viewPr xmlns:a="http://schemas.openxmlformats.org/drawingml/2006/main" xmlns:r="http://schemas.openxmlformats.org/officeDocument/2006/relationships" xmlns="http://schemas.openxmlformats.org/presentationml/2006/main">
  <normalViewPr horzBarState="maximized">
    <restoredLeft sz="15611"/>
    <restoredTop sz="94610"/>
  </normalViewPr>
  <slideViewPr>
    <cSldViewPr snapToGrid="0" snapToObjects="1">
      <cViewPr varScale="1">
        <scale>
          <a:sx n="136" d="100"/>
          <a:sy n="136" d="100"/>
        </scale>
        <origin x="216" y="312"/>
      </cViewPr>
      <guideLst/>
    </cSldViewPr>
  </slideViewPr>
  <notesTextViewPr>
    <cViewPr>
      <scale>
        <a:sx n="1" d="1"/>
        <a:sy n="1" d="1"/>
      </scale>
      <origin x="0" y="0"/>
    </cViewPr>
  </notesTextViewPr>
  <gridSpacing cx="76200" cy="76200"/>
</viewPr>
</file>

<file path=ppt/_rels/presentation.xml.rels>&#65279;<?xml version="1.0" encoding="utf-8"?>
<Relationships xmlns="http://schemas.openxmlformats.org/package/2006/relationships">
  <Relationship Type="http://schemas.openxmlformats.org/officeDocument/2006/relationships/theme" Target="theme/theme1.xml" Id="rId26" />
  <Relationship Type="http://schemas.openxmlformats.org/officeDocument/2006/relationships/customXml" Target="../customXml/item3.xml" Id="rId3" />
  <Relationship Type="http://schemas.openxmlformats.org/officeDocument/2006/relationships/slideMaster" Target="slideMasters/slideMaster4.xml" Id="rId7" />
  <Relationship Type="http://schemas.openxmlformats.org/officeDocument/2006/relationships/viewProps" Target="viewProps.xml" Id="rId25" />
  <Relationship Type="http://schemas.openxmlformats.org/officeDocument/2006/relationships/customXml" Target="../customXml/item2.xml" Id="rId2" />
  <Relationship Type="http://schemas.microsoft.com/office/2018/10/relationships/authors" Target="authors.xml" Id="rId29" />
  <Relationship Type="http://schemas.openxmlformats.org/officeDocument/2006/relationships/customXml" Target="../customXml/item1.xml" Id="rId1" />
  <Relationship Type="http://schemas.openxmlformats.org/officeDocument/2006/relationships/slideMaster" Target="slideMasters/slideMaster3.xml" Id="rId6" />
  <Relationship Type="http://schemas.openxmlformats.org/officeDocument/2006/relationships/presProps" Target="presProps.xml" Id="rId24" />
  <Relationship Type="http://schemas.openxmlformats.org/officeDocument/2006/relationships/slideMaster" Target="slideMasters/slideMaster2.xml" Id="rId5" />
  <Relationship Type="http://schemas.openxmlformats.org/officeDocument/2006/relationships/commentAuthors" Target="commentAuthors.xml" Id="rId23" />
  <Relationship Type="http://schemas.microsoft.com/office/2015/10/relationships/revisionInfo" Target="revisionInfo.xml" Id="rId28" />
  <Relationship Type="http://schemas.openxmlformats.org/officeDocument/2006/relationships/slideMaster" Target="slideMasters/slideMaster1.xml" Id="rId4" />
  <Relationship Type="http://schemas.openxmlformats.org/officeDocument/2006/relationships/notesMaster" Target="notesMasters/notesMaster1.xml" Id="rId22" />
  <Relationship Type="http://schemas.openxmlformats.org/officeDocument/2006/relationships/tableStyles" Target="tableStyles.xml" Id="rId27" />
  <Relationship Type="http://schemas.openxmlformats.org/officeDocument/2006/relationships/slide" Target="slides/slide29.xml" Id="rId8" />
  <Relationship Type="http://schemas.openxmlformats.org/officeDocument/2006/relationships/slide" Target="slides/slide30.xml" Id="rId9" />
  <Relationship Type="http://schemas.openxmlformats.org/officeDocument/2006/relationships/slide" Target="slides/slide31.xml" Id="rId10" />
  <Relationship Type="http://schemas.openxmlformats.org/officeDocument/2006/relationships/slide" Target="slides/slide32.xml" Id="rId11" />
  <Relationship Type="http://schemas.openxmlformats.org/officeDocument/2006/relationships/slide" Target="slides/slide33.xml" Id="rId12" />
  <Relationship Type="http://schemas.openxmlformats.org/officeDocument/2006/relationships/slide" Target="slides/slide34.xml" Id="rId13" />
  <Relationship Type="http://schemas.openxmlformats.org/officeDocument/2006/relationships/slide" Target="slides/slide35.xml" Id="rId14" />
  <Relationship Type="http://schemas.openxmlformats.org/officeDocument/2006/relationships/slide" Target="slides/slide36.xml" Id="rId15" />
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DB4B101-3225-4967-95B5-ED5755256DE0}" type="datetimeFigureOut">
              <a:rPr lang="en-GB" smtClean="0"/>
              <a:t>11/08/2026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B8C794-77EE-4724-B493-2E0907BFA55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023183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3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3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lash Scree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98312491"/>
      </p:ext>
    </p:extLst>
  </p:cSld>
  <p:clrMapOvr>
    <a:masterClrMapping/>
  </p:clrMapOvr>
</p:sldLayout>
</file>

<file path=ppt/slideLayouts/slideLayout2.xml><?xml version="1.0" encoding="utf-8"?>
<p:sldLayout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preserve="1" userDrawn="1">
  <p:cSld name="Section Break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091E24DE-EFB1-0B46-A1A5-D4A0F86E2C8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37938" y="1628799"/>
            <a:ext cx="10764252" cy="385760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800" b="1">
                <a:solidFill>
                  <a:srgbClr val="BCA0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rgbClr val="00E2FF"/>
                </a:solidFill>
              </a:defRPr>
            </a:lvl2pPr>
            <a:lvl3pPr>
              <a:defRPr>
                <a:solidFill>
                  <a:srgbClr val="00E2FF"/>
                </a:solidFill>
              </a:defRPr>
            </a:lvl3pPr>
            <a:lvl4pPr>
              <a:defRPr>
                <a:solidFill>
                  <a:srgbClr val="00E2FF"/>
                </a:solidFill>
              </a:defRPr>
            </a:lvl4pPr>
            <a:lvl5pPr>
              <a:defRPr>
                <a:solidFill>
                  <a:srgbClr val="00E2FF"/>
                </a:solidFill>
              </a:defRPr>
            </a:lvl5pPr>
          </a:lstStyle>
          <a:p>
            <a:pPr lvl="0"/>
            <a:r>
              <a:rPr lang="en-US" dirty="0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1131539201"/>
      </p:ext>
    </p:extLst>
  </p:cSld>
  <p:clrMapOvr>
    <a:masterClrMapping/>
  </p:clrMapOvr>
</p:sldLayout>
</file>

<file path=ppt/slideLayouts/slideLayout3.xml><?xml version="1.0" encoding="utf-8"?>
<p:sldLayout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preserve="1" userDrawn="1">
  <p:cSld name="Main Content : Title + Text Box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87A50152-6AF0-CB4C-8223-B92B04D86F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57990" y="798263"/>
            <a:ext cx="10728157" cy="725738"/>
          </a:xfrm>
          <a:prstGeom prst="rect">
            <a:avLst/>
          </a:prstGeom>
        </p:spPr>
        <p:txBody>
          <a:bodyPr/>
          <a:lstStyle>
            <a:lvl1pPr>
              <a:defRPr sz="3200" b="1">
                <a:solidFill>
                  <a:srgbClr val="013F3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C1E510EF-336A-D249-A32C-A6F043A3B56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38188" y="1700213"/>
            <a:ext cx="10747375" cy="4235450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187323503"/>
      </p:ext>
    </p:extLst>
  </p:cSld>
  <p:clrMapOvr>
    <a:masterClrMapping/>
  </p:clrMapOvr>
</p:sldLayout>
</file>

<file path=ppt/slideLayouts/slideLayout4.xml><?xml version="1.0" encoding="utf-8"?>
<p:sldLayout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preserve="1" userDrawn="1">
  <p:cSld name="1_Main Content : Title + Text Box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87A50152-6AF0-CB4C-8223-B92B04D86F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57990" y="798263"/>
            <a:ext cx="10728157" cy="725738"/>
          </a:xfrm>
          <a:prstGeom prst="rect">
            <a:avLst/>
          </a:prstGeom>
        </p:spPr>
        <p:txBody>
          <a:bodyPr/>
          <a:lstStyle>
            <a:lvl1pPr>
              <a:defRPr sz="3200" b="1">
                <a:solidFill>
                  <a:srgbClr val="BCA0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C1E510EF-336A-D249-A32C-A6F043A3B56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38188" y="1700213"/>
            <a:ext cx="10747375" cy="423545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65159803"/>
      </p:ext>
    </p:extLst>
  </p:cSld>
  <p:clrMapOvr>
    <a:masterClrMapping/>
  </p:clrMapOvr>
</p:sldLayout>
</file>

<file path=ppt/slideLayouts/slideLayout5.xml><?xml version="1.0" encoding="utf-8"?>
<p:sldLayout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preserve="1" userDrawn="1">
  <p:cSld name="Main Content : Title + Dual Text Box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87A50152-6AF0-CB4C-8223-B92B04D86F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57990" y="798263"/>
            <a:ext cx="10728157" cy="725738"/>
          </a:xfrm>
          <a:prstGeom prst="rect">
            <a:avLst/>
          </a:prstGeom>
        </p:spPr>
        <p:txBody>
          <a:bodyPr/>
          <a:lstStyle>
            <a:lvl1pPr>
              <a:defRPr sz="3200" b="1">
                <a:solidFill>
                  <a:srgbClr val="013F3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C1E510EF-336A-D249-A32C-A6F043A3B56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38188" y="1700213"/>
            <a:ext cx="5143128" cy="4235450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12">
            <a:extLst>
              <a:ext uri="{FF2B5EF4-FFF2-40B4-BE49-F238E27FC236}">
                <a16:creationId xmlns:a16="http://schemas.microsoft.com/office/drawing/2014/main" id="{B4DB5CA4-F374-B64C-81F3-7E6BC950417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372597" y="1700213"/>
            <a:ext cx="5143128" cy="4235450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99175194"/>
      </p:ext>
    </p:extLst>
  </p:cSld>
  <p:clrMapOvr>
    <a:masterClrMapping/>
  </p:clrMapOvr>
</p:sldLayout>
</file>

<file path=ppt/slideLayouts/slideLayout6.xml><?xml version="1.0" encoding="utf-8"?>
<p:sldLayout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preserve="1" userDrawn="1">
  <p:cSld name="Main Content - Dark BKG : Title + Dual Text Box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87A50152-6AF0-CB4C-8223-B92B04D86F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57990" y="798263"/>
            <a:ext cx="10728157" cy="725738"/>
          </a:xfrm>
          <a:prstGeom prst="rect">
            <a:avLst/>
          </a:prstGeom>
        </p:spPr>
        <p:txBody>
          <a:bodyPr/>
          <a:lstStyle>
            <a:lvl1pPr>
              <a:defRPr sz="3200" b="1">
                <a:solidFill>
                  <a:srgbClr val="BCA0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C1E510EF-336A-D249-A32C-A6F043A3B56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38188" y="1700213"/>
            <a:ext cx="5143128" cy="423545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12">
            <a:extLst>
              <a:ext uri="{FF2B5EF4-FFF2-40B4-BE49-F238E27FC236}">
                <a16:creationId xmlns:a16="http://schemas.microsoft.com/office/drawing/2014/main" id="{B4DB5CA4-F374-B64C-81F3-7E6BC950417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372597" y="1700213"/>
            <a:ext cx="5143128" cy="423545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070593789"/>
      </p:ext>
    </p:extLst>
  </p:cSld>
  <p:clrMapOvr>
    <a:masterClrMapping/>
  </p:clrMapOvr>
</p:sldLayout>
</file>

<file path=ppt/slideLayouts/slideLayout7.xml><?xml version="1.0" encoding="utf-8"?>
<p:sldLayout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preserve="1" userDrawn="1">
  <p:cSld name="Main Content : Visual Data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ontent Placeholder 12">
            <a:extLst>
              <a:ext uri="{FF2B5EF4-FFF2-40B4-BE49-F238E27FC236}">
                <a16:creationId xmlns:a16="http://schemas.microsoft.com/office/drawing/2014/main" id="{2C0C7565-66F8-5E4F-BC70-B52629A037BD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736600" y="736600"/>
            <a:ext cx="10793413" cy="51958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06598798"/>
      </p:ext>
    </p:extLst>
  </p:cSld>
  <p:clrMapOvr>
    <a:masterClrMapping/>
  </p:clrMapOvr>
</p:sldLayout>
</file>

<file path=ppt/slideLayouts/slideLayout8.xml><?xml version="1.0" encoding="utf-8"?>
<p:sldLayout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preserve="1" userDrawn="1">
  <p:cSld name="Main Content : Title + Visual Data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0">
            <a:extLst>
              <a:ext uri="{FF2B5EF4-FFF2-40B4-BE49-F238E27FC236}">
                <a16:creationId xmlns:a16="http://schemas.microsoft.com/office/drawing/2014/main" id="{A54FBFB0-DCDC-C848-901F-75B727D01B6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57990" y="798262"/>
            <a:ext cx="5204111" cy="1046579"/>
          </a:xfrm>
          <a:prstGeom prst="rect">
            <a:avLst/>
          </a:prstGeom>
        </p:spPr>
        <p:txBody>
          <a:bodyPr/>
          <a:lstStyle>
            <a:lvl1pPr>
              <a:defRPr sz="3200" b="1">
                <a:solidFill>
                  <a:srgbClr val="013F3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E6537CD3-4D9A-184F-8D06-E1B8E2D903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38188" y="2005263"/>
            <a:ext cx="5213433" cy="3930399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Content Placeholder 7">
            <a:extLst>
              <a:ext uri="{FF2B5EF4-FFF2-40B4-BE49-F238E27FC236}">
                <a16:creationId xmlns:a16="http://schemas.microsoft.com/office/drawing/2014/main" id="{DC03047F-22E2-5B43-86A2-7583C9DB314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57913" y="757238"/>
            <a:ext cx="5372100" cy="5200650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15417581"/>
      </p:ext>
    </p:extLst>
  </p:cSld>
  <p:clrMapOvr>
    <a:masterClrMapping/>
  </p:clrMapOvr>
</p:sldLayout>
</file>

<file path=ppt/slideLayouts/slideLayout9.xml><?xml version="1.0" encoding="utf-8"?>
<p:sldLayout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preserve="1" userDrawn="1">
  <p:cSld name="Main Content - Dark BKG : Title + Visual Data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0">
            <a:extLst>
              <a:ext uri="{FF2B5EF4-FFF2-40B4-BE49-F238E27FC236}">
                <a16:creationId xmlns:a16="http://schemas.microsoft.com/office/drawing/2014/main" id="{A54FBFB0-DCDC-C848-901F-75B727D01B6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57990" y="798262"/>
            <a:ext cx="5204111" cy="1046579"/>
          </a:xfrm>
          <a:prstGeom prst="rect">
            <a:avLst/>
          </a:prstGeom>
        </p:spPr>
        <p:txBody>
          <a:bodyPr/>
          <a:lstStyle>
            <a:lvl1pPr>
              <a:defRPr sz="3200" b="1">
                <a:solidFill>
                  <a:srgbClr val="BCA0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E6537CD3-4D9A-184F-8D06-E1B8E2D903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38188" y="2005263"/>
            <a:ext cx="5213433" cy="3930399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Content Placeholder 7">
            <a:extLst>
              <a:ext uri="{FF2B5EF4-FFF2-40B4-BE49-F238E27FC236}">
                <a16:creationId xmlns:a16="http://schemas.microsoft.com/office/drawing/2014/main" id="{DC03047F-22E2-5B43-86A2-7583C9DB314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57913" y="757238"/>
            <a:ext cx="5372100" cy="520065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38442111"/>
      </p:ext>
    </p:extLst>
  </p:cSld>
  <p:clrMapOvr>
    <a:masterClrMapping/>
  </p:clrMapOvr>
</p:sldLayout>
</file>

<file path=ppt/slideLayouts/slideLayout10.xml><?xml version="1.0" encoding="utf-8"?>
<p:sldLayout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preserve="1" userDrawn="1">
  <p:cSld name="Main Content : Visual Data + Tex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0">
            <a:extLst>
              <a:ext uri="{FF2B5EF4-FFF2-40B4-BE49-F238E27FC236}">
                <a16:creationId xmlns:a16="http://schemas.microsoft.com/office/drawing/2014/main" id="{1C79D75D-1604-BB44-B1C9-298036D703C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96264" y="798262"/>
            <a:ext cx="5204111" cy="1046579"/>
          </a:xfrm>
          <a:prstGeom prst="rect">
            <a:avLst/>
          </a:prstGeom>
        </p:spPr>
        <p:txBody>
          <a:bodyPr/>
          <a:lstStyle>
            <a:lvl1pPr>
              <a:defRPr sz="3200" b="1">
                <a:solidFill>
                  <a:srgbClr val="013F3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005221B5-9309-224F-87A9-A3D8D993843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176462" y="2005263"/>
            <a:ext cx="5213433" cy="3930399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Content Placeholder 7">
            <a:extLst>
              <a:ext uri="{FF2B5EF4-FFF2-40B4-BE49-F238E27FC236}">
                <a16:creationId xmlns:a16="http://schemas.microsoft.com/office/drawing/2014/main" id="{FDD66AF7-F6A9-AC40-9D50-9BAAC73B385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42951" y="757238"/>
            <a:ext cx="5243512" cy="5200650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504484"/>
      </p:ext>
    </p:extLst>
  </p:cSld>
  <p:clrMapOvr>
    <a:masterClrMapping/>
  </p:clrMapOvr>
</p:sldLayout>
</file>

<file path=ppt/slideLayouts/slideLayout11.xml><?xml version="1.0" encoding="utf-8"?>
<p:sldLayout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preserve="1" userDrawn="1">
  <p:cSld name="Main Content : Title + Dual Visual Data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7">
            <a:extLst>
              <a:ext uri="{FF2B5EF4-FFF2-40B4-BE49-F238E27FC236}">
                <a16:creationId xmlns:a16="http://schemas.microsoft.com/office/drawing/2014/main" id="{FDD66AF7-F6A9-AC40-9D50-9BAAC73B385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42951" y="1885950"/>
            <a:ext cx="5100637" cy="407193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Content Placeholder 7">
            <a:extLst>
              <a:ext uri="{FF2B5EF4-FFF2-40B4-BE49-F238E27FC236}">
                <a16:creationId xmlns:a16="http://schemas.microsoft.com/office/drawing/2014/main" id="{AD4D50A4-B734-AD41-8654-79DC681E4E1B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57913" y="1885950"/>
            <a:ext cx="5372100" cy="407193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itle 10">
            <a:extLst>
              <a:ext uri="{FF2B5EF4-FFF2-40B4-BE49-F238E27FC236}">
                <a16:creationId xmlns:a16="http://schemas.microsoft.com/office/drawing/2014/main" id="{9ECF72A8-B638-3842-8B60-7DFC3C6C0C7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57990" y="798263"/>
            <a:ext cx="10728157" cy="725738"/>
          </a:xfrm>
          <a:prstGeom prst="rect">
            <a:avLst/>
          </a:prstGeom>
        </p:spPr>
        <p:txBody>
          <a:bodyPr/>
          <a:lstStyle>
            <a:lvl1pPr>
              <a:defRPr sz="3200" b="1">
                <a:solidFill>
                  <a:srgbClr val="013F3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02732109"/>
      </p:ext>
    </p:extLst>
  </p:cSld>
  <p:clrMapOvr>
    <a:masterClrMapping/>
  </p:clrMapOvr>
</p:sldLayout>
</file>

<file path=ppt/slideLayouts/slideLayout12.xml><?xml version="1.0" encoding="utf-8"?>
<p:sldLayout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preserve="1" userDrawn="1">
  <p:cSld name="Dark Content (White Background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959064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.xml"/><Relationship Id="rId3" Type="http://schemas.openxmlformats.org/officeDocument/2006/relationships/slideLayout" Target="../slideLayouts/slideLayout5.xml"/><Relationship Id="rId7" Type="http://schemas.openxmlformats.org/officeDocument/2006/relationships/slideLayout" Target="../slideLayouts/slideLayout9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6" Type="http://schemas.openxmlformats.org/officeDocument/2006/relationships/slideLayout" Target="../slideLayouts/slideLayout8.xml"/><Relationship Id="rId11" Type="http://schemas.openxmlformats.org/officeDocument/2006/relationships/image" Target="../media/image3.jpg"/><Relationship Id="rId5" Type="http://schemas.openxmlformats.org/officeDocument/2006/relationships/slideLayout" Target="../slideLayouts/slideLayout7.xml"/><Relationship Id="rId10" Type="http://schemas.openxmlformats.org/officeDocument/2006/relationships/theme" Target="../theme/theme3.xml"/><Relationship Id="rId4" Type="http://schemas.openxmlformats.org/officeDocument/2006/relationships/slideLayout" Target="../slideLayouts/slideLayout6.xml"/><Relationship Id="rId9" Type="http://schemas.openxmlformats.org/officeDocument/2006/relationships/slideLayout" Target="../slideLayouts/slideLayout11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817659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891707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582914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92" r:id="rId2"/>
    <p:sldLayoutId id="2147483689" r:id="rId3"/>
    <p:sldLayoutId id="2147483693" r:id="rId4"/>
    <p:sldLayoutId id="2147483686" r:id="rId5"/>
    <p:sldLayoutId id="2147483687" r:id="rId6"/>
    <p:sldLayoutId id="2147483694" r:id="rId7"/>
    <p:sldLayoutId id="2147483688" r:id="rId8"/>
    <p:sldLayoutId id="2147483690" r:id="rId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25196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29.xml.rels>&#65279;<?xml version="1.0" encoding="utf-8"?>
<Relationships xmlns="http://schemas.openxmlformats.org/package/2006/relationships">
  <Relationship Type="http://schemas.openxmlformats.org/officeDocument/2006/relationships/image" Target="../media/image2.jpg" Id="rId3" />
  <Relationship Type="http://schemas.openxmlformats.org/officeDocument/2006/relationships/slideLayout" Target="../slideLayouts/slideLayout2.xml" Id="rId1" />
</Relationships>
</file>

<file path=ppt/slides/_rels/slide30.xml.rels>&#65279;<?xml version="1.0" encoding="utf-8"?>
<Relationships xmlns="http://schemas.openxmlformats.org/package/2006/relationships">
  <Relationship Type="http://schemas.openxmlformats.org/officeDocument/2006/relationships/slideLayout" Target="../slideLayouts/slideLayout3.xml" Id="rId1" />
</Relationships>
</file>

<file path=ppt/slides/_rels/slide31.xml.rels>&#65279;<?xml version="1.0" encoding="utf-8"?>
<Relationships xmlns="http://schemas.openxmlformats.org/package/2006/relationships">
  <Relationship Type="http://schemas.openxmlformats.org/officeDocument/2006/relationships/slideLayout" Target="../slideLayouts/slideLayout3.xml" Id="rId1" />
</Relationships>
</file>

<file path=ppt/slides/_rels/slide32.xml.rels>&#65279;<?xml version="1.0" encoding="utf-8"?>
<Relationships xmlns="http://schemas.openxmlformats.org/package/2006/relationships">
  <Relationship Type="http://schemas.openxmlformats.org/officeDocument/2006/relationships/slideLayout" Target="../slideLayouts/slideLayout3.xml" Id="rId1" />
</Relationships>
</file>

<file path=ppt/slides/_rels/slide33.xml.rels>&#65279;<?xml version="1.0" encoding="utf-8"?>
<Relationships xmlns="http://schemas.openxmlformats.org/package/2006/relationships">
  <Relationship Type="http://schemas.openxmlformats.org/officeDocument/2006/relationships/slideLayout" Target="../slideLayouts/slideLayout3.xml" Id="rId1" />
</Relationships>
</file>

<file path=ppt/slides/_rels/slide34.xml.rels>&#65279;<?xml version="1.0" encoding="utf-8"?>
<Relationships xmlns="http://schemas.openxmlformats.org/package/2006/relationships">
  <Relationship Type="http://schemas.openxmlformats.org/officeDocument/2006/relationships/slideLayout" Target="../slideLayouts/slideLayout3.xml" Id="rId1" />
</Relationships>
</file>

<file path=ppt/slides/_rels/slide35.xml.rels>&#65279;<?xml version="1.0" encoding="utf-8"?>
<Relationships xmlns="http://schemas.openxmlformats.org/package/2006/relationships">
  <Relationship Type="http://schemas.openxmlformats.org/officeDocument/2006/relationships/slideLayout" Target="../slideLayouts/slideLayout3.xml" Id="rId1" />
</Relationships>
</file>

<file path=ppt/slides/_rels/slide36.xml.rels>&#65279;<?xml version="1.0" encoding="utf-8"?>
<Relationships xmlns="http://schemas.openxmlformats.org/package/2006/relationships">
  <Relationship Type="http://schemas.openxmlformats.org/officeDocument/2006/relationships/slideLayout" Target="../slideLayouts/slideLayout2.xml" Id="rId1" />
</Relationships>
</file>

<file path=ppt/slides/slide29.xml><?xml version="1.0" encoding="utf-8"?>
<p:sld xmlns:a16="http://schemas.microsoft.com/office/drawing/2014/main" xmlns:adec="http://schemas.microsoft.com/office/drawing/2017/decorative" xmlns:p14="http://schemas.microsoft.com/office/powerpoint/2010/main" xmlns:m2p="urn:marptopptx:metadata"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BC0CC446-2BE1-533C-6F9A-2CADE0533E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479919"/>
          </a:xfrm>
          <a:prstGeom prst="rect">
            <a:avLst/>
          </a:prstGeom>
          <a:solidFill>
            <a:srgbClr val="BCA04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/>
              <a:t>Grounding real-time intelligence in enterprise context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F9FE7F2-7594-C345-99E2-801E68C39CBF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3925891" y="1396314"/>
            <a:ext cx="8011886" cy="1446550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rPr>
              <a:t>Fabric IQ</a:t>
            </a:r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3EEEF1E-D858-9C47-9A95-2D236BFD2F31}"/>
              </a:ext>
            </a:extLst>
          </p:cNvPr>
          <p:cNvSpPr txBox="1"/>
          <p:nvPr/>
        </p:nvSpPr>
        <p:spPr>
          <a:xfrm>
            <a:off x="3925891" y="4302696"/>
            <a:ext cx="8011886" cy="61555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2D3891A-AA58-D14F-909B-BF581581CD69}"/>
              </a:ext>
            </a:extLst>
          </p:cNvPr>
          <p:cNvSpPr txBox="1"/>
          <p:nvPr/>
        </p:nvSpPr>
        <p:spPr>
          <a:xfrm>
            <a:off x="3925891" y="4918822"/>
            <a:ext cx="8011886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endParaRPr lang="en-US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107F331A-088A-5E4B-ADDD-52C41D93C2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4294967295"/>
          </p:nvPr>
        </p:nvSpPr>
        <p:spPr>
          <a:xfrm>
            <a:off x="1732130" y="1587834"/>
            <a:ext cx="1700881" cy="1700798"/>
          </a:xfrm>
          <a:prstGeom prst="rect">
            <a:avLst/>
          </a:prstGeom>
        </p:spPr>
        <p:txBody>
          <a:bodyPr/>
          <a:lstStyle/>
          <a:p>
            <a:endParaRPr lang="en-US" sz="21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94F310C-2089-97AC-AE64-D6BB59BB61DA}"/>
              </a:ext>
            </a:extLst>
          </p:cNvPr>
          <p:cNvSpPr txBox="1"/>
          <p:nvPr/>
        </p:nvSpPr>
        <p:spPr>
          <a:xfrm>
            <a:off x="2777565" y="39904"/>
            <a:ext cx="6636869" cy="4001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sz="2000" b="1" spc="100" dirty="0">
                <a:solidFill>
                  <a:srgbClr val="125B4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Retail cold-chain monitoring, end to end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046711"/>
      </p:ext>
    </p:extLst>
  </p:cSld>
  <p:clrMapOvr>
    <a:masterClrMapping/>
  </p:clrMapOvr>
  <p:extLst>
    <p:ext uri="urn:marptopptx:slide-metadata">
      <m2p:meta xmlns:m2p="urn:marptopptx:metadata" version="2">
        <m2p:deckId>deck-d23db0a6120d</m2p:deckId>
        <m2p:slideId>fabric-iq</m2p:slideId>
        <m2p:title>Fabric IQ</m2p:title>
        <m2p:hash>sha256:b293253bbeaf47dd3d2f3297b5c2fb4d95f0d7891281109e2fe97fde9619e99c</m2p:hash>
        <m2p:sourceSlide>module-00-slides.md#slide-1</m2p:sourceSlide>
        <m2p:generatorVersion>1.0.0.0</m2p:generatorVersion>
        <m2p:layoutRef>Template[3]</m2p:layoutRef>
        <m2p:templateRef>EMFCC26_SpeakerPPT_TemplateA_Styled_Accessibility Review_Updated_11Aug.pptx</m2p:templateRef>
      </m2p:meta>
    </p:ext>
  </p:extLst>
</p:sld>
</file>

<file path=ppt/slides/slide3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rPr lang="en-US"/>
              <a:t>Today's scenario, in one line</a:t>
            </a:r>
            <a:endParaRPr lang="en-US"/>
          </a:p>
        </p:txBody>
      </p:sp>
      <p:sp>
        <p:nvSpPr>
          <p:cNvPr id="3" name="Content Placeholder"/>
          <p:cNvSpPr>
            <a:spLocks xmlns:a="http://schemas.openxmlformats.org/drawingml/2006/main" noGrp="1"/>
          </p:cNvSpPr>
          <p:nvPr>
            <p:ph type="body" idx="11"/>
          </p:nvPr>
        </p:nvSpPr>
        <p:spPr/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lang="en-US"/>
              <a:t>A retail chain with </a:t>
            </a:r>
            <a:r>
              <a:rPr lang="en-US" b="1"/>
              <a:t>stores</a:t>
            </a:r>
            <a:r>
              <a:rPr lang="en-US"/>
              <a:t>, </a:t>
            </a:r>
            <a:r>
              <a:rPr lang="en-US" b="1"/>
              <a:t>customers</a:t>
            </a:r>
            <a:r>
              <a:rPr lang="en-US"/>
              <a:t>, and </a:t>
            </a:r>
            <a:r>
              <a:rPr lang="en-US" b="1"/>
              <a:t>freezers</a:t>
            </a:r>
            <a:r>
              <a:rPr lang="en-US"/>
              <a:t> full of frozen goods.</a:t>
            </a:r>
            <a:endParaRPr lang="en-US"/>
          </a:p>
          <a:p xmlns:a="http://schemas.openxmlformats.org/drawingml/2006/main">
            <a:pPr lvl="0"/>
            <a:r>
              <a:rPr lang="en-US"/>
              <a:t>Freezers stream live temperature telemetry, second by second</a:t>
            </a:r>
            <a:endParaRPr lang="en-US"/>
          </a:p>
          <a:p xmlns:a="http://schemas.openxmlformats.org/drawingml/2006/main">
            <a:pPr lvl="0"/>
            <a:r>
              <a:rPr lang="en-US"/>
              <a:t>A raw reading like </a:t>
            </a:r>
            <a:r>
              <a:rPr lang="en-US" b="1"/>
              <a:t>-9°C</a:t>
            </a:r>
            <a:r>
              <a:rPr lang="en-US"/>
              <a:t> is meaningless on its own</a:t>
            </a:r>
            <a:endParaRPr lang="en-US"/>
          </a:p>
          <a:p xmlns:a="http://schemas.openxmlformats.org/drawingml/2006/main">
            <a:pPr lvl="0"/>
            <a:r>
              <a:rPr lang="en-US"/>
              <a:t>Fabric IQ adds the business context that turns a number into a decision</a:t>
            </a:r>
            <a:endParaRPr lang="en-US"/>
          </a:p>
        </p:txBody>
      </p:sp>
    </p:spTree>
  </p:cSld>
  <p:clrMapOvr>
    <a:masterClrMapping xmlns:a="http://schemas.openxmlformats.org/drawingml/2006/main"/>
  </p:clrMapOvr>
  <p:extLst>
    <p:ext uri="urn:marptopptx:slide-metadata">
      <m2p:meta xmlns:m2p="urn:marptopptx:metadata" version="2">
        <m2p:deckId>deck-d23db0a6120d</m2p:deckId>
        <m2p:slideId>today-s-scenario-in-one-line</m2p:slideId>
        <m2p:title>Today's scenario, in one line</m2p:title>
        <m2p:hash>sha256:f75d4ec08d6ae78726c6650a49eb6da7d684a2bc63bae9c8791b2390b7cb2c02</m2p:hash>
        <m2p:sourceSlide>module-00-slides.md#slide-2</m2p:sourceSlide>
        <m2p:generatorVersion>1.0.0.0</m2p:generatorVersion>
        <m2p:layoutRef>Main Content : Title + Text Box</m2p:layoutRef>
        <m2p:templateRef>EMFCC26_SpeakerPPT_TemplateA_Styled_Accessibility Review_Updated_11Aug.pptx</m2p:templateRef>
      </m2p:meta>
    </p:ext>
  </p:extLst>
</p:sld>
</file>

<file path=ppt/slides/slide3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rPr lang="en-US"/>
              <a:t>Where this fits in the day</a:t>
            </a:r>
            <a:endParaRPr lang="en-US"/>
          </a:p>
        </p:txBody>
      </p:sp>
      <p:sp>
        <p:nvSpPr>
          <p:cNvPr id="3" name="Content Placeholder"/>
          <p:cNvSpPr>
            <a:spLocks xmlns:a="http://schemas.openxmlformats.org/drawingml/2006/main" noGrp="1"/>
          </p:cNvSpPr>
          <p:nvPr>
            <p:ph type="body" idx="11"/>
          </p:nvPr>
        </p:nvSpPr>
        <p:spPr/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lvl="0"/>
            <a:r>
              <a:rPr lang="en-US" b="1"/>
              <a:t>Morning / first half (Johan):</a:t>
            </a:r>
            <a:r>
              <a:rPr lang="en-US"/>
              <a:t> Real-Time Intelligence — Eventstream, Eventhouse, Activator</a:t>
            </a:r>
            <a:endParaRPr lang="en-US"/>
          </a:p>
          <a:p xmlns:a="http://schemas.openxmlformats.org/drawingml/2006/main">
            <a:pPr lvl="0"/>
            <a:r>
              <a:rPr lang="en-US" b="1"/>
              <a:t>This half (Brian):</a:t>
            </a:r>
            <a:r>
              <a:rPr lang="en-US"/>
              <a:t> </a:t>
            </a:r>
            <a:r>
              <a:rPr lang="en-US" b="1"/>
              <a:t>Fabric IQ</a:t>
            </a:r>
            <a:r>
              <a:rPr lang="en-US"/>
              <a:t> — the semantic and agent layer </a:t>
            </a:r>
            <a:r>
              <a:rPr lang="en-US" i="1"/>
              <a:t>on top of</a:t>
            </a:r>
            <a:r>
              <a:rPr lang="en-US"/>
              <a:t> RTI</a:t>
            </a:r>
            <a:endParaRPr lang="en-US"/>
          </a:p>
          <a:p xmlns:a="http://schemas.openxmlformats.org/drawingml/2006/main">
            <a:pPr lvl="0"/>
            <a:r>
              <a:rPr lang="en-US"/>
              <a:t>Same retail cold-chain data, same workspace — we're extending, not restarting</a:t>
            </a:r>
            <a:endParaRPr lang="en-US"/>
          </a:p>
        </p:txBody>
      </p:sp>
    </p:spTree>
  </p:cSld>
  <p:clrMapOvr>
    <a:masterClrMapping xmlns:a="http://schemas.openxmlformats.org/drawingml/2006/main"/>
  </p:clrMapOvr>
  <p:extLst>
    <p:ext uri="urn:marptopptx:slide-metadata">
      <m2p:meta xmlns:m2p="urn:marptopptx:metadata" version="2">
        <m2p:deckId>deck-d23db0a6120d</m2p:deckId>
        <m2p:slideId>where-this-fits-in-the-day</m2p:slideId>
        <m2p:title>Where this fits in the day</m2p:title>
        <m2p:hash>sha256:0f304ccd7e7f82b7ad33c808ba2621310a92788b01e8aed213822d0a0a1959eb</m2p:hash>
        <m2p:sourceSlide>module-00-slides.md#slide-3</m2p:sourceSlide>
        <m2p:generatorVersion>1.0.0.0</m2p:generatorVersion>
        <m2p:layoutRef>Main Content : Title + Text Box</m2p:layoutRef>
        <m2p:templateRef>EMFCC26_SpeakerPPT_TemplateA_Styled_Accessibility Review_Updated_11Aug.pptx</m2p:templateRef>
      </m2p:meta>
    </p:ext>
  </p:extLst>
</p:sld>
</file>

<file path=ppt/slides/slide3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rPr lang="en-US"/>
              <a:t>The four-hour build, top to bottom</a:t>
            </a:r>
            <a:endParaRPr lang="en-US"/>
          </a:p>
        </p:txBody>
      </p:sp>
      <p:sp>
        <p:nvSpPr>
          <p:cNvPr id="3" name="Content Placeholder"/>
          <p:cNvSpPr>
            <a:spLocks xmlns:a="http://schemas.openxmlformats.org/drawingml/2006/main" noGrp="1"/>
          </p:cNvSpPr>
          <p:nvPr>
            <p:ph type="body" idx="11"/>
          </p:nvPr>
        </p:nvSpPr>
        <p:spPr/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lvl="0">
              <a:buAutoNum type="arabicPeriod" startAt="1"/>
            </a:pPr>
            <a:r>
              <a:rPr lang="en-US" b="1"/>
              <a:t>Module 01</a:t>
            </a:r>
            <a:r>
              <a:rPr lang="en-US"/>
              <a:t> — Fabric IQ architecture &amp; why context matters</a:t>
            </a:r>
            <a:endParaRPr lang="en-US"/>
          </a:p>
          <a:p xmlns:a="http://schemas.openxmlformats.org/drawingml/2006/main">
            <a:pPr lvl="0">
              <a:buAutoNum type="arabicPeriod" startAt="2"/>
            </a:pPr>
            <a:r>
              <a:rPr lang="en-US" b="1"/>
              <a:t>Module 02</a:t>
            </a:r>
            <a:r>
              <a:rPr lang="en-US"/>
              <a:t> — Telemetry + semantic context, grounding signals</a:t>
            </a:r>
            <a:endParaRPr lang="en-US"/>
          </a:p>
          <a:p xmlns:a="http://schemas.openxmlformats.org/drawingml/2006/main">
            <a:pPr lvl="0">
              <a:buAutoNum type="arabicPeriod" startAt="3"/>
            </a:pPr>
            <a:r>
              <a:rPr lang="en-US" b="1"/>
              <a:t>Module 03</a:t>
            </a:r>
            <a:r>
              <a:rPr lang="en-US"/>
              <a:t> — Build </a:t>
            </a:r>
            <a:r>
              <a:rPr lang="en-US"/>
              <a:t>ColdChainOntology</a:t>
            </a:r>
            <a:r>
              <a:rPr lang="en-US"/>
              <a:t> (highest-value module)</a:t>
            </a:r>
            <a:endParaRPr lang="en-US"/>
          </a:p>
          <a:p xmlns:a="http://schemas.openxmlformats.org/drawingml/2006/main">
            <a:pPr lvl="0">
              <a:buAutoNum type="arabicPeriod" startAt="4"/>
            </a:pPr>
            <a:r>
              <a:rPr lang="en-US" b="1"/>
              <a:t>Module 04</a:t>
            </a:r>
            <a:r>
              <a:rPr lang="en-US"/>
              <a:t> — Agents on top: </a:t>
            </a:r>
            <a:r>
              <a:rPr lang="en-US"/>
              <a:t>ColdChainDataAgent</a:t>
            </a:r>
            <a:r>
              <a:rPr lang="en-US"/>
              <a:t>, </a:t>
            </a:r>
            <a:r>
              <a:rPr lang="en-US"/>
              <a:t>ColdChainOperationsAgent</a:t>
            </a:r>
            <a:endParaRPr lang="en-US"/>
          </a:p>
          <a:p xmlns:a="http://schemas.openxmlformats.org/drawingml/2006/main">
            <a:pPr lvl="0">
              <a:buAutoNum type="arabicPeriod" startAt="5"/>
            </a:pPr>
            <a:r>
              <a:rPr lang="en-US" b="1"/>
              <a:t>Module 05</a:t>
            </a:r>
            <a:r>
              <a:rPr lang="en-US"/>
              <a:t> — Prompting, trust, traceability</a:t>
            </a:r>
            <a:endParaRPr lang="en-US"/>
          </a:p>
          <a:p xmlns:a="http://schemas.openxmlformats.org/drawingml/2006/main">
            <a:pPr lvl="0">
              <a:buAutoNum type="arabicPeriod" startAt="6"/>
            </a:pPr>
            <a:r>
              <a:rPr lang="en-US" b="1"/>
              <a:t>Module 06</a:t>
            </a:r>
            <a:r>
              <a:rPr lang="en-US"/>
              <a:t> — Wrap-up &amp; resources</a:t>
            </a:r>
            <a:endParaRPr lang="en-US"/>
          </a:p>
        </p:txBody>
      </p:sp>
    </p:spTree>
  </p:cSld>
  <p:clrMapOvr>
    <a:masterClrMapping xmlns:a="http://schemas.openxmlformats.org/drawingml/2006/main"/>
  </p:clrMapOvr>
  <p:extLst>
    <p:ext uri="urn:marptopptx:slide-metadata">
      <m2p:meta xmlns:m2p="urn:marptopptx:metadata" version="2">
        <m2p:deckId>deck-d23db0a6120d</m2p:deckId>
        <m2p:slideId>the-four-hour-build-top-to-bottom</m2p:slideId>
        <m2p:title>The four-hour build, top to bottom</m2p:title>
        <m2p:hash>sha256:fdd304561d52bd2479c2692bbb3675040fbef3b63c1214d70d51102a53d4a5ef</m2p:hash>
        <m2p:sourceSlide>module-00-slides.md#slide-4</m2p:sourceSlide>
        <m2p:generatorVersion>1.0.0.0</m2p:generatorVersion>
        <m2p:layoutRef>Main Content : Title + Text Box</m2p:layoutRef>
        <m2p:templateRef>EMFCC26_SpeakerPPT_TemplateA_Styled_Accessibility Review_Updated_11Aug.pptx</m2p:templateRef>
      </m2p:meta>
    </p:ext>
  </p:extLst>
</p:sld>
</file>

<file path=ppt/slides/slide3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rPr lang="en-US"/>
              <a:t>Light RTI recap</a:t>
            </a:r>
            <a:endParaRPr lang="en-US"/>
          </a:p>
        </p:txBody>
      </p:sp>
      <p:sp>
        <p:nvSpPr>
          <p:cNvPr id="3" name="Content Placeholder"/>
          <p:cNvSpPr>
            <a:spLocks xmlns:a="http://schemas.openxmlformats.org/drawingml/2006/main" noGrp="1"/>
          </p:cNvSpPr>
          <p:nvPr>
            <p:ph type="body" idx="11"/>
          </p:nvPr>
        </p:nvSpPr>
        <p:spPr/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lang="en-US"/>
              <a:t>You already built (or will verify) these in the </a:t>
            </a:r>
            <a:r>
              <a:rPr lang="en-US"/>
              <a:t>Fabric IQ</a:t>
            </a:r>
            <a:r>
              <a:rPr lang="en-US"/>
              <a:t> workspace:</a:t>
            </a:r>
            <a:endParaRPr lang="en-US"/>
          </a:p>
          <a:p xmlns:a="http://schemas.openxmlformats.org/drawingml/2006/main">
            <a:pPr lvl="0"/>
            <a:r>
              <a:rPr lang="en-US" b="1"/>
              <a:t>Eventstream</a:t>
            </a:r>
            <a:r>
              <a:rPr lang="en-US"/>
              <a:t> — </a:t>
            </a:r>
            <a:r>
              <a:rPr lang="en-US"/>
              <a:t>FreezerTelemetryEventstream</a:t>
            </a:r>
            <a:r>
              <a:rPr lang="en-US"/>
              <a:t>, streaming simulated freezer readings</a:t>
            </a:r>
            <a:endParaRPr lang="en-US"/>
          </a:p>
          <a:p xmlns:a="http://schemas.openxmlformats.org/drawingml/2006/main">
            <a:pPr lvl="1"/>
            <a:r>
              <a:rPr lang="en-US"/>
              <a:t>FreezerTelemetryRaw</a:t>
            </a:r>
            <a:r>
              <a:rPr lang="en-US"/>
              <a:t> — raw ingested events</a:t>
            </a:r>
            <a:endParaRPr lang="en-US"/>
          </a:p>
          <a:p xmlns:a="http://schemas.openxmlformats.org/drawingml/2006/main">
            <a:pPr lvl="1"/>
            <a:r>
              <a:rPr lang="en-US"/>
              <a:t>FreezerTelemetryEnriched</a:t>
            </a:r>
            <a:r>
              <a:rPr lang="en-US"/>
              <a:t> — cleaned/derived table</a:t>
            </a:r>
            <a:endParaRPr lang="en-US"/>
          </a:p>
          <a:p xmlns:a="http://schemas.openxmlformats.org/drawingml/2006/main">
            <a:pPr lvl="0"/>
            <a:r>
              <a:rPr lang="en-US" b="1"/>
              <a:t>Eventhouse</a:t>
            </a:r>
            <a:r>
              <a:rPr lang="en-US"/>
              <a:t> — </a:t>
            </a:r>
            <a:r>
              <a:rPr lang="en-US"/>
              <a:t>ColdChainEventhouse</a:t>
            </a:r>
            <a:r>
              <a:rPr lang="en-US"/>
              <a:t>, KQL database </a:t>
            </a:r>
            <a:r>
              <a:rPr lang="en-US"/>
              <a:t>ColdChainKQLDB</a:t>
            </a:r>
            <a:endParaRPr lang="en-US"/>
          </a:p>
          <a:p xmlns:a="http://schemas.openxmlformats.org/drawingml/2006/main">
            <a:pPr lvl="0"/>
            <a:r>
              <a:rPr lang="en-US" b="1"/>
              <a:t>Activator</a:t>
            </a:r>
            <a:r>
              <a:rPr lang="en-US"/>
              <a:t> — rule-based alerting on raw thresholds (Johan's half)</a:t>
            </a:r>
            <a:endParaRPr lang="en-US"/>
          </a:p>
        </p:txBody>
      </p:sp>
    </p:spTree>
  </p:cSld>
  <p:clrMapOvr>
    <a:masterClrMapping xmlns:a="http://schemas.openxmlformats.org/drawingml/2006/main"/>
  </p:clrMapOvr>
  <p:extLst>
    <p:ext uri="urn:marptopptx:slide-metadata">
      <m2p:meta xmlns:m2p="urn:marptopptx:metadata" version="2">
        <m2p:deckId>deck-d23db0a6120d</m2p:deckId>
        <m2p:slideId>light-rti-recap</m2p:slideId>
        <m2p:title>Light RTI recap</m2p:title>
        <m2p:hash>sha256:616dbb3da90b59f1ad0acb25b28f2b1d85c78b71e8694dd208a8737c39d2a7aa</m2p:hash>
        <m2p:sourceSlide>module-00-slides.md#slide-5</m2p:sourceSlide>
        <m2p:generatorVersion>1.0.0.0</m2p:generatorVersion>
        <m2p:layoutRef>Main Content : Title + Text Box</m2p:layoutRef>
        <m2p:templateRef>EMFCC26_SpeakerPPT_TemplateA_Styled_Accessibility Review_Updated_11Aug.pptx</m2p:templateRef>
      </m2p:meta>
    </p:ext>
  </p:extLst>
</p:sld>
</file>

<file path=ppt/slides/slide3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rPr lang="en-US"/>
              <a:t>Environment verification: what should already exist</a:t>
            </a:r>
            <a:endParaRPr lang="en-US"/>
          </a:p>
        </p:txBody>
      </p:sp>
      <p:sp>
        <p:nvSpPr>
          <p:cNvPr id="3" name="Content Placeholder"/>
          <p:cNvSpPr>
            <a:spLocks xmlns:a="http://schemas.openxmlformats.org/drawingml/2006/main" noGrp="1"/>
          </p:cNvSpPr>
          <p:nvPr>
            <p:ph type="body" idx="11"/>
          </p:nvPr>
        </p:nvSpPr>
        <p:spPr/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lvl="0"/>
            <a:r>
              <a:rPr lang="en-US"/>
              <a:t> Workspace named </a:t>
            </a:r>
            <a:r>
              <a:rPr lang="en-US" b="1"/>
              <a:t>Fabric IQ</a:t>
            </a:r>
            <a:r>
              <a:rPr lang="en-US"/>
              <a:t> on a non-trial capacity</a:t>
            </a:r>
            <a:endParaRPr lang="en-US"/>
          </a:p>
          <a:p xmlns:a="http://schemas.openxmlformats.org/drawingml/2006/main">
            <a:pPr lvl="0"/>
            <a:r>
              <a:rPr lang="en-US"/>
              <a:t> Lakehouse </a:t>
            </a:r>
            <a:r>
              <a:rPr lang="en-US" b="1"/>
              <a:t>ColdChainLakehouse</a:t>
            </a:r>
            <a:r>
              <a:rPr lang="en-US"/>
              <a:t> with </a:t>
            </a:r>
            <a:r>
              <a:rPr lang="en-US"/>
              <a:t>Customers</a:t>
            </a:r>
            <a:r>
              <a:rPr lang="en-US"/>
              <a:t>, </a:t>
            </a:r>
            <a:r>
              <a:rPr lang="en-US"/>
              <a:t>Stores</a:t>
            </a:r>
            <a:r>
              <a:rPr lang="en-US"/>
              <a:t>, </a:t>
            </a:r>
            <a:r>
              <a:rPr lang="en-US"/>
              <a:t>Freezers</a:t>
            </a:r>
            <a:r>
              <a:rPr lang="en-US"/>
              <a:t> tables</a:t>
            </a:r>
            <a:endParaRPr lang="en-US"/>
          </a:p>
          <a:p xmlns:a="http://schemas.openxmlformats.org/drawingml/2006/main">
            <a:pPr lvl="0"/>
            <a:r>
              <a:rPr lang="en-US"/>
              <a:t> Eventhouse </a:t>
            </a:r>
            <a:r>
              <a:rPr lang="en-US" b="1"/>
              <a:t>ColdChainEventhouse</a:t>
            </a:r>
            <a:r>
              <a:rPr lang="en-US"/>
              <a:t> / KQL DB </a:t>
            </a:r>
            <a:r>
              <a:rPr lang="en-US" b="1"/>
              <a:t>ColdChainKQLDB</a:t>
            </a:r>
            <a:endParaRPr lang="en-US"/>
          </a:p>
          <a:p xmlns:a="http://schemas.openxmlformats.org/drawingml/2006/main">
            <a:pPr lvl="0"/>
            <a:r>
              <a:rPr lang="en-US"/>
              <a:t> Eventstream </a:t>
            </a:r>
            <a:r>
              <a:rPr lang="en-US" b="1"/>
              <a:t>FreezerTelemetryEventstream</a:t>
            </a:r>
            <a:r>
              <a:rPr lang="en-US"/>
              <a:t> created</a:t>
            </a:r>
            <a:endParaRPr lang="en-US"/>
          </a:p>
          <a:p xmlns:a="http://schemas.openxmlformats.org/drawingml/2006/main">
            <a:pPr lvl="0"/>
            <a:r>
              <a:rPr lang="en-US"/>
              <a:t> You can sign in to the Fabric portal and see this workspace</a:t>
            </a:r>
            <a:endParaRPr lang="en-US"/>
          </a:p>
        </p:txBody>
      </p:sp>
    </p:spTree>
  </p:cSld>
  <p:clrMapOvr>
    <a:masterClrMapping xmlns:a="http://schemas.openxmlformats.org/drawingml/2006/main"/>
  </p:clrMapOvr>
  <p:extLst>
    <p:ext uri="urn:marptopptx:slide-metadata">
      <m2p:meta xmlns:m2p="urn:marptopptx:metadata" version="2">
        <m2p:deckId>deck-d23db0a6120d</m2p:deckId>
        <m2p:slideId>environment-verification-what-should-already-exist</m2p:slideId>
        <m2p:title>Environment verification: what should already exist</m2p:title>
        <m2p:hash>sha256:77e8691340fe487882056cd994e4dc6d57ae1fa3dc6505137123227d453f0105</m2p:hash>
        <m2p:sourceSlide>module-00-slides.md#slide-6</m2p:sourceSlide>
        <m2p:generatorVersion>1.0.0.0</m2p:generatorVersion>
        <m2p:layoutRef>Main Content : Title + Text Box</m2p:layoutRef>
        <m2p:templateRef>EMFCC26_SpeakerPPT_TemplateA_Styled_Accessibility Review_Updated_11Aug.pptx</m2p:templateRef>
      </m2p:meta>
    </p:ext>
  </p:extLst>
</p:sld>
</file>

<file path=ppt/slides/slide3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rPr lang="en-US"/>
              <a:t>Housekeeping</a:t>
            </a:r>
            <a:endParaRPr lang="en-US"/>
          </a:p>
        </p:txBody>
      </p:sp>
      <p:sp>
        <p:nvSpPr>
          <p:cNvPr id="3" name="Content Placeholder"/>
          <p:cNvSpPr>
            <a:spLocks xmlns:a="http://schemas.openxmlformats.org/drawingml/2006/main" noGrp="1"/>
          </p:cNvSpPr>
          <p:nvPr>
            <p:ph type="body" idx="11"/>
          </p:nvPr>
        </p:nvSpPr>
        <p:spPr/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lvl="0"/>
            <a:r>
              <a:rPr lang="en-US"/>
              <a:t>Two breaks: after Module 02, and after Module 04</a:t>
            </a:r>
            <a:endParaRPr lang="en-US"/>
          </a:p>
          <a:p xmlns:a="http://schemas.openxmlformats.org/drawingml/2006/main">
            <a:pPr lvl="0"/>
            <a:r>
              <a:rPr lang="en-US" b="1"/>
              <a:t>Module 05 is a built-in buffer</a:t>
            </a:r>
            <a:r>
              <a:rPr lang="en-US"/>
              <a:t> — if Modules 03/04 run long, we compress 05, not 03/04</a:t>
            </a:r>
            <a:endParaRPr lang="en-US"/>
          </a:p>
          <a:p xmlns:a="http://schemas.openxmlformats.org/drawingml/2006/main">
            <a:pPr lvl="0"/>
            <a:r>
              <a:rPr lang="en-US"/>
              <a:t>Modules 03 and 04 touch </a:t>
            </a:r>
            <a:r>
              <a:rPr lang="en-US" b="1"/>
              <a:t>preview UI</a:t>
            </a:r>
            <a:r>
              <a:rPr lang="en-US"/>
              <a:t> — if something misbehaves live, we have a fallback walkthrough ready</a:t>
            </a:r>
            <a:endParaRPr lang="en-US"/>
          </a:p>
          <a:p xmlns:a="http://schemas.openxmlformats.org/drawingml/2006/main">
            <a:pPr lvl="0"/>
            <a:r>
              <a:rPr lang="en-US"/>
              <a:t>Ask questions as we go — this is hands-on, not a lecture</a:t>
            </a:r>
            <a:endParaRPr lang="en-US"/>
          </a:p>
        </p:txBody>
      </p:sp>
    </p:spTree>
  </p:cSld>
  <p:clrMapOvr>
    <a:masterClrMapping xmlns:a="http://schemas.openxmlformats.org/drawingml/2006/main"/>
  </p:clrMapOvr>
  <p:extLst>
    <p:ext uri="urn:marptopptx:slide-metadata">
      <m2p:meta xmlns:m2p="urn:marptopptx:metadata" version="2">
        <m2p:deckId>deck-d23db0a6120d</m2p:deckId>
        <m2p:slideId>housekeeping</m2p:slideId>
        <m2p:title>Housekeeping</m2p:title>
        <m2p:hash>sha256:9db0cf3bcf313594d33c23240b03342f4fa00e3a96ed32c5dcf58aa837568dea</m2p:hash>
        <m2p:sourceSlide>module-00-slides.md#slide-7</m2p:sourceSlide>
        <m2p:generatorVersion>1.0.0.0</m2p:generatorVersion>
        <m2p:layoutRef>Main Content : Title + Text Box</m2p:layoutRef>
        <m2p:templateRef>EMFCC26_SpeakerPPT_TemplateA_Styled_Accessibility Review_Updated_11Aug.pptx</m2p:templateRef>
      </m2p:meta>
    </p:ext>
  </p:extLst>
</p:sld>
</file>

<file path=ppt/slides/slide3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Content Placeholder"/>
          <p:cNvSpPr>
            <a:spLocks xmlns:a="http://schemas.openxmlformats.org/drawingml/2006/main" noGrp="1"/>
          </p:cNvSpPr>
          <p:nvPr>
            <p:ph type="body" idx="10"/>
          </p:nvPr>
        </p:nvSpPr>
        <p:spPr/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lang="en-US" b="1"/>
              <a:t>Hands-on lab</a:t>
            </a:r>
            <a:endParaRPr lang="en-US"/>
          </a:p>
          <a:p xmlns:a="http://schemas.openxmlformats.org/drawingml/2006/main">
            <a:pPr>
              <a:buNone/>
            </a:pPr>
            <a:r>
              <a:rPr lang="en-US" b="1"/>
              <a:t>Lab 00 — Setup verification</a:t>
            </a:r>
            <a:endParaRPr lang="en-US"/>
          </a:p>
          <a:p xmlns:a="http://schemas.openxmlformats.org/drawingml/2006/main">
            <a:pPr lvl="0"/>
            <a:r>
              <a:rPr lang="en-US"/>
              <a:t>Confirm your </a:t>
            </a:r>
            <a:r>
              <a:rPr lang="en-US"/>
              <a:t>Fabric IQ</a:t>
            </a:r>
            <a:r>
              <a:rPr lang="en-US"/>
              <a:t> workspace and items match the checklist above</a:t>
            </a:r>
            <a:endParaRPr lang="en-US"/>
          </a:p>
          <a:p xmlns:a="http://schemas.openxmlformats.org/drawingml/2006/main">
            <a:pPr lvl="0"/>
            <a:r>
              <a:rPr lang="en-US"/>
              <a:t>Troubleshoot with the facilitator if anything is missing or greyed out</a:t>
            </a:r>
            <a:endParaRPr lang="en-US"/>
          </a:p>
          <a:p xmlns:a="http://schemas.openxmlformats.org/drawingml/2006/main">
            <a:pPr>
              <a:buNone/>
            </a:pPr>
            <a:r>
              <a:rPr lang="en-US"/>
              <a:t>📄 </a:t>
            </a:r>
            <a:r>
              <a:rPr lang="en-US"/>
              <a:t>modules/module-00-welcome-and-setup/lab-00-environment-setup-and-verify.md</a:t>
            </a:r>
            <a:endParaRPr lang="en-US"/>
          </a:p>
        </p:txBody>
      </p:sp>
    </p:spTree>
  </p:cSld>
  <p:clrMapOvr>
    <a:masterClrMapping xmlns:a="http://schemas.openxmlformats.org/drawingml/2006/main"/>
  </p:clrMapOvr>
  <p:extLst>
    <p:ext uri="urn:marptopptx:slide-metadata">
      <m2p:meta xmlns:m2p="urn:marptopptx:metadata" version="2">
        <m2p:deckId>deck-d23db0a6120d</m2p:deckId>
        <m2p:slideId>hands-on-lab</m2p:slideId>
        <m2p:title>Hands-on lab</m2p:title>
        <m2p:hash>sha256:31208f55c3da8483e554673d2e348421e8e2f9f56910fb581fa5cb38dd4f30b4</m2p:hash>
        <m2p:sourceSlide>module-00-slides.md#slide-8</m2p:sourceSlide>
        <m2p:generatorVersion>1.0.0.0</m2p:generatorVersion>
        <m2p:layoutRef>Section Break Slide</m2p:layoutRef>
        <m2p:templateRef>EMFCC26_SpeakerPPT_TemplateA_Styled_Accessibility Review_Updated_11Aug.pptx</m2p:templateRef>
      </m2p:meta>
    </p:ext>
  </p:extLst>
</p:sld>
</file>

<file path=ppt/theme/theme1.xml><?xml version="1.0" encoding="utf-8"?>
<a:theme xmlns:thm15="http://schemas.microsoft.com/office/thememl/2012/main" xmlns:a="http://schemas.openxmlformats.org/drawingml/2006/main" name="Splash Scree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itle Slid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Main Content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 anchor="t">
        <a:spAutoFit/>
      </a:bodyPr>
      <a:lstStyle>
        <a:defPPr algn="l">
          <a:defRPr sz="2400" dirty="0">
            <a:latin typeface="Calibri Light" charset="0"/>
            <a:ea typeface="Calibri Light" charset="0"/>
            <a:cs typeface="Calibri Light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End Scree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221fbb9a-23db-4311-a69c-34622b264696">
      <Terms xmlns="http://schemas.microsoft.com/office/infopath/2007/PartnerControls"/>
    </lcf76f155ced4ddcb4097134ff3c332f>
    <TaxCatchAll xmlns="1b3b1065-ae42-4d8a-aa8c-0a73a17faba8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051F54D7AD26C459333D1AFF09839BE" ma:contentTypeVersion="14" ma:contentTypeDescription="Create a new document." ma:contentTypeScope="" ma:versionID="267f41264e04a5c3ada0074a8fd340dc">
  <xsd:schema xmlns:xsd="http://www.w3.org/2001/XMLSchema" xmlns:xs="http://www.w3.org/2001/XMLSchema" xmlns:p="http://schemas.microsoft.com/office/2006/metadata/properties" xmlns:ns2="221fbb9a-23db-4311-a69c-34622b264696" xmlns:ns3="1b3b1065-ae42-4d8a-aa8c-0a73a17faba8" targetNamespace="http://schemas.microsoft.com/office/2006/metadata/properties" ma:root="true" ma:fieldsID="b5806782e6246c3a79c8d8c00ea8f5e6" ns2:_="" ns3:_="">
    <xsd:import namespace="221fbb9a-23db-4311-a69c-34622b264696"/>
    <xsd:import namespace="1b3b1065-ae42-4d8a-aa8c-0a73a17faba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Location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21fbb9a-23db-4311-a69c-34622b26469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cd530a17-84a2-4d03-b447-f9955f42fe7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19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b3b1065-ae42-4d8a-aa8c-0a73a17faba8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b72881c0-9f09-48c0-b71c-fddfa2680fd3}" ma:internalName="TaxCatchAll" ma:showField="CatchAllData" ma:web="1b3b1065-ae42-4d8a-aa8c-0a73a17faba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97D26BB1-7F1F-46F1-8F3C-0C47CE043432}">
  <ds:schemaRefs>
    <ds:schemaRef ds:uri="221fbb9a-23db-4311-a69c-34622b264696"/>
    <ds:schemaRef ds:uri="http://purl.org/dc/dcmitype/"/>
    <ds:schemaRef ds:uri="http://purl.org/dc/terms/"/>
    <ds:schemaRef ds:uri="http://schemas.microsoft.com/office/2006/metadata/properties"/>
    <ds:schemaRef ds:uri="1b3b1065-ae42-4d8a-aa8c-0a73a17faba8"/>
    <ds:schemaRef ds:uri="http://www.w3.org/XML/1998/namespac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</ds:schemaRefs>
</ds:datastoreItem>
</file>

<file path=customXml/itemProps2.xml><?xml version="1.0" encoding="utf-8"?>
<ds:datastoreItem xmlns:ds="http://schemas.openxmlformats.org/officeDocument/2006/customXml" ds:itemID="{5E38309D-794A-4787-9F1D-A760486AD16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21fbb9a-23db-4311-a69c-34622b264696"/>
    <ds:schemaRef ds:uri="1b3b1065-ae42-4d8a-aa8c-0a73a17faba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BC157E49-3C57-4281-B896-98EEEB20EABC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f42aa342-8706-4288-bd11-ebb85995028c}" enabled="1" method="Privileged" siteId="{72f988bf-86f1-41af-91ab-2d7cd011db47}" removed="0"/>
</clbl:labelList>
</file>

<file path=docProps/app.xml><?xml version="1.0" encoding="utf-8"?>
<Properties xmlns:vt="http://schemas.openxmlformats.org/officeDocument/2006/docPropsVTypes" xmlns="http://schemas.openxmlformats.org/officeDocument/2006/extended-properties">
  <TotalTime>0</TotalTime>
  <Words>0</Words>
  <Application>Microsoft Office PowerPoint</Application>
  <PresentationFormat>On-screen Show (16:9)</PresentationFormat>
  <Paragraphs>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Aptos</vt:lpstr>
      <vt:lpstr>Aptos Display</vt:lpstr>
      <vt:lpstr>MarpToPptx Theme</vt:lpstr>
      <vt:lpstr>Fabric IQ</vt:lpstr>
      <vt:lpstr>Today's scenario, in one line</vt:lpstr>
      <vt:lpstr>Where this fits in the day</vt:lpstr>
      <vt:lpstr>The four-hour build, top to bottom</vt:lpstr>
      <vt:lpstr>Light RTI recap</vt:lpstr>
      <vt:lpstr>Environment verification: what should already exist</vt:lpstr>
      <vt:lpstr>Housekeeping</vt:lpstr>
      <vt:lpstr>Hands-on lab</vt:lpstr>
    </vt:vector>
  </TitlesOfParts>
  <Company>Created by MarpToPptx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Fabric IQ</dc:title>
  <dc:subject>PowerPoint Presentation</dc:subject>
  <dc:creator>MarpToPptx</dc:creator>
  <cp:lastModifiedBy>MarpToPptx</cp:lastModifiedBy>
  <cp:revision>1</cp:revision>
  <dcterms:created xsi:type="dcterms:W3CDTF">2026-09-06T19:09:20Z</dcterms:created>
  <dcterms:modified xsi:type="dcterms:W3CDTF">2026-09-06T19:09:20Z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ontentTypeId">
    <vt:lpwstr>0x010100A051F54D7AD26C459333D1AFF09839BE</vt:lpwstr>
  </property>
</Properties>
</file>
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9.xml" ContentType="application/vnd.openxmlformats-officedocument.presentationml.slide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B44"/>
    <a:srgbClr val="007864"/>
    <a:srgbClr val="013F34"/>
    <a:srgbClr val="BCA045"/>
    <a:srgbClr val="FFC300"/>
    <a:srgbClr val="F4F4F4"/>
    <a:srgbClr val="002C4C"/>
    <a:srgbClr val="FF4713"/>
    <a:srgbClr val="D0DBFF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A60C5-3AC7-2D4E-951A-6654EB0F1546}" v="2" dt="2026-08-11T14:48:2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viewPr xmlns:a="http://schemas.openxmlformats.org/drawingml/2006/main" xmlns:r="http://schemas.openxmlformats.org/officeDocument/2006/relationships" xmlns="http://schemas.openxmlformats.org/presentationml/2006/main">
  <normalViewPr horzBarState="maximized">
    <restoredLeft sz="15611"/>
    <restoredTop sz="94610"/>
  </normalViewPr>
  <slideViewPr>
    <cSldViewPr snapToGrid="0" snapToObjects="1">
      <cViewPr varScale="1">
        <scale>
          <a:sx n="136" d="100"/>
          <a:sy n="136" d="100"/>
        </scale>
        <origin x="216" y="312"/>
      </cViewPr>
      <guideLst/>
    </cSldViewPr>
  </slideViewPr>
  <notesTextViewPr>
    <cViewPr>
      <scale>
        <a:sx n="1" d="1"/>
        <a:sy n="1" d="1"/>
      </scale>
      <origin x="0" y="0"/>
    </cViewPr>
  </notesTextViewPr>
  <gridSpacing cx="76200" cy="76200"/>
</viewPr>
</file>

<file path=ppt/_rels/presentation.xml.rels>&#65279;<?xml version="1.0" encoding="utf-8"?>
<Relationships xmlns="http://schemas.openxmlformats.org/package/2006/relationships">
  <Relationship Type="http://schemas.openxmlformats.org/officeDocument/2006/relationships/theme" Target="theme/theme1.xml" Id="rId26" />
  <Relationship Type="http://schemas.openxmlformats.org/officeDocument/2006/relationships/customXml" Target="../customXml/item3.xml" Id="rId3" />
  <Relationship Type="http://schemas.openxmlformats.org/officeDocument/2006/relationships/slideMaster" Target="slideMasters/slideMaster4.xml" Id="rId7" />
  <Relationship Type="http://schemas.openxmlformats.org/officeDocument/2006/relationships/viewProps" Target="viewProps.xml" Id="rId25" />
  <Relationship Type="http://schemas.openxmlformats.org/officeDocument/2006/relationships/customXml" Target="../customXml/item2.xml" Id="rId2" />
  <Relationship Type="http://schemas.microsoft.com/office/2018/10/relationships/authors" Target="authors.xml" Id="rId29" />
  <Relationship Type="http://schemas.openxmlformats.org/officeDocument/2006/relationships/customXml" Target="../customXml/item1.xml" Id="rId1" />
  <Relationship Type="http://schemas.openxmlformats.org/officeDocument/2006/relationships/slideMaster" Target="slideMasters/slideMaster3.xml" Id="rId6" />
  <Relationship Type="http://schemas.openxmlformats.org/officeDocument/2006/relationships/presProps" Target="presProps.xml" Id="rId24" />
  <Relationship Type="http://schemas.openxmlformats.org/officeDocument/2006/relationships/slideMaster" Target="slideMasters/slideMaster2.xml" Id="rId5" />
  <Relationship Type="http://schemas.openxmlformats.org/officeDocument/2006/relationships/commentAuthors" Target="commentAuthors.xml" Id="rId23" />
  <Relationship Type="http://schemas.microsoft.com/office/2015/10/relationships/revisionInfo" Target="revisionInfo.xml" Id="rId28" />
  <Relationship Type="http://schemas.openxmlformats.org/officeDocument/2006/relationships/slideMaster" Target="slideMasters/slideMaster1.xml" Id="rId4" />
  <Relationship Type="http://schemas.openxmlformats.org/officeDocument/2006/relationships/notesMaster" Target="notesMasters/notesMaster1.xml" Id="rId22" />
  <Relationship Type="http://schemas.openxmlformats.org/officeDocument/2006/relationships/tableStyles" Target="tableStyles.xml" Id="rId27" />
  <Relationship Type="http://schemas.openxmlformats.org/officeDocument/2006/relationships/slide" Target="slides/slide29.xml" Id="rId8" />
  <Relationship Type="http://schemas.openxmlformats.org/officeDocument/2006/relationships/slide" Target="slides/slide30.xml" Id="rId9" />
  <Relationship Type="http://schemas.openxmlformats.org/officeDocument/2006/relationships/slide" Target="slides/slide31.xml" Id="rId10" />
  <Relationship Type="http://schemas.openxmlformats.org/officeDocument/2006/relationships/slide" Target="slides/slide32.xml" Id="rId11" />
  <Relationship Type="http://schemas.openxmlformats.org/officeDocument/2006/relationships/slide" Target="slides/slide33.xml" Id="rId12" />
  <Relationship Type="http://schemas.openxmlformats.org/officeDocument/2006/relationships/slide" Target="slides/slide34.xml" Id="rId13" />
  <Relationship Type="http://schemas.openxmlformats.org/officeDocument/2006/relationships/slide" Target="slides/slide35.xml" Id="rId14" />
  <Relationship Type="http://schemas.openxmlformats.org/officeDocument/2006/relationships/slide" Target="slides/slide36.xml" Id="rId15" />
  <Relationship Type="http://schemas.openxmlformats.org/officeDocument/2006/relationships/slide" Target="slides/slide37.xml" Id="rId16" />
  <Relationship Type="http://schemas.openxmlformats.org/officeDocument/2006/relationships/slide" Target="slides/slide38.xml" Id="rId17" />
  <Relationship Type="http://schemas.openxmlformats.org/officeDocument/2006/relationships/slide" Target="slides/slide39.xml" Id="rId18" />
  <Relationship Type="http://schemas.openxmlformats.org/officeDocument/2006/relationships/slide" Target="slides/slide40.xml" Id="rId19" 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&#65279;<?xml version="1.0" encoding="utf-8"?>
<Relationships xmlns="http://schemas.openxmlformats.org/package/2006/relationships">
  <Relationship Type="http://schemas.openxmlformats.org/officeDocument/2006/relationships/image" Target="../media/image2.jpg" Id="rId3" />
  <Relationship Type="http://schemas.openxmlformats.org/officeDocument/2006/relationships/slideLayout" Target="../slideLayouts/slideLayout2.xml" Id="rId1" />
</Relationships>
</file>

<file path=ppt/slides/_rels/slide3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8.xml" Id="rId1" />
</Relationships>
</file>

<file path=ppt/slides/_rels/slide33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4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5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6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7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8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9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4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2.xml" Id="rId1" />
</Relationships>
</file>

<file path=ppt/slides/slide29.xml><?xml version="1.0" encoding="utf-8"?>
<p:sld xmlns:a16="http://schemas.microsoft.com/office/drawing/2014/main" xmlns:adec="http://schemas.microsoft.com/office/drawing/2017/decorative" xmlns:p14="http://schemas.microsoft.com/office/powerpoint/2010/main" xmlns:m2p="urn:marptopptx:metadata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0CC446-2BE1-533C-6F9A-2CADE053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79919"/>
          </a:xfrm>
          <a:prstGeom prst="rect">
            <a:avLst/>
          </a:prstGeom>
          <a:solidFill>
            <a:srgbClr val="BCA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Agent patterns over real-time and semantic layers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25891" y="1396314"/>
            <a:ext cx="8011886" cy="14465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rPr>
              <a:t>Module 04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302696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918822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7F331A-088A-5E4B-ADDD-52C41D93C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32130" y="1587834"/>
            <a:ext cx="1700881" cy="1700798"/>
          </a:xfrm>
          <a:prstGeom prst="rect">
            <a:avLst/>
          </a:prstGeom>
        </p:spPr>
        <p:txBody>
          <a:bodyPr/>
          <a:lstStyle/>
          <a:p>
            <a:endParaRPr lang="en-US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F310C-2089-97AC-AE64-D6BB59BB61DA}"/>
              </a:ext>
            </a:extLst>
          </p:cNvPr>
          <p:cNvSpPr txBox="1"/>
          <p:nvPr/>
        </p:nvSpPr>
        <p:spPr>
          <a:xfrm>
            <a:off x="2777565" y="39904"/>
            <a:ext cx="663686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spc="100" dirty="0">
                <a:solidFill>
                  <a:srgbClr val="125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  <p:extLst>
    <p:ext uri="urn:marptopptx:slide-metadata">
      <m2p:meta xmlns:m2p="urn:marptopptx:metadata" version="2">
        <m2p:deckId>deck-19310c28bc96</m2p:deckId>
        <m2p:slideId>module-04</m2p:slideId>
        <m2p:title>Module 04</m2p:title>
        <m2p:hash>sha256:517950785995a0d68011f357993c06ddd01285f2c877a7b32996d37429ab4be8</m2p:hash>
        <m2p:sourceSlide>module-04-slides.md#slide-1</m2p:sourceSlide>
        <m2p:generatorVersion>1.0.0.0</m2p:generatorVersion>
        <m2p:layoutRef>Template[3]</m2p:layoutRef>
        <m2p:templateRef>EMFCC26_SpeakerPPT_TemplateA_Styled_Accessibility Review_Updated_11Aug.pptx</m2p:templateRef>
      </m2p:meta>
    </p:ext>
  </p:extLst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Learning objectives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By the end of this module you can:</a:t>
            </a:r>
            <a:endParaRPr lang="en-US"/>
          </a:p>
          <a:p xmlns:a="http://schemas.openxmlformats.org/drawingml/2006/main">
            <a:pPr lvl="0"/>
            <a:r>
              <a:rPr lang="en-US"/>
              <a:t>Name four distinct ways to ground an agent in an ontology, and when to reach for each</a:t>
            </a:r>
            <a:endParaRPr lang="en-US"/>
          </a:p>
          <a:p xmlns:a="http://schemas.openxmlformats.org/drawingml/2006/main">
            <a:pPr lvl="0"/>
            <a:r>
              <a:rPr lang="en-US"/>
              <a:t>Explain what </a:t>
            </a:r>
            <a:r>
              <a:rPr lang="en-US"/>
              <a:t>ColdChainDataAgent</a:t>
            </a:r>
            <a:r>
              <a:rPr lang="en-US"/>
              <a:t> and </a:t>
            </a:r>
            <a:r>
              <a:rPr lang="en-US"/>
              <a:t>ColdChainOperationsAgent</a:t>
            </a:r>
            <a:r>
              <a:rPr lang="en-US"/>
              <a:t> each do</a:t>
            </a:r>
            <a:endParaRPr lang="en-US"/>
          </a:p>
          <a:p xmlns:a="http://schemas.openxmlformats.org/drawingml/2006/main">
            <a:pPr lvl="0"/>
            <a:r>
              <a:rPr lang="en-US"/>
              <a:t>Describe how an Activator Ontology Rule differs from a raw-threshold Activator rule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learning-objectives</m2p:slideId>
        <m2p:title>Learning objectives</m2p:title>
        <m2p:hash>sha256:993536a619adad8572a9df65278affe7ba88246137549fc9b40f0338993f9b7d</m2p:hash>
        <m2p:sourceSlide>module-04-slides.md#slide-2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Why agents need grounding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An LLM with no context will guess, hallucinate units, or invent entities that don't exist</a:t>
            </a:r>
            <a:endParaRPr lang="en-US"/>
          </a:p>
          <a:p xmlns:a="http://schemas.openxmlformats.org/drawingml/2006/main">
            <a:pPr lvl="0"/>
            <a:r>
              <a:rPr lang="en-US"/>
              <a:t>ColdChainOntology</a:t>
            </a:r>
            <a:r>
              <a:rPr lang="en-US"/>
              <a:t> gives an agent a </a:t>
            </a:r>
            <a:r>
              <a:rPr lang="en-US" b="1"/>
              <a:t>fixed vocabulary</a:t>
            </a:r>
            <a:r>
              <a:rPr lang="en-US"/>
              <a:t>: real entity types, real properties, real relationships</a:t>
            </a:r>
            <a:endParaRPr lang="en-US"/>
          </a:p>
          <a:p xmlns:a="http://schemas.openxmlformats.org/drawingml/2006/main">
            <a:pPr lvl="0"/>
            <a:r>
              <a:rPr lang="en-US"/>
              <a:t>Every question an agent answers, and every action it takes, can be traced back to a graph node</a:t>
            </a:r>
            <a:endParaRPr lang="en-US"/>
          </a:p>
          <a:p xmlns:a="http://schemas.openxmlformats.org/drawingml/2006/main">
            <a:pPr lvl="0"/>
            <a:r>
              <a:rPr lang="en-US"/>
              <a:t>This module is about </a:t>
            </a:r>
            <a:r>
              <a:rPr lang="en-US" b="1"/>
              <a:t>where</a:t>
            </a:r>
            <a:r>
              <a:rPr lang="en-US"/>
              <a:t> an agent plugs into that graph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why-agents-need-grounding</m2p:slideId>
        <m2p:title>Why agents need grounding</m2p:title>
        <m2p:hash>sha256:ecbafb3776fdfef9e5ef7b5a7cd8031df96c8232e4ce4d987898cae9c674b8a6</m2p:hash>
        <m2p:sourceSlide>module-04-slides.md#slide-3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Four ways to ground an agent</a:t>
            </a:r>
            <a:endParaRPr lang="en-US"/>
          </a:p>
        </p:txBody>
      </p:sp>
      <p:graphicFrame>
        <p:nvGraphicFramePr>
          <p:cNvPr id="3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38188" y="2005263"/>
          <a:ext xmlns:a="http://schemas.openxmlformats.org/drawingml/2006/main" cx="5213433" cy="392480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811"/>
                <a:gridCol w="1737811"/>
                <a:gridCol w="1737811"/>
              </a:tblGrid>
              <a:tr h="3903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1">
                          <a:solidFill>
                            <a:srgbClr val="FFFFFF"/>
                          </a:solidFill>
                          <a:latin typeface="Aptos"/>
                        </a:rPr>
                        <a:t>Pattern</a:t>
                      </a:r>
                      <a:endParaRPr lang="en-US" sz="1228"/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1">
                          <a:solidFill>
                            <a:srgbClr val="FFFFFF"/>
                          </a:solidFill>
                          <a:latin typeface="Aptos"/>
                        </a:rPr>
                        <a:t>Grounding style</a:t>
                      </a:r>
                      <a:endParaRPr lang="en-US" sz="1228"/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1">
                          <a:solidFill>
                            <a:srgbClr val="FFFFFF"/>
                          </a:solidFill>
                          <a:latin typeface="Aptos"/>
                        </a:rPr>
                        <a:t>Best for</a:t>
                      </a:r>
                      <a:endParaRPr lang="en-US" sz="1228"/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76464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1">
                          <a:solidFill>
                            <a:srgbClr val="1F2937"/>
                          </a:solidFill>
                          <a:latin typeface="Aptos"/>
                        </a:rPr>
                        <a:t>Fabric Data Agent</a:t>
                      </a:r>
                      <a:endParaRPr lang="en-US" sz="1228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0">
                          <a:solidFill>
                            <a:srgbClr val="1F2937"/>
                          </a:solidFill>
                          <a:latin typeface="Aptos"/>
                        </a:rPr>
                        <a:t>Q&amp;A over the ontology graph</a:t>
                      </a:r>
                      <a:endParaRPr lang="en-US" sz="1228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0">
                          <a:solidFill>
                            <a:srgbClr val="1F2937"/>
                          </a:solidFill>
                          <a:latin typeface="Aptos"/>
                        </a:rPr>
                        <a:t>Ask-a-question, exploratory analysis</a:t>
                      </a:r>
                      <a:endParaRPr lang="en-US" sz="1228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464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1">
                          <a:solidFill>
                            <a:srgbClr val="1F2937"/>
                          </a:solidFill>
                          <a:latin typeface="Aptos"/>
                        </a:rPr>
                        <a:t>Operations Agent</a:t>
                      </a:r>
                      <a:endParaRPr lang="en-US" sz="1228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0">
                          <a:solidFill>
                            <a:srgbClr val="1F2937"/>
                          </a:solidFill>
                          <a:latin typeface="Aptos"/>
                        </a:rPr>
                        <a:t>Event-triggered, paired with rules</a:t>
                      </a:r>
                      <a:endParaRPr lang="en-US" sz="1228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0">
                          <a:solidFill>
                            <a:srgbClr val="1F2937"/>
                          </a:solidFill>
                          <a:latin typeface="Aptos"/>
                        </a:rPr>
                        <a:t>React to conditions as they happen</a:t>
                      </a:r>
                      <a:endParaRPr lang="en-US" sz="1228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178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1">
                          <a:solidFill>
                            <a:srgbClr val="1F2937"/>
                          </a:solidFill>
                          <a:latin typeface="Aptos"/>
                        </a:rPr>
                        <a:t>Foundry IQ</a:t>
                      </a:r>
                      <a:endParaRPr lang="en-US" sz="1228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0">
                          <a:solidFill>
                            <a:srgbClr val="1F2937"/>
                          </a:solidFill>
                          <a:latin typeface="Aptos"/>
                        </a:rPr>
                        <a:t>Ontology as a tool for custom AI apps</a:t>
                      </a:r>
                      <a:endParaRPr lang="en-US" sz="1228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0">
                          <a:solidFill>
                            <a:srgbClr val="1F2937"/>
                          </a:solidFill>
                          <a:latin typeface="Aptos"/>
                        </a:rPr>
                        <a:t>Building bespoke agentic apps in Azure AI Foundry</a:t>
                      </a:r>
                      <a:endParaRPr lang="en-US" sz="1228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5178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1">
                          <a:solidFill>
                            <a:srgbClr val="1F2937"/>
                          </a:solidFill>
                          <a:latin typeface="Aptos"/>
                        </a:rPr>
                        <a:t>Copilot Studio MCP connector</a:t>
                      </a:r>
                      <a:endParaRPr lang="en-US" sz="1228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0">
                          <a:solidFill>
                            <a:srgbClr val="1F2937"/>
                          </a:solidFill>
                          <a:latin typeface="Aptos"/>
                        </a:rPr>
                        <a:t>Ontology exposed via MCP</a:t>
                      </a:r>
                      <a:endParaRPr lang="en-US" sz="1228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28" b="0">
                          <a:solidFill>
                            <a:srgbClr val="1F2937"/>
                          </a:solidFill>
                          <a:latin typeface="Aptos"/>
                        </a:rPr>
                        <a:t>Grounding agents built outside Fabric entirely</a:t>
                      </a:r>
                      <a:endParaRPr lang="en-US" sz="1228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four-ways-to-ground-an-agent</m2p:slideId>
        <m2p:title>Four ways to ground an agent</m2p:title>
        <m2p:hash>sha256:9f55f58df04b9079f8602c64a95dd766895fd25120f1f45ec722d3ac09f02877</m2p:hash>
        <m2p:sourceSlide>module-04-slides.md#slide-4</m2p:sourceSlide>
        <m2p:generatorVersion>1.0.0.0</m2p:generatorVersion>
        <m2p:layoutRef>Main Content : Title + Visual Data</m2p:layoutRef>
        <m2p:templateRef>EMFCC26_SpeakerPPT_TemplateA_Styled_Accessibility Review_Updated_11Aug.pptx</m2p:templateRef>
      </m2p:meta>
    </p:ext>
  </p:extLst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Pattern 1 — Fabric Data Agent: </a:t>
            </a:r>
            <a:r>
              <a:rPr lang="en-US"/>
              <a:t>ColdChainDataAgent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Grounded directly in </a:t>
            </a:r>
            <a:r>
              <a:rPr lang="en-US" b="1"/>
              <a:t>ColdChainOntology</a:t>
            </a:r>
            <a:endParaRPr lang="en-US"/>
          </a:p>
          <a:p xmlns:a="http://schemas.openxmlformats.org/drawingml/2006/main">
            <a:pPr lvl="0"/>
            <a:r>
              <a:rPr lang="en-US"/>
              <a:t>Answers natural-language questions by traversing the graph</a:t>
            </a:r>
            <a:endParaRPr lang="en-US"/>
          </a:p>
          <a:p xmlns:a="http://schemas.openxmlformats.org/drawingml/2006/main">
            <a:pPr lvl="0"/>
            <a:r>
              <a:rPr lang="en-US" i="1"/>
              <a:t>"Which freezers at the Nørrebro store are older than 5 years?"</a:t>
            </a:r>
            <a:r>
              <a:rPr lang="en-US"/>
              <a:t> → traverses </a:t>
            </a:r>
            <a:r>
              <a:rPr lang="en-US"/>
              <a:t>Store —has→ Freezer</a:t>
            </a:r>
            <a:r>
              <a:rPr lang="en-US"/>
              <a:t>, filters </a:t>
            </a:r>
            <a:r>
              <a:rPr lang="en-US"/>
              <a:t>InstallDate</a:t>
            </a:r>
            <a:endParaRPr lang="en-US"/>
          </a:p>
          <a:p xmlns:a="http://schemas.openxmlformats.org/drawingml/2006/main">
            <a:pPr lvl="0"/>
            <a:r>
              <a:rPr lang="en-US"/>
              <a:t>Question-and-answer pattern — a person (or another system) initiates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pattern-1-fabric-data-agent-coldchaindataagent</m2p:slideId>
        <m2p:title>Pattern 1 — Fabric Data Agent: ColdChainDataAgent</m2p:title>
        <m2p:hash>sha256:221bdd43262c6ec285b2cc581f2f61884bbf8389806a32ba3073333f3170289b</m2p:hash>
        <m2p:sourceSlide>module-04-slides.md#slide-5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Pattern 2 — Operations Agent: </a:t>
            </a:r>
            <a:r>
              <a:rPr lang="en-US"/>
              <a:t>ColdChainOperationsAgent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Also grounded in </a:t>
            </a:r>
            <a:r>
              <a:rPr lang="en-US"/>
              <a:t>ColdChainOntology</a:t>
            </a:r>
            <a:r>
              <a:rPr lang="en-US"/>
              <a:t>, but </a:t>
            </a:r>
            <a:r>
              <a:rPr lang="en-US" b="1"/>
              <a:t>event-triggered rather than question-driven</a:t>
            </a:r>
            <a:endParaRPr lang="en-US"/>
          </a:p>
          <a:p xmlns:a="http://schemas.openxmlformats.org/drawingml/2006/main">
            <a:pPr lvl="0"/>
            <a:r>
              <a:rPr lang="en-US"/>
              <a:t>Paired with an </a:t>
            </a:r>
            <a:r>
              <a:rPr lang="en-US" b="1"/>
              <a:t>Activator Ontology Rule</a:t>
            </a:r>
            <a:r>
              <a:rPr lang="en-US"/>
              <a:t>: </a:t>
            </a:r>
            <a:r>
              <a:rPr lang="en-US" b="1"/>
              <a:t>"Freezer running warm"</a:t>
            </a:r>
            <a:endParaRPr lang="en-US"/>
          </a:p>
          <a:p xmlns:a="http://schemas.openxmlformats.org/drawingml/2006/main">
            <a:pPr lvl="0"/>
            <a:r>
              <a:rPr lang="en-US"/>
              <a:t>Fires when </a:t>
            </a:r>
            <a:r>
              <a:rPr lang="en-US"/>
              <a:t>TemperatureC</a:t>
            </a:r>
            <a:r>
              <a:rPr lang="en-US"/>
              <a:t> rises above roughly </a:t>
            </a:r>
            <a:r>
              <a:rPr lang="en-US" b="1"/>
              <a:t>-12°C</a:t>
            </a:r>
            <a:r>
              <a:rPr lang="en-US"/>
              <a:t> for a sustained period</a:t>
            </a:r>
            <a:endParaRPr lang="en-US"/>
          </a:p>
          <a:p xmlns:a="http://schemas.openxmlformats.org/drawingml/2006/main">
            <a:pPr lvl="0"/>
            <a:r>
              <a:rPr lang="en-US"/>
              <a:t>Simulates a real operational fault: </a:t>
            </a:r>
            <a:r>
              <a:rPr lang="en-US" b="1"/>
              <a:t>door left open, or compressor failure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pattern-2-operations-agent-coldchainoperationsagent</m2p:slideId>
        <m2p:title>Pattern 2 — Operations Agent: ColdChainOperationsAgent</m2p:title>
        <m2p:hash>sha256:e8888ecc68e36dba6bbcc751c4a7aa3ae737ad1e9f34a7f79e2d188d9f74955e</m2p:hash>
        <m2p:sourceSlide>module-04-slides.md#slide-6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Activator Ontology Rules vs. classic Activator rules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Classic Activator (RTI half)</a:t>
            </a:r>
            <a:endParaRPr lang="en-US"/>
          </a:p>
          <a:p xmlns:a="http://schemas.openxmlformats.org/drawingml/2006/main">
            <a:pPr lvl="0"/>
            <a:r>
              <a:rPr lang="en-US"/>
              <a:t>Threshold on a raw column</a:t>
            </a:r>
            <a:endParaRPr lang="en-US"/>
          </a:p>
          <a:p xmlns:a="http://schemas.openxmlformats.org/drawingml/2006/main">
            <a:pPr lvl="0"/>
            <a:r>
              <a:rPr lang="en-US" i="1"/>
              <a:t>"Alert if </a:t>
            </a:r>
            <a:r>
              <a:rPr lang="en-US" i="1"/>
              <a:t>TemperatureC</a:t>
            </a:r>
            <a:r>
              <a:rPr lang="en-US" i="1"/>
              <a:t> &gt; -12"</a:t>
            </a:r>
            <a:endParaRPr lang="en-US"/>
          </a:p>
          <a:p xmlns:a="http://schemas.openxmlformats.org/drawingml/2006/main">
            <a:pPr lvl="0"/>
            <a:r>
              <a:rPr lang="en-US"/>
              <a:t>No idea what entity, store, or customer is involved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Activator Ontology Rule</a:t>
            </a:r>
            <a:endParaRPr lang="en-US"/>
          </a:p>
          <a:p xmlns:a="http://schemas.openxmlformats.org/drawingml/2006/main">
            <a:pPr lvl="0"/>
            <a:r>
              <a:rPr lang="en-US"/>
              <a:t>Threshold on an </a:t>
            </a:r>
            <a:r>
              <a:rPr lang="en-US" b="1"/>
              <a:t>entity's property</a:t>
            </a:r>
            <a:endParaRPr lang="en-US"/>
          </a:p>
          <a:p xmlns:a="http://schemas.openxmlformats.org/drawingml/2006/main">
            <a:pPr lvl="0"/>
            <a:r>
              <a:rPr lang="en-US" i="1"/>
              <a:t>"Alert if this </a:t>
            </a:r>
            <a:r>
              <a:rPr lang="en-US" b="1" i="1"/>
              <a:t>Freezer</a:t>
            </a:r>
            <a:r>
              <a:rPr lang="en-US" i="1"/>
              <a:t> is running warm"</a:t>
            </a:r>
            <a:endParaRPr lang="en-US"/>
          </a:p>
          <a:p xmlns:a="http://schemas.openxmlformats.org/drawingml/2006/main">
            <a:pPr lvl="0"/>
            <a:r>
              <a:rPr lang="en-US"/>
              <a:t>Carries the whole graph context: which Store, which Customer base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activator-ontology-rules-vs-classic-activator-rules</m2p:slideId>
        <m2p:title>Activator Ontology Rules vs. classic Activator rules</m2p:title>
        <m2p:hash>sha256:8de4d8b00086487aac797a71bfba744bcae80297fb517c9b5f7c01b6c3c60364</m2p:hash>
        <m2p:sourceSlide>module-04-slides.md#slide-7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Case study: "Freezer running warm" end to end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AutoNum type="arabicPeriod" startAt="1"/>
            </a:pPr>
            <a:r>
              <a:rPr lang="en-US"/>
              <a:t>FreezerTelemetryEnriched.TemperatureC</a:t>
            </a:r>
            <a:r>
              <a:rPr lang="en-US"/>
              <a:t> climbs above ≈ </a:t>
            </a:r>
            <a:r>
              <a:rPr lang="en-US" b="1"/>
              <a:t>-12°C</a:t>
            </a:r>
            <a:r>
              <a:rPr lang="en-US"/>
              <a:t> and stays there</a:t>
            </a:r>
            <a:endParaRPr lang="en-US"/>
          </a:p>
          <a:p xmlns:a="http://schemas.openxmlformats.org/drawingml/2006/main">
            <a:pPr lvl="0">
              <a:buAutoNum type="arabicPeriod" startAt="2"/>
            </a:pPr>
            <a:r>
              <a:rPr lang="en-US"/>
              <a:t>The </a:t>
            </a:r>
            <a:r>
              <a:rPr lang="en-US" b="1"/>
              <a:t>Activator Ontology Rule</a:t>
            </a:r>
            <a:r>
              <a:rPr lang="en-US"/>
              <a:t> evaluates this against the </a:t>
            </a:r>
            <a:r>
              <a:rPr lang="en-US"/>
              <a:t>Freezer</a:t>
            </a:r>
            <a:r>
              <a:rPr lang="en-US"/>
              <a:t> entity, not a raw column</a:t>
            </a:r>
            <a:endParaRPr lang="en-US"/>
          </a:p>
          <a:p xmlns:a="http://schemas.openxmlformats.org/drawingml/2006/main">
            <a:pPr lvl="0">
              <a:buAutoNum type="arabicPeriod" startAt="3"/>
            </a:pPr>
            <a:r>
              <a:rPr lang="en-US"/>
              <a:t>Rule fires → </a:t>
            </a:r>
            <a:r>
              <a:rPr lang="en-US" b="1"/>
              <a:t>ColdChainOperationsAgent</a:t>
            </a:r>
            <a:r>
              <a:rPr lang="en-US"/>
              <a:t> is notified</a:t>
            </a:r>
            <a:endParaRPr lang="en-US"/>
          </a:p>
          <a:p xmlns:a="http://schemas.openxmlformats.org/drawingml/2006/main">
            <a:pPr lvl="0">
              <a:buAutoNum type="arabicPeriod" startAt="4"/>
            </a:pPr>
            <a:r>
              <a:rPr lang="en-US"/>
              <a:t>Agent has full graph context: </a:t>
            </a:r>
            <a:r>
              <a:rPr lang="en-US" i="1"/>
              <a:t>this</a:t>
            </a:r>
            <a:r>
              <a:rPr lang="en-US"/>
              <a:t> Freezer, </a:t>
            </a:r>
            <a:r>
              <a:rPr lang="en-US" i="1"/>
              <a:t>its</a:t>
            </a:r>
            <a:r>
              <a:rPr lang="en-US"/>
              <a:t> Store, </a:t>
            </a:r>
            <a:r>
              <a:rPr lang="en-US" i="1"/>
              <a:t>its</a:t>
            </a:r>
            <a:r>
              <a:rPr lang="en-US"/>
              <a:t> Model/Capacity/InstallDate</a:t>
            </a:r>
            <a:endParaRPr lang="en-US"/>
          </a:p>
          <a:p xmlns:a="http://schemas.openxmlformats.org/drawingml/2006/main">
            <a:pPr lvl="0">
              <a:buAutoNum type="arabicPeriod" startAt="5"/>
            </a:pPr>
            <a:r>
              <a:rPr lang="en-US"/>
              <a:t>Agent can act or notify </a:t>
            </a:r>
            <a:r>
              <a:rPr lang="en-US" b="1"/>
              <a:t>in business language</a:t>
            </a:r>
            <a:r>
              <a:rPr lang="en-US"/>
              <a:t>: </a:t>
            </a:r>
            <a:r>
              <a:rPr lang="en-US" i="1"/>
              <a:t>"Freezer FZ-118 at Nørrebro is running warm — check the door or compressor"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case-study-freezer-running-warm-end-to-end</m2p:slideId>
        <m2p:title>Case study: "Freezer running warm" end to end</m2p:title>
        <m2p:hash>sha256:afa68d755f3b98214bb3091bcd31a4c662b36182a4f73fb056e57a9de6a06010</m2p:hash>
        <m2p:sourceSlide>module-04-slides.md#slide-8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Pattern 3 — Foundry IQ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Exposes the ontology as a grounding source for custom agentic applications built in </a:t>
            </a:r>
            <a:r>
              <a:rPr lang="en-US" b="1"/>
              <a:t>Azure AI Foundry</a:t>
            </a:r>
            <a:endParaRPr lang="en-US"/>
          </a:p>
          <a:p xmlns:a="http://schemas.openxmlformats.org/drawingml/2006/main">
            <a:pPr lvl="0"/>
            <a:r>
              <a:rPr lang="en-US"/>
              <a:t>Use when you need an agent experience </a:t>
            </a:r>
            <a:r>
              <a:rPr lang="en-US" b="1"/>
              <a:t>beyond</a:t>
            </a:r>
            <a:r>
              <a:rPr lang="en-US"/>
              <a:t> what Fabric's built-in Data/Operations Agents offer</a:t>
            </a:r>
            <a:endParaRPr lang="en-US"/>
          </a:p>
          <a:p xmlns:a="http://schemas.openxmlformats.org/drawingml/2006/main">
            <a:pPr lvl="0"/>
            <a:r>
              <a:rPr lang="en-US"/>
              <a:t>Same underlying graph, same trust guarantees — different build surface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pattern-3-foundry-iq</m2p:slideId>
        <m2p:title>Pattern 3 — Foundry IQ</m2p:title>
        <m2p:hash>sha256:78f65fe2839f0844403d0743890f2de547cfe99f66d72b8d6e4bd890d808f599</m2p:hash>
        <m2p:sourceSlide>module-04-slides.md#slide-9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Pattern 4 — Copilot Studio MCP connector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Fabric IQ exposes the ontology via </a:t>
            </a:r>
            <a:r>
              <a:rPr lang="en-US" b="1"/>
              <a:t>MCP (Model Context Protocol)</a:t>
            </a:r>
            <a:endParaRPr lang="en-US"/>
          </a:p>
          <a:p xmlns:a="http://schemas.openxmlformats.org/drawingml/2006/main">
            <a:pPr lvl="0"/>
            <a:r>
              <a:rPr lang="en-US"/>
              <a:t>Lets an agent built entirely </a:t>
            </a:r>
            <a:r>
              <a:rPr lang="en-US" b="1"/>
              <a:t>outside Fabric</a:t>
            </a:r>
            <a:r>
              <a:rPr lang="en-US"/>
              <a:t> — e.g. in Copilot Studio — ground its answers in </a:t>
            </a:r>
            <a:r>
              <a:rPr lang="en-US"/>
              <a:t>ColdChainOntology</a:t>
            </a:r>
            <a:endParaRPr lang="en-US"/>
          </a:p>
          <a:p xmlns:a="http://schemas.openxmlformats.org/drawingml/2006/main">
            <a:pPr lvl="0"/>
            <a:r>
              <a:rPr lang="en-US"/>
              <a:t>The ontology becomes a reusable grounding source across your whole agent estate, not just Fabric-native agents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pattern-4-copilot-studio-mcp-connector</m2p:slideId>
        <m2p:title>Pattern 4 — Copilot Studio MCP connector</m2p:title>
        <m2p:hash>sha256:598606c024347b3c374786fa3e16cef5283b876472360c22ddfc4fb80aa461f1</m2p:hash>
        <m2p:sourceSlide>module-04-slides.md#slide-10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Choosing a pattern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Need ad-hoc Q&amp;A over the graph? → </a:t>
            </a:r>
            <a:r>
              <a:rPr lang="en-US" b="1"/>
              <a:t>Data Agent</a:t>
            </a:r>
            <a:endParaRPr lang="en-US"/>
          </a:p>
          <a:p xmlns:a="http://schemas.openxmlformats.org/drawingml/2006/main">
            <a:pPr lvl="0"/>
            <a:r>
              <a:rPr lang="en-US"/>
              <a:t>Need to react automatically when something changes? → </a:t>
            </a:r>
            <a:r>
              <a:rPr lang="en-US" b="1"/>
              <a:t>Operations Agent</a:t>
            </a:r>
            <a:r>
              <a:rPr lang="en-US"/>
              <a:t> + </a:t>
            </a:r>
            <a:r>
              <a:rPr lang="en-US" b="1"/>
              <a:t>Ontology Rule</a:t>
            </a:r>
            <a:endParaRPr lang="en-US"/>
          </a:p>
          <a:p xmlns:a="http://schemas.openxmlformats.org/drawingml/2006/main">
            <a:pPr lvl="0"/>
            <a:r>
              <a:rPr lang="en-US"/>
              <a:t>Building a custom AI app in Foundry? → </a:t>
            </a:r>
            <a:r>
              <a:rPr lang="en-US" b="1"/>
              <a:t>Foundry IQ</a:t>
            </a:r>
            <a:endParaRPr lang="en-US"/>
          </a:p>
          <a:p xmlns:a="http://schemas.openxmlformats.org/drawingml/2006/main">
            <a:pPr lvl="0"/>
            <a:r>
              <a:rPr lang="en-US"/>
              <a:t>Grounding an agent that lives outside Fabric? → </a:t>
            </a:r>
            <a:r>
              <a:rPr lang="en-US" b="1"/>
              <a:t>Copilot Studio MCP connector</a:t>
            </a:r>
            <a:endParaRPr lang="en-US"/>
          </a:p>
          <a:p xmlns:a="http://schemas.openxmlformats.org/drawingml/2006/main">
            <a:pPr lvl="0"/>
            <a:r>
              <a:rPr lang="en-US"/>
              <a:t>All four read from the </a:t>
            </a:r>
            <a:r>
              <a:rPr lang="en-US" b="1"/>
              <a:t>same ontology</a:t>
            </a:r>
            <a:r>
              <a:rPr lang="en-US"/>
              <a:t> — no duplicated modeling effort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choosing-a-pattern</m2p:slideId>
        <m2p:title>Choosing a pattern</m2p:title>
        <m2p:hash>sha256:dfe02d01209e182163184c9d9f0a8c2e1f9904ade29c9b80f40009308eac2124</m2p:hash>
        <m2p:sourceSlide>module-04-slides.md#slide-11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Hands-on lab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Lab 04 — Agent patterns</a:t>
            </a:r>
            <a:endParaRPr lang="en-US"/>
          </a:p>
          <a:p xmlns:a="http://schemas.openxmlformats.org/drawingml/2006/main">
            <a:pPr lvl="0"/>
            <a:r>
              <a:rPr lang="en-US"/>
              <a:t>Build </a:t>
            </a:r>
            <a:r>
              <a:rPr lang="en-US"/>
              <a:t>ColdChainDataAgent</a:t>
            </a:r>
            <a:r>
              <a:rPr lang="en-US"/>
              <a:t>, grounded in </a:t>
            </a:r>
            <a:r>
              <a:rPr lang="en-US"/>
              <a:t>ColdChainOntology</a:t>
            </a:r>
            <a:endParaRPr lang="en-US"/>
          </a:p>
          <a:p xmlns:a="http://schemas.openxmlformats.org/drawingml/2006/main">
            <a:pPr lvl="0"/>
            <a:r>
              <a:rPr lang="en-US"/>
              <a:t>Create the </a:t>
            </a:r>
            <a:r>
              <a:rPr lang="en-US" b="1"/>
              <a:t>"Freezer running warm"</a:t>
            </a:r>
            <a:r>
              <a:rPr lang="en-US"/>
              <a:t> Activator Ontology Rule</a:t>
            </a:r>
            <a:endParaRPr lang="en-US"/>
          </a:p>
          <a:p xmlns:a="http://schemas.openxmlformats.org/drawingml/2006/main">
            <a:pPr lvl="0"/>
            <a:r>
              <a:rPr lang="en-US"/>
              <a:t>Build </a:t>
            </a:r>
            <a:r>
              <a:rPr lang="en-US"/>
              <a:t>ColdChainOperationsAgent</a:t>
            </a:r>
            <a:r>
              <a:rPr lang="en-US"/>
              <a:t> and trigger it with live telemetry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/>
              <a:t>📄 </a:t>
            </a:r>
            <a:r>
              <a:rPr lang="en-US"/>
              <a:t>modules/module-04-agent-patterns/lab-04-build-data-agent-and-operations-agent.md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deck-19310c28bc96</m2p:deckId>
        <m2p:slideId>hands-on-lab</m2p:slideId>
        <m2p:title>Hands-on lab</m2p:title>
        <m2p:hash>sha256:38117876e570df22a96a21918eb202b1ab09d5e4dea42eea8066e7d0781234f4</m2p:hash>
        <m2p:sourceSlide>module-04-slides.md#slide-12</m2p:sourceSlide>
        <m2p:generatorVersion>1.0.0.0</m2p:generatorVersion>
        <m2p:layoutRef>Section Break Slide</m2p:layoutRef>
        <m2p:templateRef>EMFCC26_SpeakerPPT_TemplateA_Styled_Accessibility Review_Updated_11Aug.pptx</m2p:templateRef>
      </m2p:meta>
    </p:ext>
  </p:extLst>
</p:sld>
</file>

<file path=ppt/theme/theme1.xml><?xml version="1.0" encoding="utf-8"?>
<a:theme xmlns:thm15="http://schemas.microsoft.com/office/thememl/2012/main"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1fbb9a-23db-4311-a69c-34622b264696">
      <Terms xmlns="http://schemas.microsoft.com/office/infopath/2007/PartnerControls"/>
    </lcf76f155ced4ddcb4097134ff3c332f>
    <TaxCatchAll xmlns="1b3b1065-ae42-4d8a-aa8c-0a73a17faba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D26BB1-7F1F-46F1-8F3C-0C47CE043432}">
  <ds:schemaRefs>
    <ds:schemaRef ds:uri="221fbb9a-23db-4311-a69c-34622b264696"/>
    <ds:schemaRef ds:uri="http://purl.org/dc/dcmitype/"/>
    <ds:schemaRef ds:uri="http://purl.org/dc/terms/"/>
    <ds:schemaRef ds:uri="http://schemas.microsoft.com/office/2006/metadata/properties"/>
    <ds:schemaRef ds:uri="1b3b1065-ae42-4d8a-aa8c-0a73a17faba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E38309D-794A-4787-9F1D-A760486AD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157E49-3C57-4281-B896-98EEEB20EA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Aptos Display</vt:lpstr>
      <vt:lpstr>MarpToPptx Theme</vt:lpstr>
      <vt:lpstr>Module 04</vt:lpstr>
      <vt:lpstr>Learning objectives</vt:lpstr>
      <vt:lpstr>Why agents need grounding</vt:lpstr>
      <vt:lpstr>Four ways to ground an agent</vt:lpstr>
      <vt:lpstr>Pattern 1 — Fabric Data Agent: ColdChainDataAgent</vt:lpstr>
      <vt:lpstr>Pattern 2 — Operations Agent: ColdChainOperationsAgent</vt:lpstr>
      <vt:lpstr>Activator Ontology Rules vs. classic Activator rules</vt:lpstr>
      <vt:lpstr>Case study: "Freezer running warm" end to end</vt:lpstr>
      <vt:lpstr>Pattern 3 — Foundry IQ</vt:lpstr>
      <vt:lpstr>Pattern 4 — Copilot Studio MCP connector</vt:lpstr>
      <vt:lpstr>Choosing a pattern</vt:lpstr>
      <vt:lpstr>Hands-on lab</vt:lpstr>
    </vt:vector>
  </TitlesOfParts>
  <Company>Created by MarpToPptx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</dc:title>
  <dc:subject>PowerPoint Presentation</dc:subject>
  <dc:creator>MarpToPptx</dc:creator>
  <cp:lastModifiedBy>MarpToPptx</cp:lastModifiedBy>
  <cp:revision>1</cp:revision>
  <dcterms:created xsi:type="dcterms:W3CDTF">2026-09-06T19:09:21Z</dcterms:created>
  <dcterms:modified xsi:type="dcterms:W3CDTF">2026-09-06T19:09:21Z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0x010100A051F54D7AD26C459333D1AFF09839BE</vt:lpwstr>
  </property>
</Properties>
</file>
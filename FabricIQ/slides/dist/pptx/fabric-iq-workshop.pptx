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holds speaker notes.</a:t>
            </a:r>
          </a:p>
          <a:p>
            <a:r>
              <a:t>     Images reference the repo's own assets/screenshots and artifacts/WorkspaceIcon files. --&gt;</a:t>
            </a:r>
          </a:p>
          <a:p>
            <a:r>
              <a:t>&lt;link rel="stylesheet" href="https://fonts.googleapis.com/css2?family=IBM+Plex+Sans:wght@400;500;600;700&amp;display=swap"&gt;&lt;link rel="stylesheet" href="https://fonts.googleapis.com/css2?family=JetBrains+Mono:wght@400;600&amp;display=swap"&gt;</a:t>
            </a:r>
          </a:p>
          <a:p>
            <a:r>
              <a:t>&lt;style&gt;</a:t>
            </a:r>
          </a:p>
          <a:p>
            <a:r>
              <a:t>:root{--z:1}</a:t>
            </a:r>
          </a:p>
          <a:p>
            <a:r>
              <a:t>html,body{margin:0;background:#1a1f1d}</a:t>
            </a:r>
          </a:p>
          <a:p>
            <a:r>
              <a:t>body{display:flex;flex-direction:column;align-items:center;gap:24px;padding:24px 0}</a:t>
            </a:r>
          </a:p>
          <a:p>
            <a:r>
              <a:t>section{position:relative;width:1920px;height:1080px;overflow:hidden;box-sizing:border-box;flex-shrink:0;</a:t>
            </a:r>
          </a:p>
          <a:p>
            <a:r>
              <a:t>  zoom:var(--z);font-family:'IBM Plex Sans',Arial,sans-serif;color:#14231E;background:#F6F5EF;display:flex;flex-direction:column}</a:t>
            </a:r>
          </a:p>
          <a:p>
            <a:r>
              <a:t>section *{box-sizing:border-box;margin:0}</a:t>
            </a:r>
          </a:p>
          <a:p>
            <a:r>
              <a:t>section div{min-width:0}</a:t>
            </a:r>
          </a:p>
          <a:p>
            <a:r>
              <a:t>section div:not([style*="display"]){display:flex;flex-direction:column}</a:t>
            </a:r>
          </a:p>
          <a:p>
            <a:r>
              <a:t>section h1{font-size:96px;font-weight:600;line-height:1.1}</a:t>
            </a:r>
          </a:p>
          <a:p>
            <a:r>
              <a:t>section h2{font-size:64px;font-weight:600;line-height:1.15}</a:t>
            </a:r>
          </a:p>
          <a:p>
            <a:r>
              <a:t>section h3{font-size:44px;font-weight:600;line-height:1.2}</a:t>
            </a:r>
          </a:p>
          <a:p>
            <a:r>
              <a:t>section p{font-size:32px;font-weight:400;line-height:1.4}</a:t>
            </a:r>
          </a:p>
          <a:p>
            <a:r>
              <a:t>section ul,section ol{padding-left:1.1em}</a:t>
            </a:r>
          </a:p>
          <a:p>
            <a:r>
              <a:t>section li{margin:0}</a:t>
            </a:r>
          </a:p>
          <a:p>
            <a:r>
              <a:t>section b{font-weight:700}</a:t>
            </a:r>
          </a:p>
          <a:p>
            <a:r>
              <a:t>section a{color:inherit}</a:t>
            </a:r>
          </a:p>
          <a:p>
            <a:r>
              <a:t>section img{display:block}</a:t>
            </a:r>
          </a:p>
          <a:p>
            <a:r>
              <a:t>section table{border-collapse:collapse;width:100%}</a:t>
            </a:r>
          </a:p>
          <a:p>
            <a:r>
              <a:t>section td,section th{padding:.35em .6em;border-bottom:1px solid rgba(20,35,30,.12);vertical-align:top}</a:t>
            </a:r>
          </a:p>
          <a:p>
            <a:r>
              <a:t>section aside{display:none}</a:t>
            </a:r>
          </a:p>
          <a:p>
            <a:r>
              <a:t>x-icon{display:inline-block;flex-shrink:0;background-color:currentColor;-webkit-mask-repeat:no-repeat;mask-repeat:no-repeat;-webkit-mask-position:center;mask-position:center;-webkit-mask-size:contain;mask-size:contain}</a:t>
            </a:r>
          </a:p>
          <a:p>
            <a:r>
              <a:t>x-icon[name="Lightbulb"]{-webkit-mask-image:url("data:image/svg+xml;utf8,&lt;svg xmlns='http://www.w3.org/2000/svg' viewBox='0 0 24 24' fill='none' stroke='%23000' stroke-width='2' stroke-linecap='round' stroke-linejoin='round'&gt;&lt;path d='M9 18h6M10 21h4M12 3a6 6 0 0 0-4 10.5c.7.7 1 1.5 1 2.5h6c0-1 .3-1.8 1-2.5A6 6 0 0 0 12 3z'/&gt;&lt;/svg&gt;");mask-image:url("data:image/svg+xml;utf8,&lt;svg xmlns='http://www.w3.org/2000/svg' viewBox='0 0 24 24' fill='none' stroke='%23000' stroke-width='2' stroke-linecap='round' stroke-linejoin='round'&gt;&lt;path d='M9 18h6M10 21h4M12 3a6 6 0 0 0-4 10.5c.7.7 1 1.5 1 2.5h6c0-1 .3-1.8 1-2.5A6 6 0 0 0 12 3z'/&gt;&lt;/svg&gt;")}x-icon[name="Book"]{-webkit-mask-image:url("data:image/svg+xml;utf8,&lt;svg xmlns='http://www.w3.org/2000/svg' viewBox='0 0 24 24' fill='none' stroke='%23000' stroke-width='2' stroke-linecap='round' stroke-linejoin='round'&gt;&lt;path d='M12 6c-1.5-1.5-4-2-8-2v15c4 0 6.5.5 8 2 1.5-1.5 4-2 8-2V4c-4 0-6.5.5-8 2zM12 6v15'/&gt;&lt;/svg&gt;");mask-image:url("data:image/svg+xml;utf8,&lt;svg xmlns='http://www.w3.org/2000/svg' viewBox='0 0 24 24' fill='none' stroke='%23000' stroke-width='2' stroke-linecap='round' stroke-linejoin='round'&gt;&lt;path d='M12 6c-1.5-1.5-4-2-8-2v15c4 0 6.5.5 8 2 1.5-1.5 4-2 8-2V4c-4 0-6.5.5-8 2zM12 6v15'/&gt;&lt;/svg&gt;")}x-icon[name="CheckCircle"]{-webkit-mask-image:url("data:image/svg+xml;utf8,&lt;svg xmlns='http://www.w3.org/2000/svg' viewBox='0 0 24 24' fill='none' stroke='%23000' stroke-width='2' stroke-linecap='round' stroke-linejoin='round'&gt;&lt;circle cx='12' cy='12' r='9'/&gt;&lt;path d='M8 12.5l2.5 2.5L16 9.5'/&gt;&lt;/svg&gt;");mask-image:url("data:image/svg+xml;utf8,&lt;svg xmlns='http://www.w3.org/2000/svg' viewBox='0 0 24 24' fill='none' stroke='%23000' stroke-width='2' stroke-linecap='round' stroke-linejoin='round'&gt;&lt;circle cx='12' cy='12' r='9'/&gt;&lt;path d='M8 12.5l2.5 2.5L16 9.5'/&gt;&lt;/svg&gt;")}x-icon[name="Warning"]{-webkit-mask-image:url("data:image/svg+xml;utf8,&lt;svg xmlns='http://www.w3.org/2000/svg' viewBox='0 0 24 24' fill='none' stroke='%23000' stroke-width='2' stroke-linecap='round' stroke-linejoin='round'&gt;&lt;path d='M12 3L2.5 20h19L12 3zM12 10v4M12 17.5v.5'/&gt;&lt;/svg&gt;");mask-image:url("data:image/svg+xml;utf8,&lt;svg xmlns='http://www.w3.org/2000/svg' viewBox='0 0 24 24' fill='none' stroke='%23000' stroke-width='2' stroke-linecap='round' stroke-linejoin='round'&gt;&lt;path d='M12 3L2.5 20h19L12 3zM12 10v4M12 17.5v.5'/&gt;&lt;/svg&gt;")}x-icon[name="Play"]{-webkit-mask-image:url("data:image/svg+xml;utf8,&lt;svg xmlns='http://www.w3.org/2000/svg' viewBox='0 0 24 24' fill='%23000'&gt;&lt;path d='M7 4l13 8-13 8z'/&gt;&lt;/svg&gt;");mask-image:url("data:image/svg+xml;utf8,&lt;svg xmlns='http://www.w3.org/2000/svg' viewBox='0 0 24 24' fill='%23000'&gt;&lt;path d='M7 4l13 8-13 8z'/&gt;&lt;/svg&gt;")}</a:t>
            </a:r>
          </a:p>
          <a:p>
            <a:r>
              <a:t>x-shape{display:block;flex-shrink:0}</a:t>
            </a:r>
          </a:p>
          <a:p>
            <a:r>
              <a:t>x-shape[kind="arrow-down"]{clip-path:polygon(30% 0,70% 0,70% 60%,100% 60%,50% 100%,0 60%,30% 60%)}</a:t>
            </a:r>
          </a:p>
          <a:p>
            <a:r>
              <a:t>x-shape[kind="arrow-up"]{clip-path:polygon(50% 0,100% 40%,70% 40%,70% 100%,30% 100%,30% 40%,0 40%)}</a:t>
            </a:r>
          </a:p>
          <a:p>
            <a:r>
              <a:t>x-shape[kind="arrow-right"]{clip-path:polygon(0 30%,60% 30%,60% 0,100% 50%,60% 100%,60% 70%,0 70%)}</a:t>
            </a:r>
          </a:p>
          <a:p>
            <a:r>
              <a:t>x-shape[kind="ellipse"]{border-radius:50%}</a:t>
            </a:r>
          </a:p>
          <a:p>
            <a:r>
              <a:t>x-connector{display:block;position:relative;height:24px;flex-shrink:0;align-self:center;border:0!important}</a:t>
            </a:r>
          </a:p>
          <a:p>
            <a:r>
              <a:t>x-connector::before{content:"";position:absolute;left:0;right:12px;top:50%;height:4px;margin-top:-2px;background:currentColor}</a:t>
            </a:r>
          </a:p>
          <a:p>
            <a:r>
              <a:t>x-connector::after{content:"";position:absolute;right:0;top:50%;margin-top:-10px;border-left:18px solid currentColor;border-top:10px solid transparent;border-bottom:10px solid transparent}</a:t>
            </a:r>
          </a:p>
          <a:p>
            <a:r>
              <a:t>#nav{position:fixed;left:0;right:0;bottom:0;padding:8px 16px;font:14px/1.4 'IBM Plex Sans',Arial,sans-serif;color:#c9d8d0;background:rgba(1,63,52,.92);display:flex;gap:16px;justify-content:center}</a:t>
            </a:r>
          </a:p>
          <a:p>
            <a:r>
              <a:t>@media print{</a:t>
            </a:r>
          </a:p>
          <a:p>
            <a:r>
              <a:t>  html,body{background:none;display:block;padding:0;gap:0}</a:t>
            </a:r>
          </a:p>
          <a:p>
            <a:r>
              <a:t>  section{zoom:1;page-break-after:always;break-after:page}</a:t>
            </a:r>
          </a:p>
          <a:p>
            <a:r>
              <a:t>  #nav{display:none}</a:t>
            </a:r>
          </a:p>
          <a:p>
            <a:r>
              <a:t>}</a:t>
            </a:r>
          </a:p>
          <a:p>
            <a:r>
              <a:t>@page{size:1920px 1080px;margin:0}</a:t>
            </a:r>
          </a:p>
          <a:p>
            <a:r>
              <a:t>&lt;/style&gt;</a:t>
            </a:r>
          </a:p>
          <a:p>
            <a:r>
              <a:t>&lt;/head&gt;</a:t>
            </a:r>
          </a:p>
          <a:p>
            <a:r>
              <a:t>&lt;body&gt;</a:t>
            </a:r>
          </a:p>
          <a:p>
            <a:r>
              <a:t>&lt;section data-section="Kickoff, scenario framing and live environment setup" id="cover" data-transition="push" style="background:linear-gradient(135deg, #013f34 0%, #125b44 100%)"&gt;</a:t>
            </a:r>
          </a:p>
          <a:p>
            <a:r>
              <a:t>  &lt;div id="97a4783d" style="position:absolute; top:128px; left:128px; width:1664px; height:34px; display:flex; flex-direction:row; align-items:center; justify-content:space-between"&gt;</a:t>
            </a:r>
          </a:p>
          <a:p>
            <a:r>
              <a:t>    &lt;p style="font-family:'IBM Plex Sans', Arial, sans-serif; font-size:24px; font-weight:600; letter-spacing:3px; text-transform:uppercase; color:#bca045"&gt;Building intelligent, event-driven architectures with Fabric Real-Time Intelligence&lt;/p&gt;</a:t>
            </a:r>
          </a:p>
          <a:p>
            <a:r>
              <a:t>  &lt;/div&gt;</a:t>
            </a:r>
          </a:p>
          <a:p>
            <a:r>
              <a:t>  &lt;div id="1df5fbe7" style="position:absolute; top:358px; left:128px; width:1664px; height:313px; display:flex; flex-direction:column; gap:28px"&gt;</a:t>
            </a:r>
          </a:p>
          <a:p>
            <a:r>
              <a:t>    &lt;h1 style="font-family:'IBM Plex Sans', Arial, sans-serif; font-size:150px; font-weight:600; line-height:1; color:#f6f5ef"&gt;Fabric IQ&lt;/h1&gt;</a:t>
            </a:r>
          </a:p>
          <a:p>
            <a:r>
              <a:t>    &lt;p style="width:1400px; font-family:'IBM Plex Sans', Arial, sans-serif; font-size:52px; line-height:1.2; color:#f6f5ef"&gt;Grounding real-time intelligence in enterprise context&lt;/p&gt;</a:t>
            </a:r>
          </a:p>
          <a:p>
            <a:r>
              <a:t>    &lt;p style="font-family:'IBM Plex Sans', Arial, sans-serif; font-size:32px; font-weight:600; color:#bca045"&gt;Retail cold-chain monitoring, end to end&lt;/p&gt;</a:t>
            </a:r>
          </a:p>
          <a:p>
            <a:r>
              <a:t>  &lt;/div&gt;</a:t>
            </a:r>
          </a:p>
          <a:p>
            <a:r>
              <a:t>  &lt;div id="17b5a563" style="position:absolute; top:868px; left:128px; width:1664px; height:84px; display:flex; flex-direction:row; align-items:end; justify-content:space-between"&gt;</a:t>
            </a:r>
          </a:p>
          <a:p>
            <a:r>
              <a:t>    &lt;div style="display:flex; flex-direction:column; gap:6px"&gt;</a:t>
            </a:r>
          </a:p>
          <a:p>
            <a:r>
              <a:t>      &lt;p style="font-family:'IBM Plex Sans', Arial, sans-serif; font-size:32px; font-weight:600; color:#f6f5ef"&gt;Brian Bønk&lt;/p&gt;</a:t>
            </a:r>
          </a:p>
          <a:p>
            <a:r>
              <a:t>      &lt;p style="font-family:'IBM Plex Sans', Arial, sans-serif; font-size:24px; color:#c9d8d0"&gt;Founder &amp; MVP, ProBI&lt;/p&gt;</a:t>
            </a:r>
          </a:p>
          <a:p>
            <a:r>
              <a:t>    &lt;/div&gt;</a:t>
            </a:r>
          </a:p>
          <a:p>
            <a:r>
              <a:t>    &lt;p style="font-family:'IBM Plex Sans', Arial, sans-serif; font-size:24px; color:#c9d8d0"&gt;Fabric IQ half of the day · 4 hours · 6 modules&lt;/p&gt;</a:t>
            </a:r>
          </a:p>
          <a:p>
            <a:r>
              <a:t>  &lt;/div&gt;</a:t>
            </a:r>
          </a:p>
          <a:p>
            <a:r>
              <a:t>  &lt;aside&gt;Kickoff (5 min). Welcome the room, introduce yourself, and set expectations: this is the second half of the day, built directly on top of what Johan just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the room this isn't a context switch — it's the next layer on the same stack they just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 during Part A — most first-time issues are either a blocked VPN/proxy or a trial capacity slipping through. A trial capacity is a hard stop: pair that attendee with a neighbor immediately rather than let them try to troubleshoot it, since it traces back to a tenant-admin setting in PREREQUISITES.md that can't be fixed live. Attendees who pre-ran setup finish Part B early — point them ahead to Module 01 or have them help a neighbor instead of waiting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 total — 10 min theory, 15 min lab. Keep this tight; the real depth comes in Modules 02-04.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idea to hammer home before lunch — everything else today builds on it. If a room only remembers one slide, make it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min total — 15 min theory, 25 min lab. This module prepares the data both sides (static + live) need before we can build the ontology in Module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min total — 15 min theory, 30 min lab. This is the highest-risk module (preview UI) and the core learning objective of the whole afternoon. Do not let this get compressed — if anything runs long, it's Module 05 that flexes, not this one. Have the screenshot fallback sequence open in a browser tab before you start, per risk-fallback-plan.md.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ontology designer misbehaves live, switch to the fallback screenshot sequence — see risk-fallback-plan.md. Don't skip the graph query at the end; it's what makes the payoff concrete before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min total — 15 min theory, 20 min lab. Second highest-risk module (preview UI: Data Agent, Operations Agent, Activator ontology rules). Fallback screenshot sequence should be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 for the whole day — walk it slowly. It ties together Module 01's -9°C example, Module 02's grounding work, and Module 03's ontology.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generator hasn't produced a warm reading naturally, use the manual override step in the lab to force one — don't burn lab time waiting on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 total — 10 min theory, 5 min lab (cut from 35/15/20 to fund Module 00's expanded live setup — see docs/agenda.md). This is still the designated timing buffer on top of that: if Modules 03/04 ran long, compress this module's already-short lab into a facilitator-led walkthrough rather than cutting content from 03/04. Do not skip this module's ideas, though — trust/traceability is the responsible-AI payoff of the whole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to a raw-threshold alert: "value exceeded -12" — no entity, no store, no traceable business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is short (per the buffer note), run this as a facilitator-led walkthrough on the instructor workspace rather than fully hands-on — the ideas matter more than everyone clicking through it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min, theory only, no lab. Keep this brisk — energy is low at the end of a 4-hour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1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1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1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1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
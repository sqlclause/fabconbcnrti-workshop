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39.xml" ContentType="application/vnd.openxmlformats-officedocument.presentationml.slide+xml"/>
  <Override PartName="/ppt/slides/slide37.xml" ContentType="application/vnd.openxmlformats-officedocument.presentationml.slide+xml"/>
  <Override PartName="/ppt/slides/slide35.xml" ContentType="application/vnd.openxmlformats-officedocument.presentationml.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36.xml" ContentType="application/vnd.openxmlformats-officedocument.presentationml.slide+xml"/>
  <Override PartName="/ppt/slides/slide34.xml" ContentType="application/vnd.openxmlformats-officedocument.presentationml.slide+xml"/>
  <Override PartName="/ppt/slides/slide32.xml" ContentType="application/vnd.openxmlformats-officedocument.presentationml.slide+xml"/>
  <Override PartName="/ppt/slides/slide30.xml" ContentType="application/vnd.openxmlformats-officedocument.presentationml.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8" r:id="rId4"/>
    <p:sldMasterId id="2147483680" r:id="rId5"/>
    <p:sldMasterId id="2147483682" r:id="rId6"/>
    <p:sldMasterId id="2147483684" r:id="rId7"/>
  </p:sldMasterIdLst>
  <p:notesMasterIdLst>
    <p:notesMasterId r:id="rId22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5B44"/>
    <a:srgbClr val="007864"/>
    <a:srgbClr val="013F34"/>
    <a:srgbClr val="BCA045"/>
    <a:srgbClr val="FFC300"/>
    <a:srgbClr val="F4F4F4"/>
    <a:srgbClr val="002C4C"/>
    <a:srgbClr val="FF4713"/>
    <a:srgbClr val="D0DBFF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A60C5-3AC7-2D4E-951A-6654EB0F1546}" v="2" dt="2026-08-11T14:48:25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viewPr xmlns:a="http://schemas.openxmlformats.org/drawingml/2006/main" xmlns:r="http://schemas.openxmlformats.org/officeDocument/2006/relationships" xmlns="http://schemas.openxmlformats.org/presentationml/2006/main">
  <normalViewPr horzBarState="maximized">
    <restoredLeft sz="15611"/>
    <restoredTop sz="94610"/>
  </normalViewPr>
  <slideViewPr>
    <cSldViewPr snapToGrid="0" snapToObjects="1">
      <cViewPr varScale="1">
        <scale>
          <a:sx n="136" d="100"/>
          <a:sy n="136" d="100"/>
        </scale>
        <origin x="216" y="312"/>
      </cViewPr>
      <guideLst/>
    </cSldViewPr>
  </slideViewPr>
  <notesTextViewPr>
    <cViewPr>
      <scale>
        <a:sx n="1" d="1"/>
        <a:sy n="1" d="1"/>
      </scale>
      <origin x="0" y="0"/>
    </cViewPr>
  </notesTextViewPr>
  <gridSpacing cx="76200" cy="76200"/>
</viewPr>
</file>

<file path=ppt/_rels/presentation.xml.rels>&#65279;<?xml version="1.0" encoding="utf-8"?>
<Relationships xmlns="http://schemas.openxmlformats.org/package/2006/relationships">
  <Relationship Type="http://schemas.openxmlformats.org/officeDocument/2006/relationships/theme" Target="theme/theme1.xml" Id="rId26" />
  <Relationship Type="http://schemas.openxmlformats.org/officeDocument/2006/relationships/customXml" Target="../customXml/item3.xml" Id="rId3" />
  <Relationship Type="http://schemas.openxmlformats.org/officeDocument/2006/relationships/slideMaster" Target="slideMasters/slideMaster4.xml" Id="rId7" />
  <Relationship Type="http://schemas.openxmlformats.org/officeDocument/2006/relationships/viewProps" Target="viewProps.xml" Id="rId25" />
  <Relationship Type="http://schemas.openxmlformats.org/officeDocument/2006/relationships/customXml" Target="../customXml/item2.xml" Id="rId2" />
  <Relationship Type="http://schemas.microsoft.com/office/2018/10/relationships/authors" Target="authors.xml" Id="rId29" />
  <Relationship Type="http://schemas.openxmlformats.org/officeDocument/2006/relationships/customXml" Target="../customXml/item1.xml" Id="rId1" />
  <Relationship Type="http://schemas.openxmlformats.org/officeDocument/2006/relationships/slideMaster" Target="slideMasters/slideMaster3.xml" Id="rId6" />
  <Relationship Type="http://schemas.openxmlformats.org/officeDocument/2006/relationships/presProps" Target="presProps.xml" Id="rId24" />
  <Relationship Type="http://schemas.openxmlformats.org/officeDocument/2006/relationships/slideMaster" Target="slideMasters/slideMaster2.xml" Id="rId5" />
  <Relationship Type="http://schemas.openxmlformats.org/officeDocument/2006/relationships/commentAuthors" Target="commentAuthors.xml" Id="rId23" />
  <Relationship Type="http://schemas.microsoft.com/office/2015/10/relationships/revisionInfo" Target="revisionInfo.xml" Id="rId28" />
  <Relationship Type="http://schemas.openxmlformats.org/officeDocument/2006/relationships/slideMaster" Target="slideMasters/slideMaster1.xml" Id="rId4" />
  <Relationship Type="http://schemas.openxmlformats.org/officeDocument/2006/relationships/notesMaster" Target="notesMasters/notesMaster1.xml" Id="rId22" />
  <Relationship Type="http://schemas.openxmlformats.org/officeDocument/2006/relationships/tableStyles" Target="tableStyles.xml" Id="rId27" />
  <Relationship Type="http://schemas.openxmlformats.org/officeDocument/2006/relationships/slide" Target="slides/slide29.xml" Id="rId8" />
  <Relationship Type="http://schemas.openxmlformats.org/officeDocument/2006/relationships/slide" Target="slides/slide30.xml" Id="rId9" />
  <Relationship Type="http://schemas.openxmlformats.org/officeDocument/2006/relationships/slide" Target="slides/slide31.xml" Id="rId10" />
  <Relationship Type="http://schemas.openxmlformats.org/officeDocument/2006/relationships/slide" Target="slides/slide32.xml" Id="rId11" />
  <Relationship Type="http://schemas.openxmlformats.org/officeDocument/2006/relationships/slide" Target="slides/slide33.xml" Id="rId12" />
  <Relationship Type="http://schemas.openxmlformats.org/officeDocument/2006/relationships/slide" Target="slides/slide34.xml" Id="rId13" />
  <Relationship Type="http://schemas.openxmlformats.org/officeDocument/2006/relationships/slide" Target="slides/slide35.xml" Id="rId14" />
  <Relationship Type="http://schemas.openxmlformats.org/officeDocument/2006/relationships/slide" Target="slides/slide36.xml" Id="rId15" />
  <Relationship Type="http://schemas.openxmlformats.org/officeDocument/2006/relationships/slide" Target="slides/slide37.xml" Id="rId16" />
  <Relationship Type="http://schemas.openxmlformats.org/officeDocument/2006/relationships/slide" Target="slides/slide38.xml" Id="rId17" />
  <Relationship Type="http://schemas.openxmlformats.org/officeDocument/2006/relationships/slide" Target="slides/slide39.xml" Id="rId18" />
  <Relationship Type="http://schemas.openxmlformats.org/officeDocument/2006/relationships/slide" Target="slides/slide40.xml" Id="rId19" 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4B101-3225-4967-95B5-ED5755256DE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8C794-77EE-4724-B493-2E0907BFA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318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 Sc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312491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Section Brea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91E24DE-EFB1-0B46-A1A5-D4A0F86E2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938" y="1628799"/>
            <a:ext cx="10764252" cy="3857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E2FF"/>
                </a:solidFill>
              </a:defRPr>
            </a:lvl2pPr>
            <a:lvl3pPr>
              <a:defRPr>
                <a:solidFill>
                  <a:srgbClr val="00E2FF"/>
                </a:solidFill>
              </a:defRPr>
            </a:lvl3pPr>
            <a:lvl4pPr>
              <a:defRPr>
                <a:solidFill>
                  <a:srgbClr val="00E2FF"/>
                </a:solidFill>
              </a:defRPr>
            </a:lvl4pPr>
            <a:lvl5pPr>
              <a:defRPr>
                <a:solidFill>
                  <a:srgbClr val="00E2FF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31539201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323503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Main Content : Title +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159803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175194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Dual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0593789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2C0C7565-66F8-5E4F-BC70-B52629A037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36600" y="736600"/>
            <a:ext cx="10793413" cy="51958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6598798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5417581"/>
      </p:ext>
    </p:extLst>
  </p:cSld>
  <p:clrMapOvr>
    <a:masterClrMapping/>
  </p:clrMapOvr>
</p:sldLayout>
</file>

<file path=ppt/slideLayouts/slideLayout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8442111"/>
      </p:ext>
    </p:extLst>
  </p:cSld>
  <p:clrMapOvr>
    <a:masterClrMapping/>
  </p:clrMapOvr>
</p:sldLayout>
</file>

<file path=ppt/slideLayouts/slideLayout10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 +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1C79D75D-1604-BB44-B1C9-298036D703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6264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05221B5-9309-224F-87A9-A3D8D99384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76462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757238"/>
            <a:ext cx="5243512" cy="52006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04484"/>
      </p:ext>
    </p:extLst>
  </p:cSld>
  <p:clrMapOvr>
    <a:masterClrMapping/>
  </p:clrMapOvr>
</p:sldLayout>
</file>

<file path=ppt/slideLayouts/slideLayout1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1885950"/>
            <a:ext cx="5100637" cy="407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AD4D50A4-B734-AD41-8654-79DC681E4E1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7913" y="1885950"/>
            <a:ext cx="5372100" cy="407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9ECF72A8-B638-3842-8B60-7DFC3C6C0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2732109"/>
      </p:ext>
    </p:extLst>
  </p:cSld>
  <p:clrMapOvr>
    <a:masterClrMapping/>
  </p:clrMapOvr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Dark Content (White Backgroun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90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3.jpg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76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17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29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2" r:id="rId2"/>
    <p:sldLayoutId id="2147483689" r:id="rId3"/>
    <p:sldLayoutId id="2147483693" r:id="rId4"/>
    <p:sldLayoutId id="2147483686" r:id="rId5"/>
    <p:sldLayoutId id="2147483687" r:id="rId6"/>
    <p:sldLayoutId id="2147483694" r:id="rId7"/>
    <p:sldLayoutId id="2147483688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1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&#65279;<?xml version="1.0" encoding="utf-8"?>
<Relationships xmlns="http://schemas.openxmlformats.org/package/2006/relationships">
  <Relationship Type="http://schemas.openxmlformats.org/officeDocument/2006/relationships/image" Target="../media/image2.jpg" Id="rId3" />
  <Relationship Type="http://schemas.openxmlformats.org/officeDocument/2006/relationships/slideLayout" Target="../slideLayouts/slideLayout2.xml" Id="rId1" />
</Relationships>
</file>

<file path=ppt/slides/_rels/slide30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1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2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3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8.xml" Id="rId1" />
</Relationships>
</file>

<file path=ppt/slides/_rels/slide34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8.xml" Id="rId1" />
</Relationships>
</file>

<file path=ppt/slides/_rels/slide35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6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7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8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8.xml" Id="rId1" />
</Relationships>
</file>

<file path=ppt/slides/_rels/slide39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40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2.xml" Id="rId1" />
</Relationships>
</file>

<file path=ppt/slides/slide29.xml><?xml version="1.0" encoding="utf-8"?>
<p:sld xmlns:a16="http://schemas.microsoft.com/office/drawing/2014/main" xmlns:adec="http://schemas.microsoft.com/office/drawing/2017/decorative" xmlns:p14="http://schemas.microsoft.com/office/powerpoint/2010/main" xmlns:m2p="urn:marptopptx:metadata"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C0CC446-2BE1-533C-6F9A-2CADE0533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479919"/>
          </a:xfrm>
          <a:prstGeom prst="rect">
            <a:avLst/>
          </a:prstGeom>
          <a:solidFill>
            <a:srgbClr val="BCA0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Telemetry &amp; grounding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FE7F2-7594-C345-99E2-801E68C39C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925891" y="1396314"/>
            <a:ext cx="8011886" cy="144655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rPr>
              <a:t>Module 02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EEF1E-D858-9C47-9A95-2D236BFD2F31}"/>
              </a:ext>
            </a:extLst>
          </p:cNvPr>
          <p:cNvSpPr txBox="1"/>
          <p:nvPr/>
        </p:nvSpPr>
        <p:spPr>
          <a:xfrm>
            <a:off x="3925891" y="4302696"/>
            <a:ext cx="8011886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3891A-AA58-D14F-909B-BF581581CD69}"/>
              </a:ext>
            </a:extLst>
          </p:cNvPr>
          <p:cNvSpPr txBox="1"/>
          <p:nvPr/>
        </p:nvSpPr>
        <p:spPr>
          <a:xfrm>
            <a:off x="3925891" y="4918822"/>
            <a:ext cx="801188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07F331A-088A-5E4B-ADDD-52C41D93C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732130" y="1587834"/>
            <a:ext cx="1700881" cy="1700798"/>
          </a:xfrm>
          <a:prstGeom prst="rect">
            <a:avLst/>
          </a:prstGeom>
        </p:spPr>
        <p:txBody>
          <a:bodyPr/>
          <a:lstStyle/>
          <a:p>
            <a:endParaRPr lang="en-US" sz="2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4F310C-2089-97AC-AE64-D6BB59BB61DA}"/>
              </a:ext>
            </a:extLst>
          </p:cNvPr>
          <p:cNvSpPr txBox="1"/>
          <p:nvPr/>
        </p:nvSpPr>
        <p:spPr>
          <a:xfrm>
            <a:off x="2777565" y="39904"/>
            <a:ext cx="6636869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b="1" spc="100" dirty="0">
                <a:solidFill>
                  <a:srgbClr val="125B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Topics 3–4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6711"/>
      </p:ext>
    </p:extLst>
  </p:cSld>
  <p:clrMapOvr>
    <a:masterClrMapping/>
  </p:clrMapOvr>
  <p:extLst>
    <p:ext uri="urn:marptopptx:slide-metadata">
      <m2p:meta xmlns:m2p="urn:marptopptx:metadata" version="2">
        <m2p:deckId>deck-8df5070c9d78</m2p:deckId>
        <m2p:slideId>module-02</m2p:slideId>
        <m2p:title>Module 02</m2p:title>
        <m2p:hash>sha256:cb1cc24e8dd4b9213a596888bdce2eda72b8a093c0c532d21d1bb78dfdf24afb</m2p:hash>
        <m2p:sourceSlide>module-02-slides.md#slide-1</m2p:sourceSlide>
        <m2p:generatorVersion>1.0.0.0</m2p:generatorVersion>
        <m2p:layoutRef>Template[3]</m2p:layoutRef>
        <m2p:templateRef>EMFCC26_SpeakerPPT_TemplateA_Styled_Accessibility Review_Updated_11Aug.pptx</m2p:templateRef>
      </m2p:meta>
    </p:ext>
  </p:extLst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Learning objectives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By the end of this module you can:</a:t>
            </a:r>
            <a:endParaRPr lang="en-US"/>
          </a:p>
          <a:p xmlns:a="http://schemas.openxmlformats.org/drawingml/2006/main">
            <a:pPr lvl="0"/>
            <a:r>
              <a:rPr lang="en-US"/>
              <a:t>Explain how static contextual data and live telemetry are prepared to meet in Fabric IQ</a:t>
            </a:r>
            <a:endParaRPr lang="en-US"/>
          </a:p>
          <a:p xmlns:a="http://schemas.openxmlformats.org/drawingml/2006/main">
            <a:pPr lvl="0"/>
            <a:r>
              <a:rPr lang="en-US"/>
              <a:t>Describe the update-policy vs. materialized-view distinction at a conceptual level</a:t>
            </a:r>
            <a:endParaRPr lang="en-US"/>
          </a:p>
          <a:p xmlns:a="http://schemas.openxmlformats.org/drawingml/2006/main">
            <a:pPr lvl="0"/>
            <a:r>
              <a:rPr lang="en-US"/>
              <a:t>Identify the keys that let a freezer's live signal and static record be linked later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deck-8df5070c9d78</m2p:deckId>
        <m2p:slideId>learning-objectives</m2p:slideId>
        <m2p:title>Learning objectives</m2p:title>
        <m2p:hash>sha256:89993c68822074b39b1a64a276c4cc032d93ed96233e7bb463fe3fddec17fad2</m2p:hash>
        <m2p:sourceSlide>module-02-slides.md#slide-2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Topic 3 — Combining real-time telemetry with semantic context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RTI already gives us a live stream: </a:t>
            </a:r>
            <a:r>
              <a:rPr lang="en-US"/>
              <a:t>FreezerTelemetryEventstream</a:t>
            </a:r>
            <a:r>
              <a:rPr lang="en-US"/>
              <a:t> → </a:t>
            </a:r>
            <a:r>
              <a:rPr lang="en-US"/>
              <a:t>ColdChainEventhouse</a:t>
            </a:r>
            <a:endParaRPr lang="en-US"/>
          </a:p>
          <a:p xmlns:a="http://schemas.openxmlformats.org/drawingml/2006/main">
            <a:pPr lvl="0"/>
            <a:r>
              <a:rPr lang="en-US"/>
              <a:t>Fabric IQ's job is to make that stream </a:t>
            </a:r>
            <a:r>
              <a:rPr lang="en-US" b="1"/>
              <a:t>meaningful</a:t>
            </a:r>
            <a:r>
              <a:rPr lang="en-US"/>
              <a:t>, not just fast</a:t>
            </a:r>
            <a:endParaRPr lang="en-US"/>
          </a:p>
          <a:p xmlns:a="http://schemas.openxmlformats.org/drawingml/2006/main">
            <a:pPr lvl="1"/>
            <a:r>
              <a:rPr lang="en-US" b="1"/>
              <a:t>Live signal</a:t>
            </a:r>
            <a:r>
              <a:rPr lang="en-US"/>
              <a:t> — temperature, door state, arriving every few seconds</a:t>
            </a:r>
            <a:endParaRPr lang="en-US"/>
          </a:p>
          <a:p xmlns:a="http://schemas.openxmlformats.org/drawingml/2006/main">
            <a:pPr lvl="1"/>
            <a:r>
              <a:rPr lang="en-US" b="1"/>
              <a:t>Semantic context</a:t>
            </a:r>
            <a:r>
              <a:rPr lang="en-US"/>
              <a:t> — which freezer, which store, which customer base it serves</a:t>
            </a:r>
            <a:endParaRPr lang="en-US"/>
          </a:p>
          <a:p xmlns:a="http://schemas.openxmlformats.org/drawingml/2006/main">
            <a:pPr lvl="0"/>
            <a:r>
              <a:rPr lang="en-US"/>
              <a:t>Two ingredients have to come together:</a:t>
            </a:r>
            <a:endParaRPr lang="en-US"/>
          </a:p>
          <a:p xmlns:a="http://schemas.openxmlformats.org/drawingml/2006/main">
            <a:pPr lvl="0"/>
            <a:r>
              <a:rPr lang="en-US"/>
              <a:t>Neither ingredient alone is enough — this module gets both into the right shape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deck-8df5070c9d78</m2p:deckId>
        <m2p:slideId>topic-3-combining-real-time-telemetry-with-semantic-context</m2p:slideId>
        <m2p:title>Topic 3 — Combining real-time telemetry with semantic context</m2p:title>
        <m2p:hash>sha256:e5c92be71873b8613bedbb6b79f55365daff2f9f8960e9c5e71d6031cd6fa888</m2p:hash>
        <m2p:sourceSlide>module-02-slides.md#slide-3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The Digital Twin Builder pattern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Microsoft's official RTI tutorial establishes the template we're following:</a:t>
            </a:r>
            <a:endParaRPr lang="en-US"/>
          </a:p>
          <a:p xmlns:a="http://schemas.openxmlformats.org/drawingml/2006/main">
            <a:pPr lvl="0">
              <a:buAutoNum type="arabicPeriod" startAt="1"/>
            </a:pPr>
            <a:r>
              <a:rPr lang="en-US" b="1"/>
              <a:t>Static contextual data</a:t>
            </a:r>
            <a:r>
              <a:rPr lang="en-US"/>
              <a:t> (customers, stores, freezers) is uploaded as CSVs</a:t>
            </a:r>
            <a:endParaRPr lang="en-US"/>
          </a:p>
          <a:p xmlns:a="http://schemas.openxmlformats.org/drawingml/2006/main">
            <a:pPr lvl="0">
              <a:buAutoNum type="arabicPeriod" startAt="2"/>
            </a:pPr>
            <a:r>
              <a:rPr lang="en-US"/>
              <a:t>Landed into a </a:t>
            </a:r>
            <a:r>
              <a:rPr lang="en-US" b="1"/>
              <a:t>Lakehouse</a:t>
            </a:r>
            <a:r>
              <a:rPr lang="en-US"/>
              <a:t> (</a:t>
            </a:r>
            <a:r>
              <a:rPr lang="en-US"/>
              <a:t>ColdChainLakehouse</a:t>
            </a:r>
            <a:r>
              <a:rPr lang="en-US"/>
              <a:t>) as governed tables</a:t>
            </a:r>
            <a:endParaRPr lang="en-US"/>
          </a:p>
          <a:p xmlns:a="http://schemas.openxmlformats.org/drawingml/2006/main">
            <a:pPr lvl="0">
              <a:buAutoNum type="arabicPeriod" startAt="3"/>
            </a:pPr>
            <a:r>
              <a:rPr lang="en-US"/>
              <a:t>Later </a:t>
            </a:r>
            <a:r>
              <a:rPr lang="en-US" b="1"/>
              <a:t>projected into the Eventhouse</a:t>
            </a:r>
            <a:r>
              <a:rPr lang="en-US"/>
              <a:t> so it can be joined against live telemetry</a:t>
            </a:r>
            <a:endParaRPr lang="en-US"/>
          </a:p>
          <a:p xmlns:a="http://schemas.openxmlformats.org/drawingml/2006/main">
            <a:pPr lvl="0">
              <a:buAutoNum type="arabicPeriod" startAt="4"/>
            </a:pPr>
            <a:r>
              <a:rPr lang="en-US"/>
              <a:t>The </a:t>
            </a:r>
            <a:r>
              <a:rPr lang="en-US" b="1"/>
              <a:t>ontology</a:t>
            </a:r>
            <a:r>
              <a:rPr lang="en-US"/>
              <a:t> (Module 03) is what actually binds the two together for querying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deck-8df5070c9d78</m2p:deckId>
        <m2p:slideId>the-digital-twin-builder-pattern</m2p:slideId>
        <m2p:title>The Digital Twin Builder pattern</m2p:title>
        <m2p:hash>sha256:de8776587cfcc42195163189d5a3377a49ddd38247e3fabdcc52e38f16ceb964</m2p:hash>
        <m2p:sourceSlide>module-02-slides.md#slide-4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Where our reference data lives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 b="1"/>
              <a:t>ColdChainLakehouse</a:t>
            </a:r>
            <a:endParaRPr lang="en-US"/>
          </a:p>
          <a:p xmlns:a="http://schemas.openxmlformats.org/drawingml/2006/main">
            <a:pPr lvl="0"/>
            <a:r>
              <a:rPr lang="en-US"/>
              <a:t>This is </a:t>
            </a:r>
            <a:r>
              <a:rPr lang="en-US" b="1"/>
              <a:t>static context</a:t>
            </a:r>
            <a:r>
              <a:rPr lang="en-US"/>
              <a:t> — it changes rarely, if ever, during the day</a:t>
            </a:r>
            <a:endParaRPr lang="en-US"/>
          </a:p>
          <a:p xmlns:a="http://schemas.openxmlformats.org/drawingml/2006/main">
            <a:pPr lvl="0"/>
            <a:r>
              <a:rPr lang="en-US"/>
              <a:t>It's the "what should be true" half of grounding</a:t>
            </a:r>
            <a:endParaRPr lang="en-US"/>
          </a:p>
        </p:txBody>
      </p:sp>
      <p:graphicFrame>
        <p:nvGraphicFramePr>
          <p:cNvPr id="4" name="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38188" y="2005263"/>
          <a:ext xmlns:a="http://schemas.openxmlformats.org/drawingml/2006/main" cx="5213433" cy="28346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716"/>
                <a:gridCol w="2606716"/>
              </a:tblGrid>
              <a:tr h="4775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ptos"/>
                        </a:rPr>
                        <a:t>Table</a:t>
                      </a:r>
                      <a:endParaRPr lang="en-US" sz="1800"/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ptos"/>
                        </a:rPr>
                        <a:t>Contents</a:t>
                      </a:r>
                      <a:endParaRPr lang="en-US" sz="1800"/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>
                          <a:solidFill>
                            <a:srgbClr val="1F2937"/>
                          </a:solidFill>
                          <a:latin typeface="Cascadia Mono"/>
                        </a:rPr>
                        <a:t>Customers</a:t>
                      </a:r>
                      <a:endParaRPr lang="en-US" sz="180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>
                          <a:solidFill>
                            <a:srgbClr val="1F2937"/>
                          </a:solidFill>
                          <a:latin typeface="Aptos"/>
                        </a:rPr>
                        <a:t>Customer records</a:t>
                      </a:r>
                      <a:endParaRPr lang="en-US" sz="1800"/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>
                          <a:solidFill>
                            <a:srgbClr val="1F2937"/>
                          </a:solidFill>
                          <a:latin typeface="Cascadia Mono"/>
                        </a:rPr>
                        <a:t>Stores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>
                          <a:solidFill>
                            <a:srgbClr val="1F2937"/>
                          </a:solidFill>
                          <a:latin typeface="Aptos"/>
                        </a:rPr>
                        <a:t>Store master data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00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>
                          <a:solidFill>
                            <a:srgbClr val="1F2937"/>
                          </a:solidFill>
                          <a:latin typeface="Cascadia Mono"/>
                        </a:rPr>
                        <a:t>Freezers</a:t>
                      </a:r>
                      <a:endParaRPr lang="en-US" sz="180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>
                          <a:solidFill>
                            <a:srgbClr val="1F2937"/>
                          </a:solidFill>
                          <a:latin typeface="Aptos"/>
                        </a:rPr>
                        <a:t>Model, Capacity, InstallDate — nameplate specs, rarely change</a:t>
                      </a:r>
                      <a:endParaRPr lang="en-US" sz="1800"/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deck-8df5070c9d78</m2p:deckId>
        <m2p:slideId>where-our-reference-data-lives</m2p:slideId>
        <m2p:title>Where our reference data lives</m2p:title>
        <m2p:hash>sha256:e14cd3067020c7635018795d230a2b5fb6dba4c26af45c36d6d7de4a8e7f5b62</m2p:hash>
        <m2p:sourceSlide>module-02-slides.md#slide-5</m2p:sourceSlide>
        <m2p:generatorVersion>1.0.0.0</m2p:generatorVersion>
        <m2p:layoutRef>Main Content : Title + Visual Data</m2p:layoutRef>
        <m2p:templateRef>EMFCC26_SpeakerPPT_TemplateA_Styled_Accessibility Review_Updated_11Aug.pptx</m2p:templateRef>
      </m2p:meta>
    </p:ext>
  </p:extLst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Where our live signal lives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 b="1"/>
              <a:t>ColdChainEventhouse</a:t>
            </a:r>
            <a:r>
              <a:rPr lang="en-US"/>
              <a:t> → KQL database </a:t>
            </a:r>
            <a:r>
              <a:rPr lang="en-US" b="1"/>
              <a:t>ColdChainKQLDB</a:t>
            </a:r>
            <a:endParaRPr lang="en-US"/>
          </a:p>
          <a:p xmlns:a="http://schemas.openxmlformats.org/drawingml/2006/main">
            <a:pPr lvl="0"/>
            <a:r>
              <a:rPr lang="en-US"/>
              <a:t>This is </a:t>
            </a:r>
            <a:r>
              <a:rPr lang="en-US" b="1"/>
              <a:t>live signal</a:t>
            </a:r>
            <a:r>
              <a:rPr lang="en-US"/>
              <a:t> — it changes every few seconds</a:t>
            </a:r>
            <a:endParaRPr lang="en-US"/>
          </a:p>
          <a:p xmlns:a="http://schemas.openxmlformats.org/drawingml/2006/main">
            <a:pPr lvl="0"/>
            <a:r>
              <a:rPr lang="en-US"/>
              <a:t>It's the "what is actually happening" half of grounding</a:t>
            </a:r>
            <a:endParaRPr lang="en-US"/>
          </a:p>
        </p:txBody>
      </p:sp>
      <p:graphicFrame>
        <p:nvGraphicFramePr>
          <p:cNvPr id="4" name="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38188" y="2005263"/>
          <a:ext xmlns:a="http://schemas.openxmlformats.org/drawingml/2006/main" cx="5213433" cy="23571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716"/>
                <a:gridCol w="2606716"/>
              </a:tblGrid>
              <a:tr h="4775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ptos"/>
                        </a:rPr>
                        <a:t>Table</a:t>
                      </a:r>
                      <a:endParaRPr lang="en-US" sz="1800"/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ptos"/>
                        </a:rPr>
                        <a:t>Contents</a:t>
                      </a:r>
                      <a:endParaRPr lang="en-US" sz="1800"/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751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>
                          <a:solidFill>
                            <a:srgbClr val="1F2937"/>
                          </a:solidFill>
                          <a:latin typeface="Cascadia Mono"/>
                        </a:rPr>
                        <a:t>FreezerTelemetryRaw</a:t>
                      </a:r>
                      <a:endParaRPr lang="en-US" sz="180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>
                          <a:solidFill>
                            <a:srgbClr val="1F2937"/>
                          </a:solidFill>
                          <a:latin typeface="Aptos"/>
                        </a:rPr>
                        <a:t>Every event exactly as ingested</a:t>
                      </a:r>
                      <a:endParaRPr lang="en-US" sz="1800"/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261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>
                          <a:solidFill>
                            <a:srgbClr val="1F2937"/>
                          </a:solidFill>
                          <a:latin typeface="Cascadia Mono"/>
                        </a:rPr>
                        <a:t>FreezerTelemetryEnriched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>
                          <a:solidFill>
                            <a:srgbClr val="1F2937"/>
                          </a:solidFill>
                          <a:latin typeface="Aptos"/>
                        </a:rPr>
                        <a:t>Cleaned/derived — </a:t>
                      </a:r>
                      <a:r>
                        <a:rPr lang="en-US" sz="1800" b="0">
                          <a:solidFill>
                            <a:srgbClr val="1F2937"/>
                          </a:solidFill>
                          <a:latin typeface="Cascadia Mono"/>
                        </a:rPr>
                        <a:t>TemperatureC</a:t>
                      </a:r>
                      <a:r>
                        <a:rPr lang="en-US" sz="1800" b="0">
                          <a:solidFill>
                            <a:srgbClr val="1F2937"/>
                          </a:solidFill>
                          <a:latin typeface="Aptos"/>
                        </a:rPr>
                        <a:t>, </a:t>
                      </a:r>
                      <a:r>
                        <a:rPr lang="en-US" sz="1800" b="0">
                          <a:solidFill>
                            <a:srgbClr val="1F2937"/>
                          </a:solidFill>
                          <a:latin typeface="Cascadia Mono"/>
                        </a:rPr>
                        <a:t>DoorOpen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deck-8df5070c9d78</m2p:deckId>
        <m2p:slideId>where-our-live-signal-lives</m2p:slideId>
        <m2p:title>Where our live signal lives</m2p:title>
        <m2p:hash>sha256:8c1adeaabd674b9d5a780e30cbbb50e9fe210065f8131d79fba275ecbf2c427d</m2p:hash>
        <m2p:sourceSlide>module-02-slides.md#slide-6</m2p:sourceSlide>
        <m2p:generatorVersion>1.0.0.0</m2p:generatorVersion>
        <m2p:layoutRef>Main Content : Title + Visual Data</m2p:layoutRef>
        <m2p:templateRef>EMFCC26_SpeakerPPT_TemplateA_Styled_Accessibility Review_Updated_11Aug.pptx</m2p:templateRef>
      </m2p:meta>
    </p:ext>
  </p:extLst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Topic 4 — Grounding signals with enterprise meaning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"Grounding" = attaching a live signal to the business entity it's actually about</a:t>
            </a:r>
            <a:endParaRPr lang="en-US"/>
          </a:p>
          <a:p xmlns:a="http://schemas.openxmlformats.org/drawingml/2006/main">
            <a:pPr lvl="1"/>
            <a:r>
              <a:rPr lang="en-US"/>
              <a:t>A </a:t>
            </a:r>
            <a:r>
              <a:rPr lang="en-US"/>
              <a:t>FreezerID</a:t>
            </a:r>
            <a:r>
              <a:rPr lang="en-US"/>
              <a:t> in </a:t>
            </a:r>
            <a:r>
              <a:rPr lang="en-US"/>
              <a:t>FreezerTelemetryEnriched</a:t>
            </a:r>
            <a:r>
              <a:rPr lang="en-US"/>
              <a:t> must match a </a:t>
            </a:r>
            <a:r>
              <a:rPr lang="en-US"/>
              <a:t>FreezerID</a:t>
            </a:r>
            <a:r>
              <a:rPr lang="en-US"/>
              <a:t> in the Lakehouse </a:t>
            </a:r>
            <a:r>
              <a:rPr lang="en-US"/>
              <a:t>Freezers</a:t>
            </a:r>
            <a:r>
              <a:rPr lang="en-US"/>
              <a:t> table</a:t>
            </a:r>
            <a:endParaRPr lang="en-US"/>
          </a:p>
          <a:p xmlns:a="http://schemas.openxmlformats.org/drawingml/2006/main">
            <a:pPr lvl="0"/>
            <a:r>
              <a:rPr lang="en-US"/>
              <a:t>Before an ontology can bind anything, both sides need </a:t>
            </a:r>
            <a:r>
              <a:rPr lang="en-US" b="1"/>
              <a:t>consistent keys</a:t>
            </a:r>
            <a:endParaRPr lang="en-US"/>
          </a:p>
          <a:p xmlns:a="http://schemas.openxmlformats.org/drawingml/2006/main">
            <a:pPr lvl="0"/>
            <a:r>
              <a:rPr lang="en-US"/>
              <a:t>Get the keys wrong here, and no amount of ontology design later will fix it</a:t>
            </a:r>
            <a:endParaRPr lang="en-US"/>
          </a:p>
          <a:p xmlns:a="http://schemas.openxmlformats.org/drawingml/2006/main">
            <a:pPr lvl="0"/>
            <a:r>
              <a:rPr lang="en-US"/>
              <a:t>This module's real deliverable: </a:t>
            </a:r>
            <a:r>
              <a:rPr lang="en-US" b="1"/>
              <a:t>clean, joinable data on both sides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deck-8df5070c9d78</m2p:deckId>
        <m2p:slideId>topic-4-grounding-signals-with-enterprise-meaning</m2p:slideId>
        <m2p:title>Topic 4 — Grounding signals with enterprise meaning</m2p:title>
        <m2p:hash>sha256:d972f36f2cc8a969f4926035c22285537610986b2c2c1023ff290218078a8f4f</m2p:hash>
        <m2p:sourceSlide>module-02-slides.md#slide-7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KQL: update policy vs. materialized view (conceptual)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 b="1"/>
              <a:t>Update policy</a:t>
            </a:r>
            <a:endParaRPr lang="en-US"/>
          </a:p>
          <a:p xmlns:a="http://schemas.openxmlformats.org/drawingml/2006/main">
            <a:pPr lvl="0"/>
            <a:r>
              <a:rPr lang="en-US"/>
              <a:t>Runs on </a:t>
            </a:r>
            <a:r>
              <a:rPr lang="en-US" b="1"/>
              <a:t>ingest</a:t>
            </a:r>
            <a:r>
              <a:rPr lang="en-US"/>
              <a:t>, per event</a:t>
            </a:r>
            <a:endParaRPr lang="en-US"/>
          </a:p>
          <a:p xmlns:a="http://schemas.openxmlformats.org/drawingml/2006/main">
            <a:pPr lvl="0"/>
            <a:r>
              <a:rPr lang="en-US"/>
              <a:t>Transforms </a:t>
            </a:r>
            <a:r>
              <a:rPr lang="en-US"/>
              <a:t>Raw</a:t>
            </a:r>
            <a:r>
              <a:rPr lang="en-US"/>
              <a:t> → </a:t>
            </a:r>
            <a:r>
              <a:rPr lang="en-US"/>
              <a:t>Enriched</a:t>
            </a:r>
            <a:r>
              <a:rPr lang="en-US"/>
              <a:t> automatically as data arrives</a:t>
            </a:r>
            <a:endParaRPr lang="en-US"/>
          </a:p>
          <a:p xmlns:a="http://schemas.openxmlformats.org/drawingml/2006/main">
            <a:pPr lvl="0"/>
            <a:r>
              <a:rPr lang="en-US"/>
              <a:t>Good for: cleaning, reshaping, deriving fields continuously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 b="1"/>
              <a:t>Materialized view</a:t>
            </a:r>
            <a:endParaRPr lang="en-US"/>
          </a:p>
          <a:p xmlns:a="http://schemas.openxmlformats.org/drawingml/2006/main">
            <a:pPr lvl="0"/>
            <a:r>
              <a:rPr lang="en-US"/>
              <a:t>Maintains a </a:t>
            </a:r>
            <a:r>
              <a:rPr lang="en-US" b="1"/>
              <a:t>pre-aggregated, always-fresh summary</a:t>
            </a:r>
            <a:endParaRPr lang="en-US"/>
          </a:p>
          <a:p xmlns:a="http://schemas.openxmlformats.org/drawingml/2006/main">
            <a:pPr lvl="0"/>
            <a:r>
              <a:rPr lang="en-US"/>
              <a:t>Good for: "current state per freezer," rollups, dashboards</a:t>
            </a:r>
            <a:endParaRPr lang="en-US"/>
          </a:p>
          <a:p xmlns:a="http://schemas.openxmlformats.org/drawingml/2006/main">
            <a:pPr lvl="0"/>
            <a:r>
              <a:rPr lang="en-US"/>
              <a:t>Avoids re-scanning the whole raw table every query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deck-8df5070c9d78</m2p:deckId>
        <m2p:slideId>kql-update-policy-vs-materialized-view-conceptual</m2p:slideId>
        <m2p:title>KQL: update policy vs. materialized view (conceptual)</m2p:title>
        <m2p:hash>sha256:cb4e8381a4b321ca505e842d75148d3f874c8d60806ddc5b86e8284ffe5f787f</m2p:hash>
        <m2p:sourceSlide>module-02-slides.md#slide-8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Applying that to our pipeline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1"/>
            <a:r>
              <a:rPr lang="en-US"/>
              <a:t>Normalizes units, filters bad readings, computes </a:t>
            </a:r>
            <a:r>
              <a:rPr lang="en-US"/>
              <a:t>DoorOpen</a:t>
            </a:r>
            <a:r>
              <a:rPr lang="en-US"/>
              <a:t> from raw sensor codes</a:t>
            </a:r>
            <a:endParaRPr lang="en-US"/>
          </a:p>
          <a:p xmlns:a="http://schemas.openxmlformats.org/drawingml/2006/main">
            <a:pPr lvl="0"/>
            <a:r>
              <a:rPr lang="en-US"/>
              <a:t>FreezerTelemetryRaw</a:t>
            </a:r>
            <a:r>
              <a:rPr lang="en-US"/>
              <a:t> → </a:t>
            </a:r>
            <a:r>
              <a:rPr lang="en-US" b="1"/>
              <a:t>update policy</a:t>
            </a:r>
            <a:r>
              <a:rPr lang="en-US"/>
              <a:t> → </a:t>
            </a:r>
            <a:r>
              <a:rPr lang="en-US"/>
              <a:t>FreezerTelemetryEnriched</a:t>
            </a:r>
            <a:endParaRPr lang="en-US"/>
          </a:p>
          <a:p xmlns:a="http://schemas.openxmlformats.org/drawingml/2006/main">
            <a:pPr lvl="0"/>
            <a:r>
              <a:rPr lang="en-US"/>
              <a:t>A </a:t>
            </a:r>
            <a:r>
              <a:rPr lang="en-US" b="1"/>
              <a:t>materialized view</a:t>
            </a:r>
            <a:r>
              <a:rPr lang="en-US"/>
              <a:t> could maintain "latest reading per Freezer" for fast dashboard/agent queries</a:t>
            </a:r>
            <a:endParaRPr lang="en-US"/>
          </a:p>
          <a:p xmlns:a="http://schemas.openxmlformats.org/drawingml/2006/main">
            <a:pPr lvl="0"/>
            <a:r>
              <a:rPr lang="en-US"/>
              <a:t>Neither of these requires touching the raw stream — both are additive, non-destructive transforms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deck-8df5070c9d78</m2p:deckId>
        <m2p:slideId>applying-that-to-our-pipeline</m2p:slideId>
        <m2p:title>Applying that to our pipeline</m2p:title>
        <m2p:hash>sha256:67e9730bccef8f4d9293a31e403c7531eb0cfa1b2212dccdfceb57a2cafa98bd</m2p:hash>
        <m2p:sourceSlide>module-02-slides.md#slide-9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Example: raw event to enriched record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Same event, now keyed by </a:t>
            </a:r>
            <a:r>
              <a:rPr lang="en-US"/>
              <a:t>FreezerID</a:t>
            </a:r>
            <a:r>
              <a:rPr lang="en-US"/>
              <a:t> — ready to be bound to a Freezer entity in Module 03</a:t>
            </a:r>
            <a:endParaRPr lang="en-US"/>
          </a:p>
        </p:txBody>
      </p:sp>
      <p:sp>
        <p:nvSpPr>
          <p:cNvPr id="4" name="Code (text)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2005263"/>
            <a:ext cx="5213433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0F766E"/>
            </a:solidFill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F8FAFC"/>
                </a:solidFill>
                <a:latin typeface="Cascadia Mono"/>
              </a:rPr>
              <a:t>FreezerTelemetryRaw</a:t>
            </a:r>
            <a:endParaRPr lang="en-US" sz="1800"/>
          </a:p>
          <a:p xmlns:a="http://schemas.openxmlformats.org/drawingml/2006/main">
            <a:r>
              <a:rPr lang="en-US" sz="1800" b="0">
                <a:solidFill>
                  <a:srgbClr val="F8FAFC"/>
                </a:solidFill>
                <a:latin typeface="Cascadia Mono"/>
              </a:rPr>
              <a:t>{ "sensorId": "FZ-118-T1", "ts": "...", "rawC": -9.2, "doorCode": 1 }</a:t>
            </a:r>
            <a:endParaRPr lang="en-US" sz="1800"/>
          </a:p>
          <a:p xmlns:a="http://schemas.openxmlformats.org/drawingml/2006/main">
            <a:endParaRPr lang="en-US" sz="1800"/>
          </a:p>
          <a:p xmlns:a="http://schemas.openxmlformats.org/drawingml/2006/main">
            <a:r>
              <a:rPr lang="en-US" sz="1800" b="0">
                <a:solidFill>
                  <a:srgbClr val="F8FAFC"/>
                </a:solidFill>
                <a:latin typeface="Cascadia Mono"/>
              </a:rPr>
              <a:t>        │  update policy</a:t>
            </a:r>
            <a:endParaRPr lang="en-US" sz="1800"/>
          </a:p>
          <a:p xmlns:a="http://schemas.openxmlformats.org/drawingml/2006/main">
            <a:r>
              <a:rPr lang="en-US" sz="1800" b="0">
                <a:solidFill>
                  <a:srgbClr val="F8FAFC"/>
                </a:solidFill>
                <a:latin typeface="Cascadia Mono"/>
              </a:rPr>
              <a:t>        ▼</a:t>
            </a:r>
            <a:endParaRPr lang="en-US" sz="1800"/>
          </a:p>
          <a:p xmlns:a="http://schemas.openxmlformats.org/drawingml/2006/main">
            <a:endParaRPr lang="en-US" sz="1800"/>
          </a:p>
          <a:p xmlns:a="http://schemas.openxmlformats.org/drawingml/2006/main">
            <a:r>
              <a:rPr lang="en-US" sz="1800" b="0">
                <a:solidFill>
                  <a:srgbClr val="F8FAFC"/>
                </a:solidFill>
                <a:latin typeface="Cascadia Mono"/>
              </a:rPr>
              <a:t>FreezerTelemetryEnriched</a:t>
            </a:r>
            <a:endParaRPr lang="en-US" sz="1800"/>
          </a:p>
          <a:p xmlns:a="http://schemas.openxmlformats.org/drawingml/2006/main">
            <a:r>
              <a:rPr lang="en-US" sz="1800" b="0">
                <a:solidFill>
                  <a:srgbClr val="F8FAFC"/>
                </a:solidFill>
                <a:latin typeface="Cascadia Mono"/>
              </a:rPr>
              <a:t>{ "FreezerID": "FZ-118", "TemperatureC": -9.2, "DoorOpen": true, "ts": "..." }</a:t>
            </a:r>
            <a:endParaRPr lang="en-US" sz="1800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deck-8df5070c9d78</m2p:deckId>
        <m2p:slideId>example-raw-event-to-enriched-record</m2p:slideId>
        <m2p:title>Example: raw event to enriched record</m2p:title>
        <m2p:hash>sha256:e78b28b9518462270c9009f5d7c19f2cf2b5572808bd0f23cd195ab13e6e8182</m2p:hash>
        <m2p:sourceSlide>module-02-slides.md#slide-10</m2p:sourceSlide>
        <m2p:generatorVersion>1.0.0.0</m2p:generatorVersion>
        <m2p:layoutRef>Main Content : Title + Visual Data</m2p:layoutRef>
        <m2p:templateRef>EMFCC26_SpeakerPPT_TemplateA_Styled_Accessibility Review_Updated_11Aug.pptx</m2p:templateRef>
      </m2p:meta>
    </p:ext>
  </p:extLst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Where this leaves us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✅ Static context landed in </a:t>
            </a:r>
            <a:r>
              <a:rPr lang="en-US"/>
              <a:t>ColdChainLakehouse</a:t>
            </a:r>
            <a:r>
              <a:rPr lang="en-US"/>
              <a:t> (</a:t>
            </a:r>
            <a:r>
              <a:rPr lang="en-US"/>
              <a:t>Customers</a:t>
            </a:r>
            <a:r>
              <a:rPr lang="en-US"/>
              <a:t>, </a:t>
            </a:r>
            <a:r>
              <a:rPr lang="en-US"/>
              <a:t>Stores</a:t>
            </a:r>
            <a:r>
              <a:rPr lang="en-US"/>
              <a:t>, </a:t>
            </a:r>
            <a:r>
              <a:rPr lang="en-US"/>
              <a:t>Freezers</a:t>
            </a:r>
            <a:r>
              <a:rPr lang="en-US"/>
              <a:t>)</a:t>
            </a:r>
            <a:endParaRPr lang="en-US"/>
          </a:p>
          <a:p xmlns:a="http://schemas.openxmlformats.org/drawingml/2006/main">
            <a:pPr lvl="0"/>
            <a:r>
              <a:rPr lang="en-US"/>
              <a:t>✅ Live telemetry cleaned and keyed in </a:t>
            </a:r>
            <a:r>
              <a:rPr lang="en-US"/>
              <a:t>ColdChainEventhouse</a:t>
            </a:r>
            <a:r>
              <a:rPr lang="en-US"/>
              <a:t> (</a:t>
            </a:r>
            <a:r>
              <a:rPr lang="en-US"/>
              <a:t>FreezerTelemetryEnriched</a:t>
            </a:r>
            <a:r>
              <a:rPr lang="en-US"/>
              <a:t>)</a:t>
            </a:r>
            <a:endParaRPr lang="en-US"/>
          </a:p>
          <a:p xmlns:a="http://schemas.openxmlformats.org/drawingml/2006/main">
            <a:pPr lvl="0"/>
            <a:r>
              <a:rPr lang="en-US"/>
              <a:t>✅ Both sides share consistent </a:t>
            </a:r>
            <a:r>
              <a:rPr lang="en-US"/>
              <a:t>FreezerID</a:t>
            </a:r>
            <a:r>
              <a:rPr lang="en-US"/>
              <a:t> / </a:t>
            </a:r>
            <a:r>
              <a:rPr lang="en-US"/>
              <a:t>StoreID</a:t>
            </a:r>
            <a:r>
              <a:rPr lang="en-US"/>
              <a:t> / </a:t>
            </a:r>
            <a:r>
              <a:rPr lang="en-US"/>
              <a:t>CustomerID</a:t>
            </a:r>
            <a:r>
              <a:rPr lang="en-US"/>
              <a:t> keys</a:t>
            </a:r>
            <a:endParaRPr lang="en-US"/>
          </a:p>
          <a:p xmlns:a="http://schemas.openxmlformats.org/drawingml/2006/main">
            <a:pPr lvl="0"/>
            <a:r>
              <a:rPr lang="en-US"/>
              <a:t>⏭ Next: bind them together in a queryable ontology graph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deck-8df5070c9d78</m2p:deckId>
        <m2p:slideId>where-this-leaves-us</m2p:slideId>
        <m2p:title>Where this leaves us</m2p:title>
        <m2p:hash>sha256:3946624d90435c8f677cd2a6a13689d225480153d9c596f6933ff2b20d0d4348</m2p:hash>
        <m2p:sourceSlide>module-02-slides.md#slide-11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ent Placeholder"/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 b="1"/>
              <a:t>Hands-on lab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 b="1"/>
              <a:t>Lab 02 — Telemetry &amp; grounding</a:t>
            </a:r>
            <a:endParaRPr lang="en-US"/>
          </a:p>
          <a:p xmlns:a="http://schemas.openxmlformats.org/drawingml/2006/main">
            <a:pPr lvl="0"/>
            <a:r>
              <a:rPr lang="en-US"/>
              <a:t>Land reference CSVs into </a:t>
            </a:r>
            <a:r>
              <a:rPr lang="en-US"/>
              <a:t>ColdChainLakehouse</a:t>
            </a:r>
            <a:endParaRPr lang="en-US"/>
          </a:p>
          <a:p xmlns:a="http://schemas.openxmlformats.org/drawingml/2006/main">
            <a:pPr lvl="0"/>
            <a:r>
              <a:rPr lang="en-US"/>
              <a:t>Wire the freezer telemetry generator into </a:t>
            </a:r>
            <a:r>
              <a:rPr lang="en-US"/>
              <a:t>FreezerTelemetryEventstream</a:t>
            </a:r>
            <a:endParaRPr lang="en-US"/>
          </a:p>
          <a:p xmlns:a="http://schemas.openxmlformats.org/drawingml/2006/main">
            <a:pPr lvl="0"/>
            <a:r>
              <a:rPr lang="en-US"/>
              <a:t>Inspect the update policy that produces </a:t>
            </a:r>
            <a:r>
              <a:rPr lang="en-US"/>
              <a:t>FreezerTelemetryEnriched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/>
              <a:t>📄 </a:t>
            </a:r>
            <a:r>
              <a:rPr lang="en-US"/>
              <a:t>modules/module-02-telemetry-and-grounding/lab-02-join-streaming-and-reference-data.md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deck-8df5070c9d78</m2p:deckId>
        <m2p:slideId>hands-on-lab</m2p:slideId>
        <m2p:title>Hands-on lab</m2p:title>
        <m2p:hash>sha256:6c8bfe75be2a4cd28b66ec62e1134dd47b68f0d10f86361d44373dc2103e1a46</m2p:hash>
        <m2p:sourceSlide>module-02-slides.md#slide-12</m2p:sourceSlide>
        <m2p:generatorVersion>1.0.0.0</m2p:generatorVersion>
        <m2p:layoutRef>Section Break Slide</m2p:layoutRef>
        <m2p:templateRef>EMFCC26_SpeakerPPT_TemplateA_Styled_Accessibility Review_Updated_11Aug.pptx</m2p:templateRef>
      </m2p:meta>
    </p:ext>
  </p:extLst>
</p:sld>
</file>

<file path=ppt/theme/theme1.xml><?xml version="1.0" encoding="utf-8"?>
<a:theme xmlns:thm15="http://schemas.microsoft.com/office/thememl/2012/main" xmlns:a="http://schemas.openxmlformats.org/drawingml/2006/main" name="Splash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i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spAutoFit/>
      </a:bodyPr>
      <a:lstStyle>
        <a:defPPr algn="l">
          <a:defRPr sz="2400" dirty="0">
            <a:latin typeface="Calibri Light" charset="0"/>
            <a:ea typeface="Calibri Light" charset="0"/>
            <a:cs typeface="Calibri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21fbb9a-23db-4311-a69c-34622b264696">
      <Terms xmlns="http://schemas.microsoft.com/office/infopath/2007/PartnerControls"/>
    </lcf76f155ced4ddcb4097134ff3c332f>
    <TaxCatchAll xmlns="1b3b1065-ae42-4d8a-aa8c-0a73a17faba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51F54D7AD26C459333D1AFF09839BE" ma:contentTypeVersion="14" ma:contentTypeDescription="Create a new document." ma:contentTypeScope="" ma:versionID="267f41264e04a5c3ada0074a8fd340dc">
  <xsd:schema xmlns:xsd="http://www.w3.org/2001/XMLSchema" xmlns:xs="http://www.w3.org/2001/XMLSchema" xmlns:p="http://schemas.microsoft.com/office/2006/metadata/properties" xmlns:ns2="221fbb9a-23db-4311-a69c-34622b264696" xmlns:ns3="1b3b1065-ae42-4d8a-aa8c-0a73a17faba8" targetNamespace="http://schemas.microsoft.com/office/2006/metadata/properties" ma:root="true" ma:fieldsID="b5806782e6246c3a79c8d8c00ea8f5e6" ns2:_="" ns3:_="">
    <xsd:import namespace="221fbb9a-23db-4311-a69c-34622b264696"/>
    <xsd:import namespace="1b3b1065-ae42-4d8a-aa8c-0a73a17fab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1fbb9a-23db-4311-a69c-34622b2646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d530a17-84a2-4d03-b447-f9955f42fe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3b1065-ae42-4d8a-aa8c-0a73a17fab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72881c0-9f09-48c0-b71c-fddfa2680fd3}" ma:internalName="TaxCatchAll" ma:showField="CatchAllData" ma:web="1b3b1065-ae42-4d8a-aa8c-0a73a17fab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D26BB1-7F1F-46F1-8F3C-0C47CE043432}">
  <ds:schemaRefs>
    <ds:schemaRef ds:uri="221fbb9a-23db-4311-a69c-34622b264696"/>
    <ds:schemaRef ds:uri="http://purl.org/dc/dcmitype/"/>
    <ds:schemaRef ds:uri="http://purl.org/dc/terms/"/>
    <ds:schemaRef ds:uri="http://schemas.microsoft.com/office/2006/metadata/properties"/>
    <ds:schemaRef ds:uri="1b3b1065-ae42-4d8a-aa8c-0a73a17faba8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E38309D-794A-4787-9F1D-A760486AD1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1fbb9a-23db-4311-a69c-34622b264696"/>
    <ds:schemaRef ds:uri="1b3b1065-ae42-4d8a-aa8c-0a73a17fab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157E49-3C57-4281-B896-98EEEB20EAB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:vt="http://schemas.openxmlformats.org/officeDocument/2006/docPropsVTypes" xmlns="http://schemas.openxmlformats.org/officeDocument/2006/extended-properties">
  <TotalTime>0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Aptos Display</vt:lpstr>
      <vt:lpstr>MarpToPptx Theme</vt:lpstr>
      <vt:lpstr>Module 02</vt:lpstr>
      <vt:lpstr>Learning objectives</vt:lpstr>
      <vt:lpstr>Topic 3 — Combining real-time telemetry with semantic context</vt:lpstr>
      <vt:lpstr>The Digital Twin Builder pattern</vt:lpstr>
      <vt:lpstr>Where our reference data lives</vt:lpstr>
      <vt:lpstr>Where our live signal lives</vt:lpstr>
      <vt:lpstr>Topic 4 — Grounding signals with enterprise meaning</vt:lpstr>
      <vt:lpstr>KQL: update policy vs. materialized view (conceptual)</vt:lpstr>
      <vt:lpstr>Applying that to our pipeline</vt:lpstr>
      <vt:lpstr>Example: raw event to enriched record</vt:lpstr>
      <vt:lpstr>Where this leaves us</vt:lpstr>
      <vt:lpstr>Hands-on lab</vt:lpstr>
    </vt:vector>
  </TitlesOfParts>
  <Company>Created by MarpToPptx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02</dc:title>
  <dc:subject>PowerPoint Presentation</dc:subject>
  <dc:creator>MarpToPptx</dc:creator>
  <cp:lastModifiedBy>MarpToPptx</cp:lastModifiedBy>
  <cp:revision>1</cp:revision>
  <dcterms:created xsi:type="dcterms:W3CDTF">2026-09-06T19:09:21Z</dcterms:created>
  <dcterms:modified xsi:type="dcterms:W3CDTF">2026-09-06T19:09:21Z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0x010100A051F54D7AD26C459333D1AFF09839BE</vt:lpwstr>
  </property>
</Properties>
</file>
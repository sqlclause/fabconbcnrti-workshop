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37.xml" ContentType="application/vnd.openxmlformats-officedocument.presentationml.slide+xml"/>
  <Override PartName="/ppt/slides/slide35.xml" ContentType="application/vnd.openxmlformats-officedocument.presentationml.slide+xml"/>
  <Override PartName="/ppt/slides/slide33.xml" ContentType="application/vnd.openxmlformats-officedocument.presentationml.slide+xml"/>
  <Override PartName="/ppt/slides/slide31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slides/slide38.xml" ContentType="application/vnd.openxmlformats-officedocument.presentationml.slide+xml"/>
  <Override PartName="/ppt/slides/slide36.xml" ContentType="application/vnd.openxmlformats-officedocument.presentationml.slide+xml"/>
  <Override PartName="/ppt/slides/slide34.xml" ContentType="application/vnd.openxmlformats-officedocument.presentationml.slide+xml"/>
  <Override PartName="/ppt/slides/slide32.xml" ContentType="application/vnd.openxmlformats-officedocument.presentationml.slide+xml"/>
  <Override PartName="/ppt/slides/slide30.xml" ContentType="application/vnd.openxmlformats-officedocument.presentationml.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8" r:id="rId4"/>
    <p:sldMasterId id="2147483680" r:id="rId5"/>
    <p:sldMasterId id="2147483682" r:id="rId6"/>
    <p:sldMasterId id="2147483684" r:id="rId7"/>
  </p:sldMasterIdLst>
  <p:notesMasterIdLst>
    <p:notesMasterId r:id="rId22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5B44"/>
    <a:srgbClr val="007864"/>
    <a:srgbClr val="013F34"/>
    <a:srgbClr val="BCA045"/>
    <a:srgbClr val="FFC300"/>
    <a:srgbClr val="F4F4F4"/>
    <a:srgbClr val="002C4C"/>
    <a:srgbClr val="FF4713"/>
    <a:srgbClr val="D0DBFF"/>
    <a:srgbClr val="002B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6A60C5-3AC7-2D4E-951A-6654EB0F1546}" v="2" dt="2026-08-11T14:48:25.9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viewPr xmlns:a="http://schemas.openxmlformats.org/drawingml/2006/main" xmlns:r="http://schemas.openxmlformats.org/officeDocument/2006/relationships" xmlns="http://schemas.openxmlformats.org/presentationml/2006/main">
  <normalViewPr horzBarState="maximized">
    <restoredLeft sz="15611"/>
    <restoredTop sz="94610"/>
  </normalViewPr>
  <slideViewPr>
    <cSldViewPr snapToGrid="0" snapToObjects="1">
      <cViewPr varScale="1">
        <scale>
          <a:sx n="136" d="100"/>
          <a:sy n="136" d="100"/>
        </scale>
        <origin x="216" y="312"/>
      </cViewPr>
      <guideLst/>
    </cSldViewPr>
  </slideViewPr>
  <notesTextViewPr>
    <cViewPr>
      <scale>
        <a:sx n="1" d="1"/>
        <a:sy n="1" d="1"/>
      </scale>
      <origin x="0" y="0"/>
    </cViewPr>
  </notesTextViewPr>
  <gridSpacing cx="76200" cy="76200"/>
</viewPr>
</file>

<file path=ppt/_rels/presentation.xml.rels>&#65279;<?xml version="1.0" encoding="utf-8"?>
<Relationships xmlns="http://schemas.openxmlformats.org/package/2006/relationships">
  <Relationship Type="http://schemas.openxmlformats.org/officeDocument/2006/relationships/theme" Target="theme/theme1.xml" Id="rId26" />
  <Relationship Type="http://schemas.openxmlformats.org/officeDocument/2006/relationships/customXml" Target="../customXml/item3.xml" Id="rId3" />
  <Relationship Type="http://schemas.openxmlformats.org/officeDocument/2006/relationships/slideMaster" Target="slideMasters/slideMaster4.xml" Id="rId7" />
  <Relationship Type="http://schemas.openxmlformats.org/officeDocument/2006/relationships/viewProps" Target="viewProps.xml" Id="rId25" />
  <Relationship Type="http://schemas.openxmlformats.org/officeDocument/2006/relationships/customXml" Target="../customXml/item2.xml" Id="rId2" />
  <Relationship Type="http://schemas.microsoft.com/office/2018/10/relationships/authors" Target="authors.xml" Id="rId29" />
  <Relationship Type="http://schemas.openxmlformats.org/officeDocument/2006/relationships/customXml" Target="../customXml/item1.xml" Id="rId1" />
  <Relationship Type="http://schemas.openxmlformats.org/officeDocument/2006/relationships/slideMaster" Target="slideMasters/slideMaster3.xml" Id="rId6" />
  <Relationship Type="http://schemas.openxmlformats.org/officeDocument/2006/relationships/presProps" Target="presProps.xml" Id="rId24" />
  <Relationship Type="http://schemas.openxmlformats.org/officeDocument/2006/relationships/slideMaster" Target="slideMasters/slideMaster2.xml" Id="rId5" />
  <Relationship Type="http://schemas.openxmlformats.org/officeDocument/2006/relationships/commentAuthors" Target="commentAuthors.xml" Id="rId23" />
  <Relationship Type="http://schemas.microsoft.com/office/2015/10/relationships/revisionInfo" Target="revisionInfo.xml" Id="rId28" />
  <Relationship Type="http://schemas.openxmlformats.org/officeDocument/2006/relationships/slideMaster" Target="slideMasters/slideMaster1.xml" Id="rId4" />
  <Relationship Type="http://schemas.openxmlformats.org/officeDocument/2006/relationships/notesMaster" Target="notesMasters/notesMaster1.xml" Id="rId22" />
  <Relationship Type="http://schemas.openxmlformats.org/officeDocument/2006/relationships/tableStyles" Target="tableStyles.xml" Id="rId27" />
  <Relationship Type="http://schemas.openxmlformats.org/officeDocument/2006/relationships/slide" Target="slides/slide29.xml" Id="rId8" />
  <Relationship Type="http://schemas.openxmlformats.org/officeDocument/2006/relationships/slide" Target="slides/slide30.xml" Id="rId9" />
  <Relationship Type="http://schemas.openxmlformats.org/officeDocument/2006/relationships/slide" Target="slides/slide31.xml" Id="rId10" />
  <Relationship Type="http://schemas.openxmlformats.org/officeDocument/2006/relationships/slide" Target="slides/slide32.xml" Id="rId11" />
  <Relationship Type="http://schemas.openxmlformats.org/officeDocument/2006/relationships/slide" Target="slides/slide33.xml" Id="rId12" />
  <Relationship Type="http://schemas.openxmlformats.org/officeDocument/2006/relationships/slide" Target="slides/slide34.xml" Id="rId13" />
  <Relationship Type="http://schemas.openxmlformats.org/officeDocument/2006/relationships/slide" Target="slides/slide35.xml" Id="rId14" />
  <Relationship Type="http://schemas.openxmlformats.org/officeDocument/2006/relationships/slide" Target="slides/slide36.xml" Id="rId15" />
  <Relationship Type="http://schemas.openxmlformats.org/officeDocument/2006/relationships/slide" Target="slides/slide37.xml" Id="rId16" />
  <Relationship Type="http://schemas.openxmlformats.org/officeDocument/2006/relationships/slide" Target="slides/slide38.xml" Id="rId17" 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B4B101-3225-4967-95B5-ED5755256DE0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B8C794-77EE-4724-B493-2E0907BFA5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2318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ash Sc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8312491"/>
      </p:ext>
    </p:extLst>
  </p:cSld>
  <p:clrMapOvr>
    <a:masterClrMapping/>
  </p:clrMapOvr>
</p:sldLayout>
</file>

<file path=ppt/slideLayouts/slideLayout2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Section Break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91E24DE-EFB1-0B46-A1A5-D4A0F86E2C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7938" y="1628799"/>
            <a:ext cx="10764252" cy="3857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 b="1">
                <a:solidFill>
                  <a:srgbClr val="BCA0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00E2FF"/>
                </a:solidFill>
              </a:defRPr>
            </a:lvl2pPr>
            <a:lvl3pPr>
              <a:defRPr>
                <a:solidFill>
                  <a:srgbClr val="00E2FF"/>
                </a:solidFill>
              </a:defRPr>
            </a:lvl3pPr>
            <a:lvl4pPr>
              <a:defRPr>
                <a:solidFill>
                  <a:srgbClr val="00E2FF"/>
                </a:solidFill>
              </a:defRPr>
            </a:lvl4pPr>
            <a:lvl5pPr>
              <a:defRPr>
                <a:solidFill>
                  <a:srgbClr val="00E2FF"/>
                </a:solidFill>
              </a:defRPr>
            </a:lvl5pPr>
          </a:lstStyle>
          <a:p>
            <a:pPr lvl="0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31539201"/>
      </p:ext>
    </p:extLst>
  </p:cSld>
  <p:clrMapOvr>
    <a:masterClrMapping/>
  </p:clrMapOvr>
</p:sldLayout>
</file>

<file path=ppt/slideLayouts/slideLayout3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: Title + Text Box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7A50152-6AF0-CB4C-8223-B92B04D8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13F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E510EF-336A-D249-A32C-A6F043A3B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1700213"/>
            <a:ext cx="10747375" cy="42354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7323503"/>
      </p:ext>
    </p:extLst>
  </p:cSld>
  <p:clrMapOvr>
    <a:masterClrMapping/>
  </p:clrMapOvr>
</p:sldLayout>
</file>

<file path=ppt/slideLayouts/slideLayout4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1_Main Content : Title + Text Box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7A50152-6AF0-CB4C-8223-B92B04D8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BCA0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E510EF-336A-D249-A32C-A6F043A3B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1700213"/>
            <a:ext cx="10747375" cy="42354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5159803"/>
      </p:ext>
    </p:extLst>
  </p:cSld>
  <p:clrMapOvr>
    <a:masterClrMapping/>
  </p:clrMapOvr>
</p:sldLayout>
</file>

<file path=ppt/slideLayouts/slideLayout5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: Title + Dual Text Box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7A50152-6AF0-CB4C-8223-B92B04D8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13F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E510EF-336A-D249-A32C-A6F043A3B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1700213"/>
            <a:ext cx="5143128" cy="42354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B4DB5CA4-F374-B64C-81F3-7E6BC95041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72597" y="1700213"/>
            <a:ext cx="5143128" cy="42354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99175194"/>
      </p:ext>
    </p:extLst>
  </p:cSld>
  <p:clrMapOvr>
    <a:masterClrMapping/>
  </p:clrMapOvr>
</p:sldLayout>
</file>

<file path=ppt/slideLayouts/slideLayout6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- Dark BKG : Title + Dual Text Box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7A50152-6AF0-CB4C-8223-B92B04D8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BCA0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E510EF-336A-D249-A32C-A6F043A3B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1700213"/>
            <a:ext cx="5143128" cy="42354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B4DB5CA4-F374-B64C-81F3-7E6BC95041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72597" y="1700213"/>
            <a:ext cx="5143128" cy="42354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70593789"/>
      </p:ext>
    </p:extLst>
  </p:cSld>
  <p:clrMapOvr>
    <a:masterClrMapping/>
  </p:clrMapOvr>
</p:sldLayout>
</file>

<file path=ppt/slideLayouts/slideLayout7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: Visual Dat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2C0C7565-66F8-5E4F-BC70-B52629A037B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36600" y="736600"/>
            <a:ext cx="10793413" cy="51958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06598798"/>
      </p:ext>
    </p:extLst>
  </p:cSld>
  <p:clrMapOvr>
    <a:masterClrMapping/>
  </p:clrMapOvr>
</p:sldLayout>
</file>

<file path=ppt/slideLayouts/slideLayout8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: Title + Visual Dat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0">
            <a:extLst>
              <a:ext uri="{FF2B5EF4-FFF2-40B4-BE49-F238E27FC236}">
                <a16:creationId xmlns:a16="http://schemas.microsoft.com/office/drawing/2014/main" id="{A54FBFB0-DCDC-C848-901F-75B727D01B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2"/>
            <a:ext cx="5204111" cy="1046579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13F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E6537CD3-4D9A-184F-8D06-E1B8E2D903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8188" y="2005263"/>
            <a:ext cx="5213433" cy="3930399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DC03047F-22E2-5B43-86A2-7583C9DB314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57913" y="757238"/>
            <a:ext cx="5372100" cy="52006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5417581"/>
      </p:ext>
    </p:extLst>
  </p:cSld>
  <p:clrMapOvr>
    <a:masterClrMapping/>
  </p:clrMapOvr>
</p:sldLayout>
</file>

<file path=ppt/slideLayouts/slideLayout9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- Dark BKG : Title + Visual Dat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0">
            <a:extLst>
              <a:ext uri="{FF2B5EF4-FFF2-40B4-BE49-F238E27FC236}">
                <a16:creationId xmlns:a16="http://schemas.microsoft.com/office/drawing/2014/main" id="{A54FBFB0-DCDC-C848-901F-75B727D01B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2"/>
            <a:ext cx="5204111" cy="1046579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BCA0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E6537CD3-4D9A-184F-8D06-E1B8E2D903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8188" y="2005263"/>
            <a:ext cx="5213433" cy="39303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DC03047F-22E2-5B43-86A2-7583C9DB314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57913" y="757238"/>
            <a:ext cx="5372100" cy="52006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38442111"/>
      </p:ext>
    </p:extLst>
  </p:cSld>
  <p:clrMapOvr>
    <a:masterClrMapping/>
  </p:clrMapOvr>
</p:sldLayout>
</file>

<file path=ppt/slideLayouts/slideLayout10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: Visual Data +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0">
            <a:extLst>
              <a:ext uri="{FF2B5EF4-FFF2-40B4-BE49-F238E27FC236}">
                <a16:creationId xmlns:a16="http://schemas.microsoft.com/office/drawing/2014/main" id="{1C79D75D-1604-BB44-B1C9-298036D703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6264" y="798262"/>
            <a:ext cx="5204111" cy="1046579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13F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005221B5-9309-224F-87A9-A3D8D99384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76462" y="2005263"/>
            <a:ext cx="5213433" cy="3930399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FDD66AF7-F6A9-AC40-9D50-9BAAC73B385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2951" y="757238"/>
            <a:ext cx="5243512" cy="52006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04484"/>
      </p:ext>
    </p:extLst>
  </p:cSld>
  <p:clrMapOvr>
    <a:masterClrMapping/>
  </p:clrMapOvr>
</p:sldLayout>
</file>

<file path=ppt/slideLayouts/slideLayout11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: Title + Dual Visual Dat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FDD66AF7-F6A9-AC40-9D50-9BAAC73B385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2951" y="1885950"/>
            <a:ext cx="5100637" cy="407193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AD4D50A4-B734-AD41-8654-79DC681E4E1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7913" y="1885950"/>
            <a:ext cx="5372100" cy="407193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10">
            <a:extLst>
              <a:ext uri="{FF2B5EF4-FFF2-40B4-BE49-F238E27FC236}">
                <a16:creationId xmlns:a16="http://schemas.microsoft.com/office/drawing/2014/main" id="{9ECF72A8-B638-3842-8B60-7DFC3C6C0C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13F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02732109"/>
      </p:ext>
    </p:extLst>
  </p:cSld>
  <p:clrMapOvr>
    <a:masterClrMapping/>
  </p:clrMapOvr>
</p:sldLayout>
</file>

<file path=ppt/slideLayouts/slideLayout12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Dark Content (White Background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590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image" Target="../media/image3.jpg"/><Relationship Id="rId5" Type="http://schemas.openxmlformats.org/officeDocument/2006/relationships/slideLayout" Target="../slideLayouts/slideLayout7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1765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917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8291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92" r:id="rId2"/>
    <p:sldLayoutId id="2147483689" r:id="rId3"/>
    <p:sldLayoutId id="2147483693" r:id="rId4"/>
    <p:sldLayoutId id="2147483686" r:id="rId5"/>
    <p:sldLayoutId id="2147483687" r:id="rId6"/>
    <p:sldLayoutId id="2147483694" r:id="rId7"/>
    <p:sldLayoutId id="2147483688" r:id="rId8"/>
    <p:sldLayoutId id="2147483690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519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9.xml.rels>&#65279;<?xml version="1.0" encoding="utf-8"?>
<Relationships xmlns="http://schemas.openxmlformats.org/package/2006/relationships">
  <Relationship Type="http://schemas.openxmlformats.org/officeDocument/2006/relationships/image" Target="../media/image2.jpg" Id="rId3" />
  <Relationship Type="http://schemas.openxmlformats.org/officeDocument/2006/relationships/slideLayout" Target="../slideLayouts/slideLayout2.xml" Id="rId1" />
</Relationships>
</file>

<file path=ppt/slides/_rels/slide30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3.xml" Id="rId1" />
</Relationships>
</file>

<file path=ppt/slides/_rels/slide31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3.xml" Id="rId1" />
</Relationships>
</file>

<file path=ppt/slides/_rels/slide32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3.xml" Id="rId1" />
</Relationships>
</file>

<file path=ppt/slides/_rels/slide33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3.xml" Id="rId1" />
</Relationships>
</file>

<file path=ppt/slides/_rels/slide34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3.xml" Id="rId1" />
</Relationships>
</file>

<file path=ppt/slides/_rels/slide35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8.xml" Id="rId1" />
</Relationships>
</file>

<file path=ppt/slides/_rels/slide36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3.xml" Id="rId1" />
</Relationships>
</file>

<file path=ppt/slides/_rels/slide37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3.xml" Id="rId1" />
</Relationships>
</file>

<file path=ppt/slides/_rels/slide38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2.xml" Id="rId1" />
</Relationships>
</file>

<file path=ppt/slides/slide29.xml><?xml version="1.0" encoding="utf-8"?>
<p:sld xmlns:a16="http://schemas.microsoft.com/office/drawing/2014/main" xmlns:adec="http://schemas.microsoft.com/office/drawing/2017/decorative" xmlns:p14="http://schemas.microsoft.com/office/powerpoint/2010/main" xmlns:m2p="urn:marptopptx:metadata"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C0CC446-2BE1-533C-6F9A-2CADE0533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479919"/>
          </a:xfrm>
          <a:prstGeom prst="rect">
            <a:avLst/>
          </a:prstGeom>
          <a:solidFill>
            <a:srgbClr val="BCA0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Prompting, trust &amp; traceability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9FE7F2-7594-C345-99E2-801E68C39CB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925891" y="1396314"/>
            <a:ext cx="8011886" cy="144655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rPr>
              <a:t>Module 05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EEEF1E-D858-9C47-9A95-2D236BFD2F31}"/>
              </a:ext>
            </a:extLst>
          </p:cNvPr>
          <p:cNvSpPr txBox="1"/>
          <p:nvPr/>
        </p:nvSpPr>
        <p:spPr>
          <a:xfrm>
            <a:off x="3925891" y="4302696"/>
            <a:ext cx="8011886" cy="6155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D3891A-AA58-D14F-909B-BF581581CD69}"/>
              </a:ext>
            </a:extLst>
          </p:cNvPr>
          <p:cNvSpPr txBox="1"/>
          <p:nvPr/>
        </p:nvSpPr>
        <p:spPr>
          <a:xfrm>
            <a:off x="3925891" y="4918822"/>
            <a:ext cx="8011886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07F331A-088A-5E4B-ADDD-52C41D93C2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1732130" y="1587834"/>
            <a:ext cx="1700881" cy="1700798"/>
          </a:xfrm>
          <a:prstGeom prst="rect">
            <a:avLst/>
          </a:prstGeom>
        </p:spPr>
        <p:txBody>
          <a:bodyPr/>
          <a:lstStyle/>
          <a:p>
            <a:endParaRPr lang="en-US" sz="2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4F310C-2089-97AC-AE64-D6BB59BB61DA}"/>
              </a:ext>
            </a:extLst>
          </p:cNvPr>
          <p:cNvSpPr txBox="1"/>
          <p:nvPr/>
        </p:nvSpPr>
        <p:spPr>
          <a:xfrm>
            <a:off x="2777565" y="39904"/>
            <a:ext cx="6636869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000" b="1" spc="100" dirty="0">
                <a:solidFill>
                  <a:srgbClr val="125B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Topics 7–8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46711"/>
      </p:ext>
    </p:extLst>
  </p:cSld>
  <p:clrMapOvr>
    <a:masterClrMapping/>
  </p:clrMapOvr>
  <p:extLst>
    <p:ext uri="urn:marptopptx:slide-metadata">
      <m2p:meta xmlns:m2p="urn:marptopptx:metadata" version="2">
        <m2p:deckId>deck-6f2c32b1ed8d</m2p:deckId>
        <m2p:slideId>module-05</m2p:slideId>
        <m2p:title>Module 05</m2p:title>
        <m2p:hash>sha256:4ed7d90ea8fd8de7598044fc9dc37c033b95af8eb8a8d78e983e644781be3e7c</m2p:hash>
        <m2p:sourceSlide>module-05-slides.md#slide-1</m2p:sourceSlide>
        <m2p:generatorVersion>1.0.0.0</m2p:generatorVersion>
        <m2p:layoutRef>Template[3]</m2p:layoutRef>
        <m2p:templateRef>EMFCC26_SpeakerPPT_TemplateA_Styled_Accessibility Review_Updated_11Aug.pptx</m2p:templateRef>
      </m2p:meta>
    </p:ext>
  </p:extLst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Learning objectives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By the end of this module you can:</a:t>
            </a:r>
            <a:endParaRPr lang="en-US"/>
          </a:p>
          <a:p xmlns:a="http://schemas.openxmlformats.org/drawingml/2006/main">
            <a:pPr lvl="0"/>
            <a:r>
              <a:rPr lang="en-US"/>
              <a:t>Explain how ontology grounding constrains and validates an agent's responses</a:t>
            </a:r>
            <a:endParaRPr lang="en-US"/>
          </a:p>
          <a:p xmlns:a="http://schemas.openxmlformats.org/drawingml/2006/main">
            <a:pPr lvl="0"/>
            <a:r>
              <a:rPr lang="en-US"/>
              <a:t>Contrast a grounded agent's answer with a free-form LLM answer on the same question</a:t>
            </a:r>
            <a:endParaRPr lang="en-US"/>
          </a:p>
          <a:p xmlns:a="http://schemas.openxmlformats.org/drawingml/2006/main">
            <a:pPr lvl="0"/>
            <a:r>
              <a:rPr lang="en-US"/>
              <a:t>Describe what an audit trail looks like for an ontology-triggered agent action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deck-6f2c32b1ed8d</m2p:deckId>
        <m2p:slideId>learning-objectives</m2p:slideId>
        <m2p:title>Learning objectives</m2p:title>
        <m2p:hash>sha256:a07df84756919ad995213e76b59fe814dee93086befa3d1922744f4d1ccf15d0</m2p:hash>
        <m2p:sourceSlide>module-05-slides.md#slide-2</m2p:sourceSlide>
        <m2p:generatorVersion>1.0.0.0</m2p:generatorVersion>
        <m2p:layoutRef>Main Content : Title + Text Box</m2p:layoutRef>
        <m2p:templateRef>EMFCC26_SpeakerPPT_TemplateA_Styled_Accessibility Review_Updated_11Aug.pptx</m2p:templateRef>
      </m2p:meta>
    </p:ext>
  </p:extLst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Topic 7 — Prompting, grounding, and response validation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/>
            <a:r>
              <a:rPr lang="en-US"/>
              <a:t>A prompt to </a:t>
            </a:r>
            <a:r>
              <a:rPr lang="en-US"/>
              <a:t>ColdChainDataAgent</a:t>
            </a:r>
            <a:r>
              <a:rPr lang="en-US"/>
              <a:t> isn't answered by the raw LLM alone</a:t>
            </a:r>
            <a:endParaRPr lang="en-US"/>
          </a:p>
          <a:p xmlns:a="http://schemas.openxmlformats.org/drawingml/2006/main">
            <a:pPr lvl="0"/>
            <a:r>
              <a:rPr lang="en-US"/>
              <a:t>The agent's response is </a:t>
            </a:r>
            <a:r>
              <a:rPr lang="en-US" b="1"/>
              <a:t>constrained to what the ontology graph actually contains</a:t>
            </a:r>
            <a:endParaRPr lang="en-US"/>
          </a:p>
          <a:p xmlns:a="http://schemas.openxmlformats.org/drawingml/2006/main">
            <a:pPr lvl="0"/>
            <a:r>
              <a:rPr lang="en-US"/>
              <a:t>If a fact isn't a node, property, or relationship in </a:t>
            </a:r>
            <a:r>
              <a:rPr lang="en-US"/>
              <a:t>ColdChainOntology</a:t>
            </a:r>
            <a:r>
              <a:rPr lang="en-US"/>
              <a:t>, the agent can't fabricate it into an answer</a:t>
            </a:r>
            <a:endParaRPr lang="en-US"/>
          </a:p>
          <a:p xmlns:a="http://schemas.openxmlformats.org/drawingml/2006/main">
            <a:pPr lvl="0"/>
            <a:r>
              <a:rPr lang="en-US"/>
              <a:t>This is validation </a:t>
            </a:r>
            <a:r>
              <a:rPr lang="en-US" b="1"/>
              <a:t>by construction</a:t>
            </a:r>
            <a:r>
              <a:rPr lang="en-US"/>
              <a:t>, not a post-hoc check bolted on afterward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deck-6f2c32b1ed8d</m2p:deckId>
        <m2p:slideId>topic-7-prompting-grounding-and-response-validation</m2p:slideId>
        <m2p:title>Topic 7 — Prompting, grounding, and response validation</m2p:title>
        <m2p:hash>sha256:f4f8d11cb2d26d8939b2f24cc82cdf15b94faabd80705cd31f0883bbb8ffcfc7</m2p:hash>
        <m2p:sourceSlide>module-05-slides.md#slide-3</m2p:sourceSlide>
        <m2p:generatorVersion>1.0.0.0</m2p:generatorVersion>
        <m2p:layoutRef>Main Content : Title + Text Box</m2p:layoutRef>
        <m2p:templateRef>EMFCC26_SpeakerPPT_TemplateA_Styled_Accessibility Review_Updated_11Aug.pptx</m2p:templateRef>
      </m2p:meta>
    </p:ext>
  </p:extLst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Grounded agent vs. free-form LLM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 b="1"/>
              <a:t>Free-form LLM</a:t>
            </a:r>
            <a:endParaRPr lang="en-US"/>
          </a:p>
          <a:p xmlns:a="http://schemas.openxmlformats.org/drawingml/2006/main">
            <a:pPr lvl="0"/>
            <a:r>
              <a:rPr lang="en-US"/>
              <a:t>Answers from general training knowledge</a:t>
            </a:r>
            <a:endParaRPr lang="en-US"/>
          </a:p>
          <a:p xmlns:a="http://schemas.openxmlformats.org/drawingml/2006/main">
            <a:pPr lvl="0"/>
            <a:r>
              <a:rPr lang="en-US"/>
              <a:t>No guaranteed link to </a:t>
            </a:r>
            <a:r>
              <a:rPr lang="en-US" i="1"/>
              <a:t>your</a:t>
            </a:r>
            <a:r>
              <a:rPr lang="en-US"/>
              <a:t> data</a:t>
            </a:r>
            <a:endParaRPr lang="en-US"/>
          </a:p>
          <a:p xmlns:a="http://schemas.openxmlformats.org/drawingml/2006/main">
            <a:pPr lvl="0"/>
            <a:r>
              <a:rPr lang="en-US"/>
              <a:t>Can sound confident and still be wrong</a:t>
            </a:r>
            <a:endParaRPr lang="en-US"/>
          </a:p>
          <a:p xmlns:a="http://schemas.openxmlformats.org/drawingml/2006/main">
            <a:pPr lvl="0"/>
            <a:r>
              <a:rPr lang="en-US"/>
              <a:t>No way to verify which record it "used"</a:t>
            </a:r>
            <a:endParaRPr lang="en-US"/>
          </a:p>
          <a:p xmlns:a="http://schemas.openxmlformats.org/drawingml/2006/main">
            <a:pPr>
              <a:buNone/>
            </a:pPr>
            <a:r>
              <a:rPr lang="en-US" b="1"/>
              <a:t>Ontology-grounded agent</a:t>
            </a:r>
            <a:endParaRPr lang="en-US"/>
          </a:p>
          <a:p xmlns:a="http://schemas.openxmlformats.org/drawingml/2006/main">
            <a:pPr lvl="0"/>
            <a:r>
              <a:rPr lang="en-US"/>
              <a:t>Answers by traversing real entities and properties</a:t>
            </a:r>
            <a:endParaRPr lang="en-US"/>
          </a:p>
          <a:p xmlns:a="http://schemas.openxmlformats.org/drawingml/2006/main">
            <a:pPr lvl="0"/>
            <a:r>
              <a:rPr lang="en-US"/>
              <a:t>Every fact traces to a bound column</a:t>
            </a:r>
            <a:endParaRPr lang="en-US"/>
          </a:p>
          <a:p xmlns:a="http://schemas.openxmlformats.org/drawingml/2006/main">
            <a:pPr lvl="0"/>
            <a:r>
              <a:rPr lang="en-US"/>
              <a:t>Wrong data → wrong answer, but never a </a:t>
            </a:r>
            <a:r>
              <a:rPr lang="en-US" i="1"/>
              <a:t>fabricated</a:t>
            </a:r>
            <a:r>
              <a:rPr lang="en-US"/>
              <a:t> entity</a:t>
            </a:r>
            <a:endParaRPr lang="en-US"/>
          </a:p>
          <a:p xmlns:a="http://schemas.openxmlformats.org/drawingml/2006/main">
            <a:pPr lvl="0"/>
            <a:r>
              <a:rPr lang="en-US"/>
              <a:t>Response can cite the entity/property it used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deck-6f2c32b1ed8d</m2p:deckId>
        <m2p:slideId>grounded-agent-vs-free-form-llm</m2p:slideId>
        <m2p:title>Grounded agent vs. free-form LLM</m2p:title>
        <m2p:hash>sha256:0818b14bebfde9066c5afcaeccc9250a4af6b772a18432a1b4d8ce36c40bc607</m2p:hash>
        <m2p:sourceSlide>module-05-slides.md#slide-4</m2p:sourceSlide>
        <m2p:generatorVersion>1.0.0.0</m2p:generatorVersion>
        <m2p:layoutRef>Main Content : Title + Text Box</m2p:layoutRef>
        <m2p:templateRef>EMFCC26_SpeakerPPT_TemplateA_Styled_Accessibility Review_Updated_11Aug.pptx</m2p:templateRef>
      </m2p:meta>
    </p:ext>
  </p:extLst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Response validation strategies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/>
            <a:r>
              <a:rPr lang="en-US" b="1"/>
              <a:t>Schema-constrained answers</a:t>
            </a:r>
            <a:r>
              <a:rPr lang="en-US"/>
              <a:t> — the agent can only reference entity types/properties that exist in the ontology</a:t>
            </a:r>
            <a:endParaRPr lang="en-US"/>
          </a:p>
          <a:p xmlns:a="http://schemas.openxmlformats.org/drawingml/2006/main">
            <a:pPr lvl="0"/>
            <a:r>
              <a:rPr lang="en-US" b="1"/>
              <a:t>Cite the source</a:t>
            </a:r>
            <a:r>
              <a:rPr lang="en-US"/>
              <a:t> — a good response names the entity instance behind the answer (</a:t>
            </a:r>
            <a:r>
              <a:rPr lang="en-US" i="1"/>
              <a:t>"based on Freezer FZ-118..."</a:t>
            </a:r>
            <a:r>
              <a:rPr lang="en-US"/>
              <a:t>)</a:t>
            </a:r>
            <a:endParaRPr lang="en-US"/>
          </a:p>
          <a:p xmlns:a="http://schemas.openxmlformats.org/drawingml/2006/main">
            <a:pPr lvl="0"/>
            <a:r>
              <a:rPr lang="en-US" b="1"/>
              <a:t>Confidence framing</a:t>
            </a:r>
            <a:r>
              <a:rPr lang="en-US"/>
              <a:t> — distinguish "the graph says X" from "I'm inferring X"</a:t>
            </a:r>
            <a:endParaRPr lang="en-US"/>
          </a:p>
          <a:p xmlns:a="http://schemas.openxmlformats.org/drawingml/2006/main">
            <a:pPr lvl="0"/>
            <a:r>
              <a:rPr lang="en-US" b="1"/>
              <a:t>Fail closed</a:t>
            </a:r>
            <a:r>
              <a:rPr lang="en-US"/>
              <a:t> — if the graph doesn't have the answer, the agent should say so, not guess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deck-6f2c32b1ed8d</m2p:deckId>
        <m2p:slideId>response-validation-strategies</m2p:slideId>
        <m2p:title>Response validation strategies</m2p:title>
        <m2p:hash>sha256:565a8cd78a52ad4d916a1b8bb6c7ffc77d1f698467c86b5f36c687880d16351a</m2p:hash>
        <m2p:sourceSlide>module-05-slides.md#slide-5</m2p:sourceSlide>
        <m2p:generatorVersion>1.0.0.0</m2p:generatorVersion>
        <m2p:layoutRef>Main Content : Title + Text Box</m2p:layoutRef>
        <m2p:templateRef>EMFCC26_SpeakerPPT_TemplateA_Styled_Accessibility Review_Updated_11Aug.pptx</m2p:templateRef>
      </m2p:meta>
    </p:ext>
  </p:extLst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Topic 8 — Trust, transparency, and traceability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/>
            <a:r>
              <a:rPr lang="en-US"/>
              <a:t>An agent that can </a:t>
            </a:r>
            <a:r>
              <a:rPr lang="en-US" i="1"/>
              <a:t>act</a:t>
            </a:r>
            <a:r>
              <a:rPr lang="en-US"/>
              <a:t> (like </a:t>
            </a:r>
            <a:r>
              <a:rPr lang="en-US"/>
              <a:t>ColdChainOperationsAgent</a:t>
            </a:r>
            <a:r>
              <a:rPr lang="en-US"/>
              <a:t>) needs more than a good answer — it needs an </a:t>
            </a:r>
            <a:r>
              <a:rPr lang="en-US" b="1"/>
              <a:t>audit trail</a:t>
            </a:r>
            <a:endParaRPr lang="en-US"/>
          </a:p>
          <a:p xmlns:a="http://schemas.openxmlformats.org/drawingml/2006/main">
            <a:pPr lvl="1"/>
            <a:r>
              <a:rPr lang="en-US" b="1"/>
              <a:t>What</a:t>
            </a:r>
            <a:r>
              <a:rPr lang="en-US"/>
              <a:t> triggered this action?</a:t>
            </a:r>
            <a:endParaRPr lang="en-US"/>
          </a:p>
          <a:p xmlns:a="http://schemas.openxmlformats.org/drawingml/2006/main">
            <a:pPr lvl="1"/>
            <a:r>
              <a:rPr lang="en-US" b="1"/>
              <a:t>Which entity</a:t>
            </a:r>
            <a:r>
              <a:rPr lang="en-US"/>
              <a:t> was it about?</a:t>
            </a:r>
            <a:endParaRPr lang="en-US"/>
          </a:p>
          <a:p xmlns:a="http://schemas.openxmlformats.org/drawingml/2006/main">
            <a:pPr lvl="1"/>
            <a:r>
              <a:rPr lang="en-US" b="1"/>
              <a:t>What data</a:t>
            </a:r>
            <a:r>
              <a:rPr lang="en-US"/>
              <a:t> was the decision based on?</a:t>
            </a:r>
            <a:endParaRPr lang="en-US"/>
          </a:p>
          <a:p xmlns:a="http://schemas.openxmlformats.org/drawingml/2006/main">
            <a:pPr lvl="0"/>
            <a:r>
              <a:rPr lang="en-US"/>
              <a:t>Three questions every stakeholder will ask after an incident:</a:t>
            </a:r>
            <a:endParaRPr lang="en-US"/>
          </a:p>
          <a:p xmlns:a="http://schemas.openxmlformats.org/drawingml/2006/main">
            <a:pPr lvl="0"/>
            <a:r>
              <a:rPr lang="en-US"/>
              <a:t>Ontology grounding makes all three answerable by design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deck-6f2c32b1ed8d</m2p:deckId>
        <m2p:slideId>topic-8-trust-transparency-and-traceability</m2p:slideId>
        <m2p:title>Topic 8 — Trust, transparency, and traceability</m2p:title>
        <m2p:hash>sha256:019b3bec629efeb5a02d57090d16fb9410e1e122c284934c21a176e7c0823e8d</m2p:hash>
        <m2p:sourceSlide>module-05-slides.md#slide-6</m2p:sourceSlide>
        <m2p:generatorVersion>1.0.0.0</m2p:generatorVersion>
        <m2p:layoutRef>Main Content : Title + Text Box</m2p:layoutRef>
        <m2p:templateRef>EMFCC26_SpeakerPPT_TemplateA_Styled_Accessibility Review_Updated_11Aug.pptx</m2p:templateRef>
      </m2p:meta>
    </p:ext>
  </p:extLst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Case study: tracing "Freezer running warm"</a:t>
            </a:r>
            <a:endParaRPr lang="en-US"/>
          </a:p>
        </p:txBody>
      </p:sp>
      <p:sp>
        <p:nvSpPr>
          <p:cNvPr id="3" name="Code (text)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8" y="2005263"/>
            <a:ext cx="5213433" cy="38846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solidFill>
              <a:srgbClr val="0F766E"/>
            </a:solidFill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r>
              <a:rPr lang="en-US" sz="1215" b="0">
                <a:solidFill>
                  <a:srgbClr val="F8FAFC"/>
                </a:solidFill>
                <a:latin typeface="Cascadia Mono"/>
              </a:rPr>
              <a:t>FreezerTelemetryEnriched.TemperatureC crosses ~-12°C, sustained</a:t>
            </a:r>
            <a:endParaRPr lang="en-US" sz="1215"/>
          </a:p>
          <a:p xmlns:a="http://schemas.openxmlformats.org/drawingml/2006/main">
            <a:r>
              <a:rPr lang="en-US" sz="1215" b="0">
                <a:solidFill>
                  <a:srgbClr val="F8FAFC"/>
                </a:solidFill>
                <a:latin typeface="Cascadia Mono"/>
              </a:rPr>
              <a:t>        │</a:t>
            </a:r>
            <a:endParaRPr lang="en-US" sz="1215"/>
          </a:p>
          <a:p xmlns:a="http://schemas.openxmlformats.org/drawingml/2006/main">
            <a:r>
              <a:rPr lang="en-US" sz="1215" b="0">
                <a:solidFill>
                  <a:srgbClr val="F8FAFC"/>
                </a:solidFill>
                <a:latin typeface="Cascadia Mono"/>
              </a:rPr>
              <a:t>        ▼</a:t>
            </a:r>
            <a:endParaRPr lang="en-US" sz="1215"/>
          </a:p>
          <a:p xmlns:a="http://schemas.openxmlformats.org/drawingml/2006/main">
            <a:r>
              <a:rPr lang="en-US" sz="1215" b="0">
                <a:solidFill>
                  <a:srgbClr val="F8FAFC"/>
                </a:solidFill>
                <a:latin typeface="Cascadia Mono"/>
              </a:rPr>
              <a:t>Activator Ontology Rule "Freezer running warm" fires</a:t>
            </a:r>
            <a:endParaRPr lang="en-US" sz="1215"/>
          </a:p>
          <a:p xmlns:a="http://schemas.openxmlformats.org/drawingml/2006/main">
            <a:r>
              <a:rPr lang="en-US" sz="1215" b="0">
                <a:solidFill>
                  <a:srgbClr val="F8FAFC"/>
                </a:solidFill>
                <a:latin typeface="Cascadia Mono"/>
              </a:rPr>
              <a:t>        │  (bound to entity: Freezer FZ-118, via ColdChainOntology)</a:t>
            </a:r>
            <a:endParaRPr lang="en-US" sz="1215"/>
          </a:p>
          <a:p xmlns:a="http://schemas.openxmlformats.org/drawingml/2006/main">
            <a:r>
              <a:rPr lang="en-US" sz="1215" b="0">
                <a:solidFill>
                  <a:srgbClr val="F8FAFC"/>
                </a:solidFill>
                <a:latin typeface="Cascadia Mono"/>
              </a:rPr>
              <a:t>        ▼</a:t>
            </a:r>
            <a:endParaRPr lang="en-US" sz="1215"/>
          </a:p>
          <a:p xmlns:a="http://schemas.openxmlformats.org/drawingml/2006/main">
            <a:r>
              <a:rPr lang="en-US" sz="1215" b="0">
                <a:solidFill>
                  <a:srgbClr val="F8FAFC"/>
                </a:solidFill>
                <a:latin typeface="Cascadia Mono"/>
              </a:rPr>
              <a:t>ColdChainOperationsAgent notified / acts</a:t>
            </a:r>
            <a:endParaRPr lang="en-US" sz="1215"/>
          </a:p>
          <a:p xmlns:a="http://schemas.openxmlformats.org/drawingml/2006/main">
            <a:r>
              <a:rPr lang="en-US" sz="1215" b="0">
                <a:solidFill>
                  <a:srgbClr val="F8FAFC"/>
                </a:solidFill>
                <a:latin typeface="Cascadia Mono"/>
              </a:rPr>
              <a:t>        │</a:t>
            </a:r>
            <a:endParaRPr lang="en-US" sz="1215"/>
          </a:p>
          <a:p xmlns:a="http://schemas.openxmlformats.org/drawingml/2006/main">
            <a:r>
              <a:rPr lang="en-US" sz="1215" b="0">
                <a:solidFill>
                  <a:srgbClr val="F8FAFC"/>
                </a:solidFill>
                <a:latin typeface="Cascadia Mono"/>
              </a:rPr>
              <a:t>        ▼</a:t>
            </a:r>
            <a:endParaRPr lang="en-US" sz="1215"/>
          </a:p>
          <a:p xmlns:a="http://schemas.openxmlformats.org/drawingml/2006/main">
            <a:r>
              <a:rPr lang="en-US" sz="1215" b="0">
                <a:solidFill>
                  <a:srgbClr val="F8FAFC"/>
                </a:solidFill>
                <a:latin typeface="Cascadia Mono"/>
              </a:rPr>
              <a:t>Audit trail: rule name, entity instance, triggering readings,</a:t>
            </a:r>
            <a:endParaRPr lang="en-US" sz="1215"/>
          </a:p>
          <a:p xmlns:a="http://schemas.openxmlformats.org/drawingml/2006/main">
            <a:r>
              <a:rPr lang="en-US" sz="1215" b="0">
                <a:solidFill>
                  <a:srgbClr val="F8FAFC"/>
                </a:solidFill>
                <a:latin typeface="Cascadia Mono"/>
              </a:rPr>
              <a:t>             Store + Customer context — all traceable, end to end</a:t>
            </a:r>
            <a:endParaRPr lang="en-US" sz="1215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deck-6f2c32b1ed8d</m2p:deckId>
        <m2p:slideId>case-study-tracing-freezer-running-warm</m2p:slideId>
        <m2p:title>Case study: tracing "Freezer running warm"</m2p:title>
        <m2p:hash>sha256:cf1a3d6de455436d94d21dcc737c3c15331668145b3d88c6c6fe8071342305a7</m2p:hash>
        <m2p:sourceSlide>module-05-slides.md#slide-7</m2p:sourceSlide>
        <m2p:generatorVersion>1.0.0.0</m2p:generatorVersion>
        <m2p:layoutRef>Main Content : Title + Visual Data</m2p:layoutRef>
        <m2p:templateRef>EMFCC26_SpeakerPPT_TemplateA_Styled_Accessibility Review_Updated_11Aug.pptx</m2p:templateRef>
      </m2p:meta>
    </p:ext>
  </p:extLst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Why this matters operationally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/>
            <a:r>
              <a:rPr lang="en-US"/>
              <a:t>A manager asking </a:t>
            </a:r>
            <a:r>
              <a:rPr lang="en-US" i="1"/>
              <a:t>"why did this fire?"</a:t>
            </a:r>
            <a:r>
              <a:rPr lang="en-US"/>
              <a:t> gets a real answer, not a log line with a sensor ID</a:t>
            </a:r>
            <a:endParaRPr lang="en-US"/>
          </a:p>
          <a:p xmlns:a="http://schemas.openxmlformats.org/drawingml/2006/main">
            <a:pPr lvl="0"/>
            <a:r>
              <a:rPr lang="en-US"/>
              <a:t>Compliance/audit reviews can replay </a:t>
            </a:r>
            <a:r>
              <a:rPr lang="en-US" b="1"/>
              <a:t>which entity, which rule, which underlying reading</a:t>
            </a:r>
            <a:r>
              <a:rPr lang="en-US"/>
              <a:t> caused an action</a:t>
            </a:r>
            <a:endParaRPr lang="en-US"/>
          </a:p>
          <a:p xmlns:a="http://schemas.openxmlformats.org/drawingml/2006/main">
            <a:pPr lvl="0"/>
            <a:r>
              <a:rPr lang="en-US"/>
              <a:t>Trust compounds: once one traced incident checks out, the room trusts the next ten</a:t>
            </a:r>
            <a:endParaRPr lang="en-US"/>
          </a:p>
          <a:p xmlns:a="http://schemas.openxmlformats.org/drawingml/2006/main">
            <a:pPr lvl="0"/>
            <a:r>
              <a:rPr lang="en-US"/>
              <a:t>This is the difference between an agent you </a:t>
            </a:r>
            <a:r>
              <a:rPr lang="en-US" b="1"/>
              <a:t>monitor</a:t>
            </a:r>
            <a:r>
              <a:rPr lang="en-US"/>
              <a:t> and one you </a:t>
            </a:r>
            <a:r>
              <a:rPr lang="en-US" b="1"/>
              <a:t>rely on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deck-6f2c32b1ed8d</m2p:deckId>
        <m2p:slideId>why-this-matters-operationally</m2p:slideId>
        <m2p:title>Why this matters operationally</m2p:title>
        <m2p:hash>sha256:8b3eee91e3b4e5fad60740c141fe115ed983df8a32a065d911266f04a9084700</m2p:hash>
        <m2p:sourceSlide>module-05-slides.md#slide-8</m2p:sourceSlide>
        <m2p:generatorVersion>1.0.0.0</m2p:generatorVersion>
        <m2p:layoutRef>Main Content : Title + Text Box</m2p:layoutRef>
        <m2p:templateRef>EMFCC26_SpeakerPPT_TemplateA_Styled_Accessibility Review_Updated_11Aug.pptx</m2p:templateRef>
      </m2p:meta>
    </p:ext>
  </p:extLst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Bringing it together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/>
            <a:r>
              <a:rPr lang="en-US"/>
              <a:t>Grounding (Topic 7) prevents the agent from saying something false</a:t>
            </a:r>
            <a:endParaRPr lang="en-US"/>
          </a:p>
          <a:p xmlns:a="http://schemas.openxmlformats.org/drawingml/2006/main">
            <a:pPr lvl="0"/>
            <a:r>
              <a:rPr lang="en-US"/>
              <a:t>Traceability (Topic 8) lets you prove </a:t>
            </a:r>
            <a:r>
              <a:rPr lang="en-US" i="1"/>
              <a:t>why</a:t>
            </a:r>
            <a:r>
              <a:rPr lang="en-US"/>
              <a:t> it said or did something true</a:t>
            </a:r>
            <a:endParaRPr lang="en-US"/>
          </a:p>
          <a:p xmlns:a="http://schemas.openxmlformats.org/drawingml/2006/main">
            <a:pPr lvl="0"/>
            <a:r>
              <a:rPr lang="en-US"/>
              <a:t>Both come from the same source: the ontology graph built in Module 03</a:t>
            </a:r>
            <a:endParaRPr lang="en-US"/>
          </a:p>
          <a:p xmlns:a="http://schemas.openxmlformats.org/drawingml/2006/main">
            <a:pPr lvl="0"/>
            <a:r>
              <a:rPr lang="en-US"/>
              <a:t>Everything downstream — Data Agent answers, Operations Agent actions — inherits this for free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deck-6f2c32b1ed8d</m2p:deckId>
        <m2p:slideId>bringing-it-together</m2p:slideId>
        <m2p:title>Bringing it together</m2p:title>
        <m2p:hash>sha256:676c7b7b4715ae61afe95b47b0a896f0bb13af4a3004bec6ee8a0d7ac3b4f8af</m2p:hash>
        <m2p:sourceSlide>module-05-slides.md#slide-9</m2p:sourceSlide>
        <m2p:generatorVersion>1.0.0.0</m2p:generatorVersion>
        <m2p:layoutRef>Main Content : Title + Text Box</m2p:layoutRef>
        <m2p:templateRef>EMFCC26_SpeakerPPT_TemplateA_Styled_Accessibility Review_Updated_11Aug.pptx</m2p:templateRef>
      </m2p:meta>
    </p:ext>
  </p:extLst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ntent Placeholder"/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 b="1"/>
              <a:t>Hands-on lab</a:t>
            </a:r>
            <a:endParaRPr lang="en-US"/>
          </a:p>
          <a:p xmlns:a="http://schemas.openxmlformats.org/drawingml/2006/main">
            <a:pPr>
              <a:buNone/>
            </a:pPr>
            <a:r>
              <a:rPr lang="en-US" b="1"/>
              <a:t>Lab 05 — Prompting, trust &amp; traceability</a:t>
            </a:r>
            <a:endParaRPr lang="en-US"/>
          </a:p>
          <a:p xmlns:a="http://schemas.openxmlformats.org/drawingml/2006/main">
            <a:pPr lvl="0"/>
            <a:r>
              <a:rPr lang="en-US"/>
              <a:t>Ask </a:t>
            </a:r>
            <a:r>
              <a:rPr lang="en-US"/>
              <a:t>ColdChainDataAgent</a:t>
            </a:r>
            <a:r>
              <a:rPr lang="en-US"/>
              <a:t> a question and inspect which entities/properties it cited</a:t>
            </a:r>
            <a:endParaRPr lang="en-US"/>
          </a:p>
          <a:p xmlns:a="http://schemas.openxmlformats.org/drawingml/2006/main">
            <a:pPr lvl="0"/>
            <a:r>
              <a:rPr lang="en-US"/>
              <a:t>Trace a fired "Freezer running warm" event back to its source reading</a:t>
            </a:r>
            <a:endParaRPr lang="en-US"/>
          </a:p>
          <a:p xmlns:a="http://schemas.openxmlformats.org/drawingml/2006/main">
            <a:pPr>
              <a:buNone/>
            </a:pPr>
            <a:r>
              <a:rPr lang="en-US"/>
              <a:t>📄 </a:t>
            </a:r>
            <a:r>
              <a:rPr lang="en-US"/>
              <a:t>modules/module-05-prompting-trust-traceability/lab-05-validate-and-audit-agent-responses.md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deck-6f2c32b1ed8d</m2p:deckId>
        <m2p:slideId>hands-on-lab</m2p:slideId>
        <m2p:title>Hands-on lab</m2p:title>
        <m2p:hash>sha256:42f88994e9ffcd2800c60873454c1e6b6d1572b2ece10aa2cab9bc82d5f47fee</m2p:hash>
        <m2p:sourceSlide>module-05-slides.md#slide-10</m2p:sourceSlide>
        <m2p:generatorVersion>1.0.0.0</m2p:generatorVersion>
        <m2p:layoutRef>Section Break Slide</m2p:layoutRef>
        <m2p:templateRef>EMFCC26_SpeakerPPT_TemplateA_Styled_Accessibility Review_Updated_11Aug.pptx</m2p:templateRef>
      </m2p:meta>
    </p:ext>
  </p:extLst>
</p:sld>
</file>

<file path=ppt/theme/theme1.xml><?xml version="1.0" encoding="utf-8"?>
<a:theme xmlns:thm15="http://schemas.microsoft.com/office/thememl/2012/main" xmlns:a="http://schemas.openxmlformats.org/drawingml/2006/main" name="Splash Scree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itl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ai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 anchor="t">
        <a:spAutoFit/>
      </a:bodyPr>
      <a:lstStyle>
        <a:defPPr algn="l">
          <a:defRPr sz="2400" dirty="0">
            <a:latin typeface="Calibri Light" charset="0"/>
            <a:ea typeface="Calibri Light" charset="0"/>
            <a:cs typeface="Calibri Light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End Scree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21fbb9a-23db-4311-a69c-34622b264696">
      <Terms xmlns="http://schemas.microsoft.com/office/infopath/2007/PartnerControls"/>
    </lcf76f155ced4ddcb4097134ff3c332f>
    <TaxCatchAll xmlns="1b3b1065-ae42-4d8a-aa8c-0a73a17faba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051F54D7AD26C459333D1AFF09839BE" ma:contentTypeVersion="14" ma:contentTypeDescription="Create a new document." ma:contentTypeScope="" ma:versionID="267f41264e04a5c3ada0074a8fd340dc">
  <xsd:schema xmlns:xsd="http://www.w3.org/2001/XMLSchema" xmlns:xs="http://www.w3.org/2001/XMLSchema" xmlns:p="http://schemas.microsoft.com/office/2006/metadata/properties" xmlns:ns2="221fbb9a-23db-4311-a69c-34622b264696" xmlns:ns3="1b3b1065-ae42-4d8a-aa8c-0a73a17faba8" targetNamespace="http://schemas.microsoft.com/office/2006/metadata/properties" ma:root="true" ma:fieldsID="b5806782e6246c3a79c8d8c00ea8f5e6" ns2:_="" ns3:_="">
    <xsd:import namespace="221fbb9a-23db-4311-a69c-34622b264696"/>
    <xsd:import namespace="1b3b1065-ae42-4d8a-aa8c-0a73a17fab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1fbb9a-23db-4311-a69c-34622b2646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d530a17-84a2-4d03-b447-f9955f42fe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3b1065-ae42-4d8a-aa8c-0a73a17faba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72881c0-9f09-48c0-b71c-fddfa2680fd3}" ma:internalName="TaxCatchAll" ma:showField="CatchAllData" ma:web="1b3b1065-ae42-4d8a-aa8c-0a73a17faba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7D26BB1-7F1F-46F1-8F3C-0C47CE043432}">
  <ds:schemaRefs>
    <ds:schemaRef ds:uri="221fbb9a-23db-4311-a69c-34622b264696"/>
    <ds:schemaRef ds:uri="http://purl.org/dc/dcmitype/"/>
    <ds:schemaRef ds:uri="http://purl.org/dc/terms/"/>
    <ds:schemaRef ds:uri="http://schemas.microsoft.com/office/2006/metadata/properties"/>
    <ds:schemaRef ds:uri="1b3b1065-ae42-4d8a-aa8c-0a73a17faba8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5E38309D-794A-4787-9F1D-A760486AD1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21fbb9a-23db-4311-a69c-34622b264696"/>
    <ds:schemaRef ds:uri="1b3b1065-ae42-4d8a-aa8c-0a73a17fab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C157E49-3C57-4281-B896-98EEEB20EAB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:vt="http://schemas.openxmlformats.org/officeDocument/2006/docPropsVTypes" xmlns="http://schemas.openxmlformats.org/officeDocument/2006/extended-properties">
  <TotalTime>0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Aptos</vt:lpstr>
      <vt:lpstr>Aptos Display</vt:lpstr>
      <vt:lpstr>MarpToPptx Theme</vt:lpstr>
      <vt:lpstr>Module 05</vt:lpstr>
      <vt:lpstr>Learning objectives</vt:lpstr>
      <vt:lpstr>Topic 7 — Prompting, grounding, and response validation</vt:lpstr>
      <vt:lpstr>Grounded agent vs. free-form LLM</vt:lpstr>
      <vt:lpstr>Response validation strategies</vt:lpstr>
      <vt:lpstr>Topic 8 — Trust, transparency, and traceability</vt:lpstr>
      <vt:lpstr>Case study: tracing "Freezer running warm"</vt:lpstr>
      <vt:lpstr>Why this matters operationally</vt:lpstr>
      <vt:lpstr>Bringing it together</vt:lpstr>
      <vt:lpstr>Hands-on lab</vt:lpstr>
    </vt:vector>
  </TitlesOfParts>
  <Company>Created by MarpToPptx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05</dc:title>
  <dc:subject>PowerPoint Presentation</dc:subject>
  <dc:creator>MarpToPptx</dc:creator>
  <cp:lastModifiedBy>MarpToPptx</cp:lastModifiedBy>
  <cp:revision>1</cp:revision>
  <dcterms:created xsi:type="dcterms:W3CDTF">2026-09-06T19:09:22Z</dcterms:created>
  <dcterms:modified xsi:type="dcterms:W3CDTF">2026-09-06T19:09:22Z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0x010100A051F54D7AD26C459333D1AFF09839BE</vt:lpwstr>
  </property>
</Properties>
</file>
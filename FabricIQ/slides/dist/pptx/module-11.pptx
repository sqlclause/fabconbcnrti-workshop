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41.xml" ContentType="application/vnd.openxmlformats-officedocument.presentationml.slide+xml"/>
  <Override PartName="/ppt/slides/slide39.xml" ContentType="application/vnd.openxmlformats-officedocument.presentationml.slide+xml"/>
  <Override PartName="/ppt/slides/slide37.xml" ContentType="application/vnd.openxmlformats-officedocument.presentationml.slide+xml"/>
  <Override PartName="/ppt/slides/slide35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4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8" r:id="rId4"/>
    <p:sldMasterId id="2147483680" r:id="rId5"/>
    <p:sldMasterId id="2147483682" r:id="rId6"/>
    <p:sldMasterId id="2147483684" r:id="rId7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B44"/>
    <a:srgbClr val="007864"/>
    <a:srgbClr val="013F34"/>
    <a:srgbClr val="BCA045"/>
    <a:srgbClr val="FFC300"/>
    <a:srgbClr val="F4F4F4"/>
    <a:srgbClr val="002C4C"/>
    <a:srgbClr val="FF4713"/>
    <a:srgbClr val="D0DBFF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A60C5-3AC7-2D4E-951A-6654EB0F1546}" v="2" dt="2026-08-11T14:48:25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viewPr xmlns:a="http://schemas.openxmlformats.org/drawingml/2006/main" xmlns:r="http://schemas.openxmlformats.org/officeDocument/2006/relationships" xmlns="http://schemas.openxmlformats.org/presentationml/2006/main">
  <normalViewPr horzBarState="maximized">
    <restoredLeft sz="15611"/>
    <restoredTop sz="94610"/>
  </normalViewPr>
  <slideViewPr>
    <cSldViewPr snapToGrid="0" snapToObjects="1">
      <cViewPr varScale="1">
        <scale>
          <a:sx n="136" d="100"/>
          <a:sy n="136" d="100"/>
        </scale>
        <origin x="216" y="312"/>
      </cViewPr>
      <guideLst/>
    </cSldViewPr>
  </slideViewPr>
  <notesTextViewPr>
    <cViewPr>
      <scale>
        <a:sx n="1" d="1"/>
        <a:sy n="1" d="1"/>
      </scale>
      <origin x="0" y="0"/>
    </cViewPr>
  </notesTextViewPr>
  <gridSpacing cx="76200" cy="76200"/>
</viewPr>
</file>

<file path=ppt/_rels/presentation.xml.rels>&#65279;<?xml version="1.0" encoding="utf-8"?>
<Relationships xmlns="http://schemas.openxmlformats.org/package/2006/relationships">
  <Relationship Type="http://schemas.openxmlformats.org/officeDocument/2006/relationships/theme" Target="theme/theme1.xml" Id="rId26" />
  <Relationship Type="http://schemas.openxmlformats.org/officeDocument/2006/relationships/customXml" Target="../customXml/item3.xml" Id="rId3" />
  <Relationship Type="http://schemas.openxmlformats.org/officeDocument/2006/relationships/slideMaster" Target="slideMasters/slideMaster4.xml" Id="rId7" />
  <Relationship Type="http://schemas.openxmlformats.org/officeDocument/2006/relationships/viewProps" Target="viewProps.xml" Id="rId25" />
  <Relationship Type="http://schemas.openxmlformats.org/officeDocument/2006/relationships/customXml" Target="../customXml/item2.xml" Id="rId2" />
  <Relationship Type="http://schemas.microsoft.com/office/2018/10/relationships/authors" Target="authors.xml" Id="rId29" />
  <Relationship Type="http://schemas.openxmlformats.org/officeDocument/2006/relationships/customXml" Target="../customXml/item1.xml" Id="rId1" />
  <Relationship Type="http://schemas.openxmlformats.org/officeDocument/2006/relationships/slideMaster" Target="slideMasters/slideMaster3.xml" Id="rId6" />
  <Relationship Type="http://schemas.openxmlformats.org/officeDocument/2006/relationships/presProps" Target="presProps.xml" Id="rId24" />
  <Relationship Type="http://schemas.openxmlformats.org/officeDocument/2006/relationships/slideMaster" Target="slideMasters/slideMaster2.xml" Id="rId5" />
  <Relationship Type="http://schemas.openxmlformats.org/officeDocument/2006/relationships/commentAuthors" Target="commentAuthors.xml" Id="rId23" />
  <Relationship Type="http://schemas.microsoft.com/office/2015/10/relationships/revisionInfo" Target="revisionInfo.xml" Id="rId28" />
  <Relationship Type="http://schemas.openxmlformats.org/officeDocument/2006/relationships/slideMaster" Target="slideMasters/slideMaster1.xml" Id="rId4" />
  <Relationship Type="http://schemas.openxmlformats.org/officeDocument/2006/relationships/notesMaster" Target="notesMasters/notesMaster1.xml" Id="rId22" />
  <Relationship Type="http://schemas.openxmlformats.org/officeDocument/2006/relationships/tableStyles" Target="tableStyles.xml" Id="rId27" />
  <Relationship Type="http://schemas.openxmlformats.org/officeDocument/2006/relationships/slide" Target="slides/slide29.xml" Id="rId8" />
  <Relationship Type="http://schemas.openxmlformats.org/officeDocument/2006/relationships/slide" Target="slides/slide30.xml" Id="rId9" />
  <Relationship Type="http://schemas.openxmlformats.org/officeDocument/2006/relationships/slide" Target="slides/slide31.xml" Id="rId10" />
  <Relationship Type="http://schemas.openxmlformats.org/officeDocument/2006/relationships/slide" Target="slides/slide32.xml" Id="rId11" />
  <Relationship Type="http://schemas.openxmlformats.org/officeDocument/2006/relationships/slide" Target="slides/slide33.xml" Id="rId12" />
  <Relationship Type="http://schemas.openxmlformats.org/officeDocument/2006/relationships/slide" Target="slides/slide34.xml" Id="rId13" />
  <Relationship Type="http://schemas.openxmlformats.org/officeDocument/2006/relationships/slide" Target="slides/slide35.xml" Id="rId14" />
  <Relationship Type="http://schemas.openxmlformats.org/officeDocument/2006/relationships/slide" Target="slides/slide36.xml" Id="rId15" />
  <Relationship Type="http://schemas.openxmlformats.org/officeDocument/2006/relationships/slide" Target="slides/slide37.xml" Id="rId16" />
  <Relationship Type="http://schemas.openxmlformats.org/officeDocument/2006/relationships/slide" Target="slides/slide38.xml" Id="rId17" />
  <Relationship Type="http://schemas.openxmlformats.org/officeDocument/2006/relationships/slide" Target="slides/slide39.xml" Id="rId18" />
  <Relationship Type="http://schemas.openxmlformats.org/officeDocument/2006/relationships/slide" Target="slides/slide40.xml" Id="rId19" />
  <Relationship Type="http://schemas.openxmlformats.org/officeDocument/2006/relationships/slide" Target="slides/slide41.xml" Id="rId20" 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4B101-3225-4967-95B5-ED5755256DE0}" type="datetimeFigureOut">
              <a:rPr lang="en-GB" smtClean="0"/>
              <a:t>11/08/2026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8C794-77EE-4724-B493-2E0907BFA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2318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ash Sc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31249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Section Break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1E24DE-EFB1-0B46-A1A5-D4A0F86E2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7938" y="1628799"/>
            <a:ext cx="10764252" cy="3857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E2FF"/>
                </a:solidFill>
              </a:defRPr>
            </a:lvl2pPr>
            <a:lvl3pPr>
              <a:defRPr>
                <a:solidFill>
                  <a:srgbClr val="00E2FF"/>
                </a:solidFill>
              </a:defRPr>
            </a:lvl3pPr>
            <a:lvl4pPr>
              <a:defRPr>
                <a:solidFill>
                  <a:srgbClr val="00E2FF"/>
                </a:solidFill>
              </a:defRPr>
            </a:lvl4pPr>
            <a:lvl5pPr>
              <a:defRPr>
                <a:solidFill>
                  <a:srgbClr val="00E2FF"/>
                </a:solidFill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31539201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8732350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Main Content : Title +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10747375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5159803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9175194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Dual Text Box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7A50152-6AF0-CB4C-8223-B92B04D8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1E510EF-336A-D249-A32C-A6F043A3B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8188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DB5CA4-F374-B64C-81F3-7E6BC95041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72597" y="1700213"/>
            <a:ext cx="5143128" cy="42354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0593789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C0C7565-66F8-5E4F-BC70-B52629A037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36600" y="736600"/>
            <a:ext cx="10793413" cy="51958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6598798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417581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- Dark BKG : Title +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A54FBFB0-DCDC-C848-901F-75B727D01B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BCA04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E6537CD3-4D9A-184F-8D06-E1B8E2D903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38188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DC03047F-22E2-5B43-86A2-7583C9DB3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57913" y="757238"/>
            <a:ext cx="5372100" cy="52006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442111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Visual Data +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1C79D75D-1604-BB44-B1C9-298036D703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6264" y="798262"/>
            <a:ext cx="5204111" cy="104657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005221B5-9309-224F-87A9-A3D8D99384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76462" y="2005263"/>
            <a:ext cx="5213433" cy="3930399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757238"/>
            <a:ext cx="5243512" cy="52006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04484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Main Content : Title + Dual Visual Dat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FDD66AF7-F6A9-AC40-9D50-9BAAC73B38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2951" y="1885950"/>
            <a:ext cx="5100637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AD4D50A4-B734-AD41-8654-79DC681E4E1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7913" y="1885950"/>
            <a:ext cx="5372100" cy="407193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0">
            <a:extLst>
              <a:ext uri="{FF2B5EF4-FFF2-40B4-BE49-F238E27FC236}">
                <a16:creationId xmlns:a16="http://schemas.microsoft.com/office/drawing/2014/main" id="{9ECF72A8-B638-3842-8B60-7DFC3C6C0C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990" y="798263"/>
            <a:ext cx="10728157" cy="725738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13F3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2732109"/>
      </p:ext>
    </p:extLst>
  </p:cSld>
  <p:clrMapOvr>
    <a:masterClrMapping/>
  </p:clrMapOvr>
</p:sldLayout>
</file>

<file path=ppt/slideLayouts/slideLayout12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Dark Content (White Background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90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image" Target="../media/image3.jpg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765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917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8291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2" r:id="rId2"/>
    <p:sldLayoutId id="2147483689" r:id="rId3"/>
    <p:sldLayoutId id="2147483693" r:id="rId4"/>
    <p:sldLayoutId id="2147483686" r:id="rId5"/>
    <p:sldLayoutId id="2147483687" r:id="rId6"/>
    <p:sldLayoutId id="2147483694" r:id="rId7"/>
    <p:sldLayoutId id="2147483688" r:id="rId8"/>
    <p:sldLayoutId id="214748369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1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&#65279;<?xml version="1.0" encoding="utf-8"?>
<Relationships xmlns="http://schemas.openxmlformats.org/package/2006/relationships">
  <Relationship Type="http://schemas.openxmlformats.org/officeDocument/2006/relationships/image" Target="../media/image2.jpg" Id="rId3" />
  <Relationship Type="http://schemas.openxmlformats.org/officeDocument/2006/relationships/slideLayout" Target="../slideLayouts/slideLayout2.xml" Id="rId1" />
</Relationships>
</file>

<file path=ppt/slides/_rels/slide3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2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3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4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5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6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7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38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39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8.xml" Id="rId1" />
</Relationships>
</file>

<file path=ppt/slides/_rels/slide40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3.xml" Id="rId1" />
</Relationships>
</file>

<file path=ppt/slides/_rels/slide41.xml.rels>&#65279;<?xml version="1.0" encoding="utf-8"?>
<Relationships xmlns="http://schemas.openxmlformats.org/package/2006/relationships">
  <Relationship Type="http://schemas.openxmlformats.org/officeDocument/2006/relationships/slideLayout" Target="../slideLayouts/slideLayout2.xml" Id="rId1" />
</Relationships>
</file>

<file path=ppt/slides/slide29.xml><?xml version="1.0" encoding="utf-8"?>
<p:sld xmlns:a16="http://schemas.microsoft.com/office/drawing/2014/main" xmlns:adec="http://schemas.microsoft.com/office/drawing/2017/decorative" xmlns:p14="http://schemas.microsoft.com/office/powerpoint/2010/main" xmlns:m2p="urn:marptopptx:metadata"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0CC446-2BE1-533C-6F9A-2CADE0533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79919"/>
          </a:xfrm>
          <a:prstGeom prst="rect">
            <a:avLst/>
          </a:prstGeom>
          <a:solidFill>
            <a:srgbClr val="BCA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Ontology design essentials for operational AI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FE7F2-7594-C345-99E2-801E68C39C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925891" y="1396314"/>
            <a:ext cx="8011886" cy="14465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Calibri Light" charset="0"/>
                <a:cs typeface="Arial" panose="020B0604020202020204" pitchFamily="34" charset="0"/>
              </a:rPr>
              <a:t>Module 03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EEEF1E-D858-9C47-9A95-2D236BFD2F31}"/>
              </a:ext>
            </a:extLst>
          </p:cNvPr>
          <p:cNvSpPr txBox="1"/>
          <p:nvPr/>
        </p:nvSpPr>
        <p:spPr>
          <a:xfrm>
            <a:off x="3925891" y="4302696"/>
            <a:ext cx="8011886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3891A-AA58-D14F-909B-BF581581CD69}"/>
              </a:ext>
            </a:extLst>
          </p:cNvPr>
          <p:cNvSpPr txBox="1"/>
          <p:nvPr/>
        </p:nvSpPr>
        <p:spPr>
          <a:xfrm>
            <a:off x="3925891" y="4918822"/>
            <a:ext cx="8011886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07F331A-088A-5E4B-ADDD-52C41D93C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1732130" y="1587834"/>
            <a:ext cx="1700881" cy="1700798"/>
          </a:xfrm>
          <a:prstGeom prst="rect">
            <a:avLst/>
          </a:prstGeom>
        </p:spPr>
        <p:txBody>
          <a:bodyPr/>
          <a:lstStyle/>
          <a:p>
            <a:endParaRPr 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F310C-2089-97AC-AE64-D6BB59BB61DA}"/>
              </a:ext>
            </a:extLst>
          </p:cNvPr>
          <p:cNvSpPr txBox="1"/>
          <p:nvPr/>
        </p:nvSpPr>
        <p:spPr>
          <a:xfrm>
            <a:off x="2777565" y="39904"/>
            <a:ext cx="663686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000" b="1" spc="100" dirty="0">
                <a:solidFill>
                  <a:srgbClr val="125B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Topic 5 — the core of this workshop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6711"/>
      </p:ext>
    </p:extLst>
  </p:cSld>
  <p:clrMapOvr>
    <a:masterClrMapping/>
  </p:clrMapOvr>
  <p:extLst>
    <p:ext uri="urn:marptopptx:slide-metadata">
      <m2p:meta xmlns:m2p="urn:marptopptx:metadata" version="2">
        <m2p:deckId>deck-21b835744dda</m2p:deckId>
        <m2p:slideId>module-03</m2p:slideId>
        <m2p:title>Module 03</m2p:title>
        <m2p:hash>sha256:f694fb4e3d55e3abe5a719ad58a49df63b1e27fcbaede2a480ae094719d354db</m2p:hash>
        <m2p:sourceSlide>module-03-slides.md#slide-1</m2p:sourceSlide>
        <m2p:generatorVersion>1.0.0.0</m2p:generatorVersion>
        <m2p:layoutRef>Template[3]</m2p:layoutRef>
        <m2p:templateRef>EMFCC26_SpeakerPPT_TemplateA_Styled_Accessibility Review_Updated_11Aug.pptx</m2p:templateRef>
      </m2p:meta>
    </p:ext>
  </p:extLst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Learning objectives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By the end of this module you can:</a:t>
            </a:r>
            <a:endParaRPr lang="en-US"/>
          </a:p>
          <a:p xmlns:a="http://schemas.openxmlformats.org/drawingml/2006/main">
            <a:pPr lvl="0"/>
            <a:r>
              <a:rPr lang="en-US"/>
              <a:t>Define entity type, property, and relationship in Fabric IQ's ontology model</a:t>
            </a:r>
            <a:endParaRPr lang="en-US"/>
          </a:p>
          <a:p xmlns:a="http://schemas.openxmlformats.org/drawingml/2006/main">
            <a:pPr lvl="0"/>
            <a:r>
              <a:rPr lang="en-US"/>
              <a:t>Explain how ontology binding works </a:t>
            </a:r>
            <a:r>
              <a:rPr lang="en-US" b="1"/>
              <a:t>without copying data</a:t>
            </a:r>
            <a:endParaRPr lang="en-US"/>
          </a:p>
          <a:p xmlns:a="http://schemas.openxmlformats.org/drawingml/2006/main">
            <a:pPr lvl="0"/>
            <a:r>
              <a:rPr lang="en-US"/>
              <a:t>Describe why the ontology graph is queryable, not just descriptive</a:t>
            </a:r>
            <a:endParaRPr lang="en-US"/>
          </a:p>
          <a:p xmlns:a="http://schemas.openxmlformats.org/drawingml/2006/main">
            <a:pPr lvl="0"/>
            <a:r>
              <a:rPr lang="en-US"/>
              <a:t>Walk through the design of </a:t>
            </a:r>
            <a:r>
              <a:rPr lang="en-US"/>
              <a:t>ColdChainOntology</a:t>
            </a:r>
            <a:r>
              <a:rPr lang="en-US"/>
              <a:t> end to end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learning-objectives</m2p:slideId>
        <m2p:title>Learning objectives</m2p:title>
        <m2p:hash>sha256:7ea3265141845bda6800b856b4cd2530715f7c6e2b061c6d4e636be718260325</m2p:hash>
        <m2p:sourceSlide>module-03-slides.md#slide-2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What is an ontology, here?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</a:t>
            </a:r>
            <a:r>
              <a:rPr lang="en-US" b="1"/>
              <a:t>business-language model</a:t>
            </a:r>
            <a:r>
              <a:rPr lang="en-US"/>
              <a:t> of the things that matter: Customers, Stores, Freezers</a:t>
            </a:r>
            <a:endParaRPr lang="en-US"/>
          </a:p>
          <a:p xmlns:a="http://schemas.openxmlformats.org/drawingml/2006/main">
            <a:pPr lvl="0"/>
            <a:r>
              <a:rPr lang="en-US"/>
              <a:t>It sits </a:t>
            </a:r>
            <a:r>
              <a:rPr lang="en-US" i="1"/>
              <a:t>above</a:t>
            </a:r>
            <a:r>
              <a:rPr lang="en-US"/>
              <a:t> the Lakehouse and Eventhouse tables from Module 02 — it doesn't replace them</a:t>
            </a:r>
            <a:endParaRPr lang="en-US"/>
          </a:p>
          <a:p xmlns:a="http://schemas.openxmlformats.org/drawingml/2006/main">
            <a:pPr lvl="1"/>
            <a:r>
              <a:rPr lang="en-US" b="1"/>
              <a:t>Entity type</a:t>
            </a:r>
            <a:r>
              <a:rPr lang="en-US"/>
              <a:t> — a kind of thing (</a:t>
            </a:r>
            <a:r>
              <a:rPr lang="en-US"/>
              <a:t>Freezer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1"/>
            <a:r>
              <a:rPr lang="en-US" b="1"/>
              <a:t>Property</a:t>
            </a:r>
            <a:r>
              <a:rPr lang="en-US"/>
              <a:t> — a fact about that thing (</a:t>
            </a:r>
            <a:r>
              <a:rPr lang="en-US"/>
              <a:t>TemperatureC</a:t>
            </a:r>
            <a:r>
              <a:rPr lang="en-US"/>
              <a:t>, </a:t>
            </a:r>
            <a:r>
              <a:rPr lang="en-US"/>
              <a:t>Model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1"/>
            <a:r>
              <a:rPr lang="en-US" b="1"/>
              <a:t>Relationship</a:t>
            </a:r>
            <a:r>
              <a:rPr lang="en-US"/>
              <a:t> — how entity types connect (</a:t>
            </a:r>
            <a:r>
              <a:rPr lang="en-US"/>
              <a:t>Store —has→ Freezer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0"/>
            <a:r>
              <a:rPr lang="en-US"/>
              <a:t>Three building blocks: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what-is-an-ontology-here</m2p:slideId>
        <m2p:title>What is an ontology, here?</m2p:title>
        <m2p:hash>sha256:19cdbaa65e346f0275f9ae76081d24fd544b6e4497ddcbb9a38de926c8139190</m2p:hash>
        <m2p:sourceSlide>module-03-slides.md#slide-3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Entity type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named category of real-world thing your business cares about</a:t>
            </a:r>
            <a:endParaRPr lang="en-US"/>
          </a:p>
          <a:p xmlns:a="http://schemas.openxmlformats.org/drawingml/2006/main">
            <a:pPr lvl="0"/>
            <a:r>
              <a:rPr lang="en-US"/>
              <a:t>Examples in our scenario: </a:t>
            </a:r>
            <a:r>
              <a:rPr lang="en-US"/>
              <a:t>Customer</a:t>
            </a:r>
            <a:r>
              <a:rPr lang="en-US"/>
              <a:t>, </a:t>
            </a:r>
            <a:r>
              <a:rPr lang="en-US"/>
              <a:t>Store</a:t>
            </a:r>
            <a:r>
              <a:rPr lang="en-US"/>
              <a:t>, </a:t>
            </a:r>
            <a:r>
              <a:rPr lang="en-US"/>
              <a:t>Freezer</a:t>
            </a:r>
            <a:endParaRPr lang="en-US"/>
          </a:p>
          <a:p xmlns:a="http://schemas.openxmlformats.org/drawingml/2006/main">
            <a:pPr lvl="0"/>
            <a:r>
              <a:rPr lang="en-US"/>
              <a:t>Each entity type has </a:t>
            </a:r>
            <a:r>
              <a:rPr lang="en-US" b="1"/>
              <a:t>properties</a:t>
            </a:r>
            <a:r>
              <a:rPr lang="en-US"/>
              <a:t> and can participate in </a:t>
            </a:r>
            <a:r>
              <a:rPr lang="en-US" b="1"/>
              <a:t>relationships</a:t>
            </a:r>
            <a:endParaRPr lang="en-US"/>
          </a:p>
          <a:p xmlns:a="http://schemas.openxmlformats.org/drawingml/2006/main">
            <a:pPr lvl="0"/>
            <a:r>
              <a:rPr lang="en-US"/>
              <a:t>An entity type is </a:t>
            </a:r>
            <a:r>
              <a:rPr lang="en-US" i="1"/>
              <a:t>not</a:t>
            </a:r>
            <a:r>
              <a:rPr lang="en-US"/>
              <a:t> a table — it's a business concept that may be </a:t>
            </a:r>
            <a:r>
              <a:rPr lang="en-US" b="1"/>
              <a:t>bound</a:t>
            </a:r>
            <a:r>
              <a:rPr lang="en-US"/>
              <a:t> to one or more tables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entity-type</m2p:slideId>
        <m2p:title>Entity type</m2p:title>
        <m2p:hash>sha256:2c413b6c74333af831758c6152c31b94210a722ab4a36db0b7a541612a69d979</m2p:hash>
        <m2p:sourceSlide>module-03-slides.md#slide-4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Property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single fact attached to an entity type</a:t>
            </a:r>
            <a:endParaRPr lang="en-US"/>
          </a:p>
          <a:p xmlns:a="http://schemas.openxmlformats.org/drawingml/2006/main">
            <a:pPr lvl="1"/>
            <a:r>
              <a:rPr lang="en-US" b="1"/>
              <a:t>Static</a:t>
            </a:r>
            <a:r>
              <a:rPr lang="en-US"/>
              <a:t> — rarely changes (</a:t>
            </a:r>
            <a:r>
              <a:rPr lang="en-US"/>
              <a:t>Freezer.Model</a:t>
            </a:r>
            <a:r>
              <a:rPr lang="en-US"/>
              <a:t>, </a:t>
            </a:r>
            <a:r>
              <a:rPr lang="en-US"/>
              <a:t>Freezer.Capacity</a:t>
            </a:r>
            <a:r>
              <a:rPr lang="en-US"/>
              <a:t>, </a:t>
            </a:r>
            <a:r>
              <a:rPr lang="en-US"/>
              <a:t>Freezer.InstallDate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1"/>
            <a:r>
              <a:rPr lang="en-US" b="1"/>
              <a:t>Live</a:t>
            </a:r>
            <a:r>
              <a:rPr lang="en-US"/>
              <a:t> — changes continuously (</a:t>
            </a:r>
            <a:r>
              <a:rPr lang="en-US"/>
              <a:t>Freezer.TemperatureC</a:t>
            </a:r>
            <a:r>
              <a:rPr lang="en-US"/>
              <a:t>, </a:t>
            </a:r>
            <a:r>
              <a:rPr lang="en-US"/>
              <a:t>Freezer.DoorOpen</a:t>
            </a:r>
            <a:r>
              <a:rPr lang="en-US"/>
              <a:t>)</a:t>
            </a:r>
            <a:endParaRPr lang="en-US"/>
          </a:p>
          <a:p xmlns:a="http://schemas.openxmlformats.org/drawingml/2006/main">
            <a:pPr lvl="0"/>
            <a:r>
              <a:rPr lang="en-US"/>
              <a:t>Two flavors, both valid on the same entity type:</a:t>
            </a:r>
            <a:endParaRPr lang="en-US"/>
          </a:p>
          <a:p xmlns:a="http://schemas.openxmlformats.org/drawingml/2006/main">
            <a:pPr lvl="0"/>
            <a:r>
              <a:rPr lang="en-US"/>
              <a:t>Properties are bound to source columns — the ontology stores the </a:t>
            </a:r>
            <a:r>
              <a:rPr lang="en-US" i="1"/>
              <a:t>mapping</a:t>
            </a:r>
            <a:r>
              <a:rPr lang="en-US"/>
              <a:t>, not the </a:t>
            </a:r>
            <a:r>
              <a:rPr lang="en-US" i="1"/>
              <a:t>value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property</m2p:slideId>
        <m2p:title>Property</m2p:title>
        <m2p:hash>sha256:04c6188e21b95b5cdaf36e0af16247f06235b38079a5fca9184783c566a29098</m2p:hash>
        <m2p:sourceSlide>module-03-slides.md#slide-5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Relationship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A named, directional connection between two entity types</a:t>
            </a:r>
            <a:endParaRPr lang="en-US"/>
          </a:p>
          <a:p xmlns:a="http://schemas.openxmlformats.org/drawingml/2006/main">
            <a:pPr lvl="1"/>
            <a:r>
              <a:rPr lang="en-US"/>
              <a:t>Store</a:t>
            </a:r>
            <a:r>
              <a:rPr lang="en-US"/>
              <a:t> </a:t>
            </a:r>
            <a:r>
              <a:rPr lang="en-US" b="1"/>
              <a:t>—has→</a:t>
            </a:r>
            <a:r>
              <a:rPr lang="en-US"/>
              <a:t> </a:t>
            </a:r>
            <a:r>
              <a:rPr lang="en-US"/>
              <a:t>Freezer</a:t>
            </a:r>
            <a:endParaRPr lang="en-US"/>
          </a:p>
          <a:p xmlns:a="http://schemas.openxmlformats.org/drawingml/2006/main">
            <a:pPr lvl="1"/>
            <a:r>
              <a:rPr lang="en-US"/>
              <a:t>Customer</a:t>
            </a:r>
            <a:r>
              <a:rPr lang="en-US"/>
              <a:t> </a:t>
            </a:r>
            <a:r>
              <a:rPr lang="en-US" b="1"/>
              <a:t>—shops at→</a:t>
            </a:r>
            <a:r>
              <a:rPr lang="en-US"/>
              <a:t> </a:t>
            </a:r>
            <a:r>
              <a:rPr lang="en-US"/>
              <a:t>Store</a:t>
            </a:r>
            <a:endParaRPr lang="en-US"/>
          </a:p>
          <a:p xmlns:a="http://schemas.openxmlformats.org/drawingml/2006/main">
            <a:pPr lvl="0"/>
            <a:r>
              <a:rPr lang="en-US"/>
              <a:t>In our scenario:</a:t>
            </a:r>
            <a:endParaRPr lang="en-US"/>
          </a:p>
          <a:p xmlns:a="http://schemas.openxmlformats.org/drawingml/2006/main">
            <a:pPr lvl="0"/>
            <a:r>
              <a:rPr lang="en-US"/>
              <a:t>Relationships make the graph </a:t>
            </a:r>
            <a:r>
              <a:rPr lang="en-US" b="1"/>
              <a:t>traversable</a:t>
            </a:r>
            <a:r>
              <a:rPr lang="en-US"/>
              <a:t>: "show me every Freezer at every Store this Customer shops at"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relationship</m2p:slideId>
        <m2p:title>Relationship</m2p:title>
        <m2p:hash>sha256:f9e216355f49350514890e366764d9416687adbdd7f94c2c23b5812f69186c41</m2p:hash>
        <m2p:sourceSlide>module-03-slides.md#slide-6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No-code binding, without copying data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Binding an entity type's property to a table column is done </a:t>
            </a:r>
            <a:r>
              <a:rPr lang="en-US" b="1"/>
              <a:t>declaratively, in the ontology designer</a:t>
            </a:r>
            <a:endParaRPr lang="en-US"/>
          </a:p>
          <a:p xmlns:a="http://schemas.openxmlformats.org/drawingml/2006/main">
            <a:pPr lvl="0"/>
            <a:r>
              <a:rPr lang="en-US"/>
              <a:t>No pipeline, no notebook, no data movement</a:t>
            </a:r>
            <a:endParaRPr lang="en-US"/>
          </a:p>
          <a:p xmlns:a="http://schemas.openxmlformats.org/drawingml/2006/main">
            <a:pPr lvl="0"/>
            <a:r>
              <a:rPr lang="en-US"/>
              <a:t>The ontology stores a </a:t>
            </a:r>
            <a:r>
              <a:rPr lang="en-US" b="1"/>
              <a:t>pointer</a:t>
            </a:r>
            <a:r>
              <a:rPr lang="en-US"/>
              <a:t>: "</a:t>
            </a:r>
            <a:r>
              <a:rPr lang="en-US"/>
              <a:t>Freezer.Model</a:t>
            </a:r>
            <a:r>
              <a:rPr lang="en-US"/>
              <a:t> comes from </a:t>
            </a:r>
            <a:r>
              <a:rPr lang="en-US"/>
              <a:t>ColdChainLakehouse.Freezers.Model</a:t>
            </a:r>
            <a:r>
              <a:rPr lang="en-US"/>
              <a:t>"</a:t>
            </a:r>
            <a:endParaRPr lang="en-US"/>
          </a:p>
          <a:p xmlns:a="http://schemas.openxmlformats.org/drawingml/2006/main">
            <a:pPr lvl="0"/>
            <a:r>
              <a:rPr lang="en-US"/>
              <a:t>Change the underlying data, and the ontology reflects it immediately — nothing to resync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no-code-binding-without-copying-data</m2p:slideId>
        <m2p:title>No-code binding, without copying data</m2p:title>
        <m2p:hash>sha256:aeb9f3cb85d411438341aa7cf6c157f934357dc3b469df341a391b69c0ec1220</m2p:hash>
        <m2p:sourceSlide>module-03-slides.md#slide-7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queryable ontology graph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Once entities, properties, and relationships are defined, the ontology is a </a:t>
            </a:r>
            <a:r>
              <a:rPr lang="en-US" b="1"/>
              <a:t>live graph</a:t>
            </a:r>
            <a:r>
              <a:rPr lang="en-US"/>
              <a:t> — not documentation</a:t>
            </a:r>
            <a:endParaRPr lang="en-US"/>
          </a:p>
          <a:p xmlns:a="http://schemas.openxmlformats.org/drawingml/2006/main">
            <a:pPr lvl="0"/>
            <a:r>
              <a:rPr lang="en-US"/>
              <a:t>You can query it directly: traverse relationships, filter on properties, mix static and live facts in one query</a:t>
            </a:r>
            <a:endParaRPr lang="en-US"/>
          </a:p>
          <a:p xmlns:a="http://schemas.openxmlformats.org/drawingml/2006/main">
            <a:pPr lvl="0"/>
            <a:r>
              <a:rPr lang="en-US"/>
              <a:t>This graph is what </a:t>
            </a:r>
            <a:r>
              <a:rPr lang="en-US" b="1"/>
              <a:t>agents</a:t>
            </a:r>
            <a:r>
              <a:rPr lang="en-US"/>
              <a:t> query in Module 04 — they never touch raw tables directly</a:t>
            </a:r>
            <a:endParaRPr lang="en-US"/>
          </a:p>
          <a:p xmlns:a="http://schemas.openxmlformats.org/drawingml/2006/main">
            <a:pPr lvl="0"/>
            <a:r>
              <a:rPr lang="en-US"/>
              <a:t>Same graph also powers Copilot-style natural-language question answering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the-queryable-ontology-graph</m2p:slideId>
        <m2p:title>The queryable ontology graph</m2p:title>
        <m2p:hash>sha256:36a0d0065c2d69b7f19c46acfc8d252802068fb9ffa0286be69ef65be9d98448</m2p:hash>
        <m2p:sourceSlide>module-03-slides.md#slide-8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Worked example: ColdChainOntology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We build one ontology today: </a:t>
            </a:r>
            <a:r>
              <a:rPr lang="en-US" b="1"/>
              <a:t>ColdChainOntology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Entity types:</a:t>
            </a:r>
            <a:r>
              <a:rPr lang="en-US"/>
              <a:t> </a:t>
            </a:r>
            <a:r>
              <a:rPr lang="en-US"/>
              <a:t>Customer</a:t>
            </a:r>
            <a:r>
              <a:rPr lang="en-US"/>
              <a:t> · </a:t>
            </a:r>
            <a:r>
              <a:rPr lang="en-US"/>
              <a:t>Store</a:t>
            </a:r>
            <a:r>
              <a:rPr lang="en-US"/>
              <a:t> · </a:t>
            </a:r>
            <a:r>
              <a:rPr lang="en-US"/>
              <a:t>Freezer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Relationships:</a:t>
            </a:r>
            <a:endParaRPr lang="en-US"/>
          </a:p>
          <a:p xmlns:a="http://schemas.openxmlformats.org/drawingml/2006/main">
            <a:pPr lvl="0"/>
            <a:r>
              <a:rPr lang="en-US"/>
              <a:t>Store</a:t>
            </a:r>
            <a:r>
              <a:rPr lang="en-US"/>
              <a:t> </a:t>
            </a:r>
            <a:r>
              <a:rPr lang="en-US" b="1"/>
              <a:t>—has→</a:t>
            </a:r>
            <a:r>
              <a:rPr lang="en-US"/>
              <a:t> </a:t>
            </a:r>
            <a:r>
              <a:rPr lang="en-US"/>
              <a:t>Freezer</a:t>
            </a:r>
            <a:endParaRPr lang="en-US"/>
          </a:p>
          <a:p xmlns:a="http://schemas.openxmlformats.org/drawingml/2006/main">
            <a:pPr lvl="0"/>
            <a:r>
              <a:rPr lang="en-US"/>
              <a:t>Customer</a:t>
            </a:r>
            <a:r>
              <a:rPr lang="en-US"/>
              <a:t> </a:t>
            </a:r>
            <a:r>
              <a:rPr lang="en-US" b="1"/>
              <a:t>—shops at→</a:t>
            </a:r>
            <a:r>
              <a:rPr lang="en-US"/>
              <a:t> </a:t>
            </a:r>
            <a:r>
              <a:rPr lang="en-US"/>
              <a:t>Store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worked-example-coldchainontology</m2p:slideId>
        <m2p:title>Worked example: ColdChainOntology</m2p:title>
        <m2p:hash>sha256:d9212c736cc82b8022c90eef2db95cefbf5986d3002fe7165b02075feb941910</m2p:hash>
        <m2p:sourceSlide>module-03-slides.md#slide-9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Freezer: a dual-bound entity type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Freezer</a:t>
            </a:r>
            <a:r>
              <a:rPr lang="en-US"/>
              <a:t> is bound to </a:t>
            </a:r>
            <a:r>
              <a:rPr lang="en-US" b="1"/>
              <a:t>two different data sources at once</a:t>
            </a:r>
            <a:r>
              <a:rPr lang="en-US"/>
              <a:t>:</a:t>
            </a:r>
            <a:endParaRPr lang="en-US"/>
          </a:p>
        </p:txBody>
      </p:sp>
      <p:graphicFrame>
        <p:nvGraphicFramePr>
          <p:cNvPr id="4" name="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38188" y="2005263"/>
          <a:ext xmlns:a="http://schemas.openxmlformats.org/drawingml/2006/main" cx="5213433" cy="34544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811"/>
                <a:gridCol w="1737811"/>
                <a:gridCol w="1737811"/>
              </a:tblGrid>
              <a:tr h="47752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Binding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Aptos"/>
                        </a:rPr>
                        <a:t>Properties</a:t>
                      </a:r>
                      <a:endParaRPr lang="en-US" sz="1800"/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130048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Lakehouse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ColdChainLakehouse.Freezers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static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Model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,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Capacity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,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InstallDate</a:t>
                      </a:r>
                      <a:endParaRPr lang="en-US" sz="1800"/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574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Eventhouse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ColdChainEventhouse.FreezerTelemetryEnriched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live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TemperatureC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Aptos"/>
                        </a:rPr>
                        <a:t>, </a:t>
                      </a:r>
                      <a:r>
                        <a:rPr lang="en-US" sz="1800" b="0">
                          <a:solidFill>
                            <a:srgbClr val="1F2937"/>
                          </a:solidFill>
                          <a:latin typeface="Cascadia Mono"/>
                        </a:rPr>
                        <a:t>DoorOpen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freezer-a-dual-bound-entity-type</m2p:slideId>
        <m2p:title>Freezer: a dual-bound entity type</m2p:title>
        <m2p:hash>sha256:f10409a024af7314921e16a7890891a53fee4f689fa77a62471e620fb28f4393</m2p:hash>
        <m2p:sourceSlide>module-03-slides.md#slide-10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The full picture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This is the graph our agents will reason over in Module 04</a:t>
            </a:r>
            <a:endParaRPr lang="en-US"/>
          </a:p>
          <a:p xmlns:a="http://schemas.openxmlformats.org/drawingml/2006/main">
            <a:pPr lvl="0"/>
            <a:r>
              <a:rPr lang="en-US"/>
              <a:t>Every node is traceable back to a real table — nothing here is duplicated data</a:t>
            </a:r>
            <a:endParaRPr lang="en-US"/>
          </a:p>
        </p:txBody>
      </p:sp>
      <p:sp>
        <p:nvSpPr>
          <p:cNvPr id="4" name="Code (text)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8" y="2005263"/>
            <a:ext cx="5213433" cy="3288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solidFill>
              <a:srgbClr val="0F766E"/>
            </a:solidFill>
          </a:ln>
        </p:spPr>
        <p:txBody>
          <a:bodyPr xmlns:a="http://schemas.openxmlformats.org/drawingml/2006/main" vertOverflow="overflow" wrap="square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Customer ──shops at──▶ Store ──has──▶ Freezer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                                        │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                          ┌─────────────┴─────────────┐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                     static (Lakehouse)          live (Eventhouse)</a:t>
            </a:r>
            <a:endParaRPr lang="en-US" sz="1800"/>
          </a:p>
          <a:p xmlns:a="http://schemas.openxmlformats.org/drawingml/2006/main">
            <a:r>
              <a:rPr lang="en-US" sz="1800" b="0">
                <a:solidFill>
                  <a:srgbClr val="F8FAFC"/>
                </a:solidFill>
                <a:latin typeface="Cascadia Mono"/>
              </a:rPr>
              <a:t>                Model, Capacity, InstallDate   TemperatureC, DoorOpen</a:t>
            </a:r>
            <a:endParaRPr lang="en-US" sz="1800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the-full-picture</m2p:slideId>
        <m2p:title>The full picture</m2p:title>
        <m2p:hash>sha256:7a66309e1c0903d91d99a45279aaeac8af85a21651ab9ba904ec58331795e51e</m2p:hash>
        <m2p:sourceSlide>module-03-slides.md#slide-11</m2p:sourceSlide>
        <m2p:generatorVersion>1.0.0.0</m2p:generatorVersion>
        <m2p:layoutRef>Main Content : Title + Visual Data</m2p:layoutRef>
        <m2p:templateRef>EMFCC26_SpeakerPPT_TemplateA_Styled_Accessibility Review_Updated_11Aug.pptx</m2p:templateRef>
      </m2p:meta>
    </p:ext>
  </p:extLst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/>
              <a:t>Design principles worth internalizing</a:t>
            </a:r>
            <a:endParaRPr lang="en-US"/>
          </a:p>
        </p:txBody>
      </p:sp>
      <p:sp>
        <p:nvSpPr>
          <p:cNvPr id="3" name="Content Placeholder"/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/>
            <a:r>
              <a:rPr lang="en-US"/>
              <a:t>Model </a:t>
            </a:r>
            <a:r>
              <a:rPr lang="en-US" b="1"/>
              <a:t>entity types around business concepts</a:t>
            </a:r>
            <a:r>
              <a:rPr lang="en-US"/>
              <a:t>, not around whatever tables happen to exist</a:t>
            </a:r>
            <a:endParaRPr lang="en-US"/>
          </a:p>
          <a:p xmlns:a="http://schemas.openxmlformats.org/drawingml/2006/main">
            <a:pPr lvl="0"/>
            <a:r>
              <a:rPr lang="en-US"/>
              <a:t>Keep relationships </a:t>
            </a:r>
            <a:r>
              <a:rPr lang="en-US" b="1"/>
              <a:t>directional and named</a:t>
            </a:r>
            <a:r>
              <a:rPr lang="en-US"/>
              <a:t> — "has" and "shops at" read like a sentence, not a foreign key</a:t>
            </a:r>
            <a:endParaRPr lang="en-US"/>
          </a:p>
          <a:p xmlns:a="http://schemas.openxmlformats.org/drawingml/2006/main">
            <a:pPr lvl="0"/>
            <a:r>
              <a:rPr lang="en-US"/>
              <a:t>Bind properties </a:t>
            </a:r>
            <a:r>
              <a:rPr lang="en-US" b="1"/>
              <a:t>as narrowly as needed</a:t>
            </a:r>
            <a:r>
              <a:rPr lang="en-US"/>
              <a:t> — don't drag in every column just because it's there</a:t>
            </a:r>
            <a:endParaRPr lang="en-US"/>
          </a:p>
          <a:p xmlns:a="http://schemas.openxmlformats.org/drawingml/2006/main">
            <a:pPr lvl="0"/>
            <a:r>
              <a:rPr lang="en-US"/>
              <a:t>A good ontology answers a plain-English question by construction: </a:t>
            </a:r>
            <a:r>
              <a:rPr lang="en-US" i="1"/>
              <a:t>"which freezers does this customer's usual store have?"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design-principles-worth-internalizing</m2p:slideId>
        <m2p:title>Design principles worth internalizing</m2p:title>
        <m2p:hash>sha256:3e93413f1b56434dadcd0412b4b48469bda8c06e1fe30fee08a02a4cff5292ad</m2p:hash>
        <m2p:sourceSlide>module-03-slides.md#slide-12</m2p:sourceSlide>
        <m2p:generatorVersion>1.0.0.0</m2p:generatorVersion>
        <m2p:layoutRef>Main Content : Title + Text Box</m2p:layoutRef>
        <m2p:templateRef>EMFCC26_SpeakerPPT_TemplateA_Styled_Accessibility Review_Updated_11Aug.pptx</m2p:templateRef>
      </m2p:meta>
    </p:ext>
  </p:extLst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lang="en-US" b="1"/>
              <a:t>Hands-on lab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 b="1"/>
              <a:t>Lab 03 — Build ColdChainOntology</a:t>
            </a:r>
            <a:endParaRPr lang="en-US"/>
          </a:p>
          <a:p xmlns:a="http://schemas.openxmlformats.org/drawingml/2006/main">
            <a:pPr lvl="0"/>
            <a:r>
              <a:rPr lang="en-US"/>
              <a:t>Create entity types: </a:t>
            </a:r>
            <a:r>
              <a:rPr lang="en-US"/>
              <a:t>Customer</a:t>
            </a:r>
            <a:r>
              <a:rPr lang="en-US"/>
              <a:t>, </a:t>
            </a:r>
            <a:r>
              <a:rPr lang="en-US"/>
              <a:t>Store</a:t>
            </a:r>
            <a:r>
              <a:rPr lang="en-US"/>
              <a:t>, </a:t>
            </a:r>
            <a:r>
              <a:rPr lang="en-US"/>
              <a:t>Freezer</a:t>
            </a:r>
            <a:endParaRPr lang="en-US"/>
          </a:p>
          <a:p xmlns:a="http://schemas.openxmlformats.org/drawingml/2006/main">
            <a:pPr lvl="0"/>
            <a:r>
              <a:rPr lang="en-US"/>
              <a:t>Bind </a:t>
            </a:r>
            <a:r>
              <a:rPr lang="en-US"/>
              <a:t>Freezer</a:t>
            </a:r>
            <a:r>
              <a:rPr lang="en-US"/>
              <a:t> to both </a:t>
            </a:r>
            <a:r>
              <a:rPr lang="en-US"/>
              <a:t>ColdChainLakehouse.Freezers</a:t>
            </a:r>
            <a:r>
              <a:rPr lang="en-US"/>
              <a:t> and </a:t>
            </a:r>
            <a:r>
              <a:rPr lang="en-US"/>
              <a:t>ColdChainEventhouse.FreezerTelemetryEnriched</a:t>
            </a:r>
            <a:endParaRPr lang="en-US"/>
          </a:p>
          <a:p xmlns:a="http://schemas.openxmlformats.org/drawingml/2006/main">
            <a:pPr lvl="0"/>
            <a:r>
              <a:rPr lang="en-US"/>
              <a:t>Define relationships and run your first graph query</a:t>
            </a:r>
            <a:endParaRPr lang="en-US"/>
          </a:p>
          <a:p xmlns:a="http://schemas.openxmlformats.org/drawingml/2006/main">
            <a:pPr>
              <a:buNone/>
            </a:pPr>
            <a:r>
              <a:rPr lang="en-US"/>
              <a:t>📄 </a:t>
            </a:r>
            <a:r>
              <a:rPr lang="en-US"/>
              <a:t>modules/module-03-ontology-design/lab-03-build-retail-coldchain-ontology.md</a:t>
            </a:r>
            <a:endParaRPr lang="en-US"/>
          </a:p>
        </p:txBody>
      </p:sp>
    </p:spTree>
  </p:cSld>
  <p:clrMapOvr>
    <a:masterClrMapping xmlns:a="http://schemas.openxmlformats.org/drawingml/2006/main"/>
  </p:clrMapOvr>
  <p:extLst>
    <p:ext uri="urn:marptopptx:slide-metadata">
      <m2p:meta xmlns:m2p="urn:marptopptx:metadata" version="2">
        <m2p:deckId>deck-21b835744dda</m2p:deckId>
        <m2p:slideId>hands-on-lab</m2p:slideId>
        <m2p:title>Hands-on lab</m2p:title>
        <m2p:hash>sha256:3358b2a3f2d4f461dbf000a62eaec4899992eb2cfa4aab1288d71974e49fdafe</m2p:hash>
        <m2p:sourceSlide>module-03-slides.md#slide-13</m2p:sourceSlide>
        <m2p:generatorVersion>1.0.0.0</m2p:generatorVersion>
        <m2p:layoutRef>Section Break Slide</m2p:layoutRef>
        <m2p:templateRef>EMFCC26_SpeakerPPT_TemplateA_Styled_Accessibility Review_Updated_11Aug.pptx</m2p:templateRef>
      </m2p:meta>
    </p:ext>
  </p:extLst>
</p:sld>
</file>

<file path=ppt/theme/theme1.xml><?xml version="1.0" encoding="utf-8"?>
<a:theme xmlns:thm15="http://schemas.microsoft.com/office/thememl/2012/main" xmlns:a="http://schemas.openxmlformats.org/drawingml/2006/main" name="Splash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ain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spAutoFit/>
      </a:bodyPr>
      <a:lstStyle>
        <a:defPPr algn="l">
          <a:defRPr sz="2400" dirty="0">
            <a:latin typeface="Calibri Light" charset="0"/>
            <a:ea typeface="Calibri Light" charset="0"/>
            <a:cs typeface="Calibri Light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Scree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1fbb9a-23db-4311-a69c-34622b264696">
      <Terms xmlns="http://schemas.microsoft.com/office/infopath/2007/PartnerControls"/>
    </lcf76f155ced4ddcb4097134ff3c332f>
    <TaxCatchAll xmlns="1b3b1065-ae42-4d8a-aa8c-0a73a17faba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51F54D7AD26C459333D1AFF09839BE" ma:contentTypeVersion="14" ma:contentTypeDescription="Create a new document." ma:contentTypeScope="" ma:versionID="267f41264e04a5c3ada0074a8fd340dc">
  <xsd:schema xmlns:xsd="http://www.w3.org/2001/XMLSchema" xmlns:xs="http://www.w3.org/2001/XMLSchema" xmlns:p="http://schemas.microsoft.com/office/2006/metadata/properties" xmlns:ns2="221fbb9a-23db-4311-a69c-34622b264696" xmlns:ns3="1b3b1065-ae42-4d8a-aa8c-0a73a17faba8" targetNamespace="http://schemas.microsoft.com/office/2006/metadata/properties" ma:root="true" ma:fieldsID="b5806782e6246c3a79c8d8c00ea8f5e6" ns2:_="" ns3:_="">
    <xsd:import namespace="221fbb9a-23db-4311-a69c-34622b264696"/>
    <xsd:import namespace="1b3b1065-ae42-4d8a-aa8c-0a73a17fab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1fbb9a-23db-4311-a69c-34622b2646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d530a17-84a2-4d03-b447-f9955f42fe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3b1065-ae42-4d8a-aa8c-0a73a17fab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72881c0-9f09-48c0-b71c-fddfa2680fd3}" ma:internalName="TaxCatchAll" ma:showField="CatchAllData" ma:web="1b3b1065-ae42-4d8a-aa8c-0a73a17fab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D26BB1-7F1F-46F1-8F3C-0C47CE043432}">
  <ds:schemaRefs>
    <ds:schemaRef ds:uri="221fbb9a-23db-4311-a69c-34622b264696"/>
    <ds:schemaRef ds:uri="http://purl.org/dc/dcmitype/"/>
    <ds:schemaRef ds:uri="http://purl.org/dc/terms/"/>
    <ds:schemaRef ds:uri="http://schemas.microsoft.com/office/2006/metadata/properties"/>
    <ds:schemaRef ds:uri="1b3b1065-ae42-4d8a-aa8c-0a73a17faba8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E38309D-794A-4787-9F1D-A760486AD1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1fbb9a-23db-4311-a69c-34622b264696"/>
    <ds:schemaRef ds:uri="1b3b1065-ae42-4d8a-aa8c-0a73a17fa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157E49-3C57-4281-B896-98EEEB20EAB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:vt="http://schemas.openxmlformats.org/officeDocument/2006/docPropsVTypes" xmlns="http://schemas.openxmlformats.org/officeDocument/2006/extended-properties">
  <TotalTime>0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Aptos Display</vt:lpstr>
      <vt:lpstr>MarpToPptx Theme</vt:lpstr>
      <vt:lpstr>Module 03</vt:lpstr>
      <vt:lpstr>Learning objectives</vt:lpstr>
      <vt:lpstr>What is an ontology, here?</vt:lpstr>
      <vt:lpstr>Entity type</vt:lpstr>
      <vt:lpstr>Property</vt:lpstr>
      <vt:lpstr>Relationship</vt:lpstr>
      <vt:lpstr>No-code binding, without copying data</vt:lpstr>
      <vt:lpstr>The queryable ontology graph</vt:lpstr>
      <vt:lpstr>Worked example: ColdChainOntology</vt:lpstr>
      <vt:lpstr>Freezer: a dual-bound entity type</vt:lpstr>
      <vt:lpstr>The full picture</vt:lpstr>
      <vt:lpstr>Design principles worth internalizing</vt:lpstr>
      <vt:lpstr>Hands-on lab</vt:lpstr>
    </vt:vector>
  </TitlesOfParts>
  <Company>Created by MarpToPptx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</dc:title>
  <dc:subject>PowerPoint Presentation</dc:subject>
  <dc:creator>MarpToPptx</dc:creator>
  <cp:lastModifiedBy>MarpToPptx</cp:lastModifiedBy>
  <cp:revision>1</cp:revision>
  <dcterms:created xsi:type="dcterms:W3CDTF">2026-09-06T19:09:21Z</dcterms:created>
  <dcterms:modified xsi:type="dcterms:W3CDTF">2026-09-06T19:09:21Z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0x010100A051F54D7AD26C459333D1AFF09839BE</vt:lpwstr>
  </property>
</Properties>
</file>
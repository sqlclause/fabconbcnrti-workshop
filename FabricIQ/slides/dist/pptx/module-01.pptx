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37.xml" ContentType="application/vnd.openxmlformats-officedocument.presentationml.slide+xml"/>
  <Override PartName="/ppt/slides/slide35.xml" ContentType="application/vnd.openxmlformats-officedocument.presentationml.slide+xml"/>
  <Override PartName="/ppt/slides/slide33.xml" ContentType="application/vnd.openxmlformats-officedocument.presentationml.slide+xml"/>
  <Override PartName="/ppt/slides/slide31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slides/slide38.xml" ContentType="application/vnd.openxmlformats-officedocument.presentationml.slide+xml"/>
  <Override PartName="/ppt/slides/slide36.xml" ContentType="application/vnd.openxmlformats-officedocument.presentationml.slide+xml"/>
  <Override PartName="/ppt/slides/slide34.xml" ContentType="application/vnd.openxmlformats-officedocument.presentationml.slide+xml"/>
  <Override PartName="/ppt/slides/slide32.xml" ContentType="application/vnd.openxmlformats-officedocument.presentationml.slide+xml"/>
  <Override PartName="/ppt/slides/slide30.xml" ContentType="application/vnd.openxmlformats-officedocument.presentationml.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8" r:id="rId4"/>
    <p:sldMasterId id="2147483680" r:id="rId5"/>
    <p:sldMasterId id="2147483682" r:id="rId6"/>
    <p:sldMasterId id="2147483684" r:id="rId7"/>
  </p:sldMasterIdLst>
  <p:notesMasterIdLst>
    <p:notesMasterId r:id="rId22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5B44"/>
    <a:srgbClr val="007864"/>
    <a:srgbClr val="013F34"/>
    <a:srgbClr val="BCA045"/>
    <a:srgbClr val="FFC300"/>
    <a:srgbClr val="F4F4F4"/>
    <a:srgbClr val="002C4C"/>
    <a:srgbClr val="FF4713"/>
    <a:srgbClr val="D0DBFF"/>
    <a:srgbClr val="002B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6A60C5-3AC7-2D4E-951A-6654EB0F1546}" v="2" dt="2026-08-11T14:48:25.9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viewPr xmlns:a="http://schemas.openxmlformats.org/drawingml/2006/main" xmlns:r="http://schemas.openxmlformats.org/officeDocument/2006/relationships" xmlns="http://schemas.openxmlformats.org/presentationml/2006/main">
  <normalViewPr horzBarState="maximized">
    <restoredLeft sz="15611"/>
    <restoredTop sz="94610"/>
  </normalViewPr>
  <slideViewPr>
    <cSldViewPr snapToGrid="0" snapToObjects="1">
      <cViewPr varScale="1">
        <scale>
          <a:sx n="136" d="100"/>
          <a:sy n="136" d="100"/>
        </scale>
        <origin x="216" y="312"/>
      </cViewPr>
      <guideLst/>
    </cSldViewPr>
  </slideViewPr>
  <notesTextViewPr>
    <cViewPr>
      <scale>
        <a:sx n="1" d="1"/>
        <a:sy n="1" d="1"/>
      </scale>
      <origin x="0" y="0"/>
    </cViewPr>
  </notesTextViewPr>
  <gridSpacing cx="76200" cy="76200"/>
</viewPr>
</file>

<file path=ppt/_rels/presentation.xml.rels>&#65279;<?xml version="1.0" encoding="utf-8"?>
<Relationships xmlns="http://schemas.openxmlformats.org/package/2006/relationships">
  <Relationship Type="http://schemas.openxmlformats.org/officeDocument/2006/relationships/theme" Target="theme/theme1.xml" Id="rId26" />
  <Relationship Type="http://schemas.openxmlformats.org/officeDocument/2006/relationships/customXml" Target="../customXml/item3.xml" Id="rId3" />
  <Relationship Type="http://schemas.openxmlformats.org/officeDocument/2006/relationships/slideMaster" Target="slideMasters/slideMaster4.xml" Id="rId7" />
  <Relationship Type="http://schemas.openxmlformats.org/officeDocument/2006/relationships/viewProps" Target="viewProps.xml" Id="rId25" />
  <Relationship Type="http://schemas.openxmlformats.org/officeDocument/2006/relationships/customXml" Target="../customXml/item2.xml" Id="rId2" />
  <Relationship Type="http://schemas.microsoft.com/office/2018/10/relationships/authors" Target="authors.xml" Id="rId29" />
  <Relationship Type="http://schemas.openxmlformats.org/officeDocument/2006/relationships/customXml" Target="../customXml/item1.xml" Id="rId1" />
  <Relationship Type="http://schemas.openxmlformats.org/officeDocument/2006/relationships/slideMaster" Target="slideMasters/slideMaster3.xml" Id="rId6" />
  <Relationship Type="http://schemas.openxmlformats.org/officeDocument/2006/relationships/presProps" Target="presProps.xml" Id="rId24" />
  <Relationship Type="http://schemas.openxmlformats.org/officeDocument/2006/relationships/slideMaster" Target="slideMasters/slideMaster2.xml" Id="rId5" />
  <Relationship Type="http://schemas.openxmlformats.org/officeDocument/2006/relationships/commentAuthors" Target="commentAuthors.xml" Id="rId23" />
  <Relationship Type="http://schemas.microsoft.com/office/2015/10/relationships/revisionInfo" Target="revisionInfo.xml" Id="rId28" />
  <Relationship Type="http://schemas.openxmlformats.org/officeDocument/2006/relationships/slideMaster" Target="slideMasters/slideMaster1.xml" Id="rId4" />
  <Relationship Type="http://schemas.openxmlformats.org/officeDocument/2006/relationships/notesMaster" Target="notesMasters/notesMaster1.xml" Id="rId22" />
  <Relationship Type="http://schemas.openxmlformats.org/officeDocument/2006/relationships/tableStyles" Target="tableStyles.xml" Id="rId27" />
  <Relationship Type="http://schemas.openxmlformats.org/officeDocument/2006/relationships/slide" Target="slides/slide29.xml" Id="rId8" />
  <Relationship Type="http://schemas.openxmlformats.org/officeDocument/2006/relationships/slide" Target="slides/slide30.xml" Id="rId9" />
  <Relationship Type="http://schemas.openxmlformats.org/officeDocument/2006/relationships/slide" Target="slides/slide31.xml" Id="rId10" />
  <Relationship Type="http://schemas.openxmlformats.org/officeDocument/2006/relationships/slide" Target="slides/slide32.xml" Id="rId11" />
  <Relationship Type="http://schemas.openxmlformats.org/officeDocument/2006/relationships/slide" Target="slides/slide33.xml" Id="rId12" />
  <Relationship Type="http://schemas.openxmlformats.org/officeDocument/2006/relationships/slide" Target="slides/slide34.xml" Id="rId13" />
  <Relationship Type="http://schemas.openxmlformats.org/officeDocument/2006/relationships/slide" Target="slides/slide35.xml" Id="rId14" />
  <Relationship Type="http://schemas.openxmlformats.org/officeDocument/2006/relationships/slide" Target="slides/slide36.xml" Id="rId15" />
  <Relationship Type="http://schemas.openxmlformats.org/officeDocument/2006/relationships/slide" Target="slides/slide37.xml" Id="rId16" />
  <Relationship Type="http://schemas.openxmlformats.org/officeDocument/2006/relationships/slide" Target="slides/slide38.xml" Id="rId17" 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4B101-3225-4967-95B5-ED5755256DE0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8C794-77EE-4724-B493-2E0907BFA5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2318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ash Sc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8312491"/>
      </p:ext>
    </p:extLst>
  </p:cSld>
  <p:clrMapOvr>
    <a:masterClrMapping/>
  </p:clrMapOvr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Section Brea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91E24DE-EFB1-0B46-A1A5-D4A0F86E2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7938" y="1628799"/>
            <a:ext cx="10764252" cy="3857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0E2FF"/>
                </a:solidFill>
              </a:defRPr>
            </a:lvl2pPr>
            <a:lvl3pPr>
              <a:defRPr>
                <a:solidFill>
                  <a:srgbClr val="00E2FF"/>
                </a:solidFill>
              </a:defRPr>
            </a:lvl3pPr>
            <a:lvl4pPr>
              <a:defRPr>
                <a:solidFill>
                  <a:srgbClr val="00E2FF"/>
                </a:solidFill>
              </a:defRPr>
            </a:lvl4pPr>
            <a:lvl5pPr>
              <a:defRPr>
                <a:solidFill>
                  <a:srgbClr val="00E2FF"/>
                </a:solidFill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31539201"/>
      </p:ext>
    </p:extLst>
  </p:cSld>
  <p:clrMapOvr>
    <a:masterClrMapping/>
  </p:clrMapOvr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Title +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10747375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7323503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1_Main Content : Title +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10747375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5159803"/>
      </p:ext>
    </p:extLst>
  </p:cSld>
  <p:clrMapOvr>
    <a:masterClrMapping/>
  </p:clrMapOvr>
</p:sldLayout>
</file>

<file path=ppt/slideLayouts/slideLayout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Title + Dual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DB5CA4-F374-B64C-81F3-7E6BC95041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72597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9175194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- Dark BKG : Title + Dual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DB5CA4-F374-B64C-81F3-7E6BC95041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72597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0593789"/>
      </p:ext>
    </p:extLst>
  </p:cSld>
  <p:clrMapOvr>
    <a:masterClrMapping/>
  </p:clrMapOvr>
</p:sldLayout>
</file>

<file path=ppt/slideLayouts/slideLayout7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2C0C7565-66F8-5E4F-BC70-B52629A037B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36600" y="736600"/>
            <a:ext cx="10793413" cy="51958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6598798"/>
      </p:ext>
    </p:extLst>
  </p:cSld>
  <p:clrMapOvr>
    <a:masterClrMapping/>
  </p:clrMapOvr>
</p:sldLayout>
</file>

<file path=ppt/slideLayouts/slideLayout8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Title +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A54FBFB0-DCDC-C848-901F-75B727D01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6537CD3-4D9A-184F-8D06-E1B8E2D903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8188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C03047F-22E2-5B43-86A2-7583C9DB31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57913" y="757238"/>
            <a:ext cx="5372100" cy="52006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5417581"/>
      </p:ext>
    </p:extLst>
  </p:cSld>
  <p:clrMapOvr>
    <a:masterClrMapping/>
  </p:clrMapOvr>
</p:sldLayout>
</file>

<file path=ppt/slideLayouts/slideLayout9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- Dark BKG : Title +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A54FBFB0-DCDC-C848-901F-75B727D01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6537CD3-4D9A-184F-8D06-E1B8E2D903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8188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C03047F-22E2-5B43-86A2-7583C9DB31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57913" y="757238"/>
            <a:ext cx="5372100" cy="52006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8442111"/>
      </p:ext>
    </p:extLst>
  </p:cSld>
  <p:clrMapOvr>
    <a:masterClrMapping/>
  </p:clrMapOvr>
</p:sldLayout>
</file>

<file path=ppt/slideLayouts/slideLayout10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Visual Data +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1C79D75D-1604-BB44-B1C9-298036D703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6264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005221B5-9309-224F-87A9-A3D8D99384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76462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DD66AF7-F6A9-AC40-9D50-9BAAC73B3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951" y="757238"/>
            <a:ext cx="5243512" cy="52006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04484"/>
      </p:ext>
    </p:extLst>
  </p:cSld>
  <p:clrMapOvr>
    <a:masterClrMapping/>
  </p:clrMapOvr>
</p:sldLayout>
</file>

<file path=ppt/slideLayouts/slideLayout1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Title + Dual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DD66AF7-F6A9-AC40-9D50-9BAAC73B3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951" y="1885950"/>
            <a:ext cx="5100637" cy="407193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AD4D50A4-B734-AD41-8654-79DC681E4E1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7913" y="1885950"/>
            <a:ext cx="5372100" cy="407193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0">
            <a:extLst>
              <a:ext uri="{FF2B5EF4-FFF2-40B4-BE49-F238E27FC236}">
                <a16:creationId xmlns:a16="http://schemas.microsoft.com/office/drawing/2014/main" id="{9ECF72A8-B638-3842-8B60-7DFC3C6C0C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2732109"/>
      </p:ext>
    </p:extLst>
  </p:cSld>
  <p:clrMapOvr>
    <a:masterClrMapping/>
  </p:clrMapOvr>
</p:sldLayout>
</file>

<file path=ppt/slideLayouts/slideLayout1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Dark Content (White Backgroun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90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image" Target="../media/image3.jpg"/><Relationship Id="rId5" Type="http://schemas.openxmlformats.org/officeDocument/2006/relationships/slideLayout" Target="../slideLayouts/slideLayout7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765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917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8291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92" r:id="rId2"/>
    <p:sldLayoutId id="2147483689" r:id="rId3"/>
    <p:sldLayoutId id="2147483693" r:id="rId4"/>
    <p:sldLayoutId id="2147483686" r:id="rId5"/>
    <p:sldLayoutId id="2147483687" r:id="rId6"/>
    <p:sldLayoutId id="2147483694" r:id="rId7"/>
    <p:sldLayoutId id="2147483688" r:id="rId8"/>
    <p:sldLayoutId id="214748369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51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9.xml.rels>&#65279;<?xml version="1.0" encoding="utf-8"?>
<Relationships xmlns="http://schemas.openxmlformats.org/package/2006/relationships">
  <Relationship Type="http://schemas.openxmlformats.org/officeDocument/2006/relationships/image" Target="../media/image2.jpg" Id="rId3" />
  <Relationship Type="http://schemas.openxmlformats.org/officeDocument/2006/relationships/slideLayout" Target="../slideLayouts/slideLayout2.xml" Id="rId1" />
</Relationships>
</file>

<file path=ppt/slides/_rels/slide30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1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2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3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4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5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6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7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8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2.xml" Id="rId1" />
</Relationships>
</file>

<file path=ppt/slides/slide29.xml><?xml version="1.0" encoding="utf-8"?>
<p:sld xmlns:a16="http://schemas.microsoft.com/office/drawing/2014/main" xmlns:adec="http://schemas.microsoft.com/office/drawing/2017/decorative" xmlns:p14="http://schemas.microsoft.com/office/powerpoint/2010/main" xmlns:m2p="urn:marptopptx:metadata"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C0CC446-2BE1-533C-6F9A-2CADE0533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479919"/>
          </a:xfrm>
          <a:prstGeom prst="rect">
            <a:avLst/>
          </a:prstGeom>
          <a:solidFill>
            <a:srgbClr val="BCA0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Fabric IQ architecture &amp; why context matters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FE7F2-7594-C345-99E2-801E68C39CB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925891" y="1396314"/>
            <a:ext cx="8011886" cy="144655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rPr>
              <a:t>Module 01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EEEF1E-D858-9C47-9A95-2D236BFD2F31}"/>
              </a:ext>
            </a:extLst>
          </p:cNvPr>
          <p:cNvSpPr txBox="1"/>
          <p:nvPr/>
        </p:nvSpPr>
        <p:spPr>
          <a:xfrm>
            <a:off x="3925891" y="4302696"/>
            <a:ext cx="8011886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D3891A-AA58-D14F-909B-BF581581CD69}"/>
              </a:ext>
            </a:extLst>
          </p:cNvPr>
          <p:cNvSpPr txBox="1"/>
          <p:nvPr/>
        </p:nvSpPr>
        <p:spPr>
          <a:xfrm>
            <a:off x="3925891" y="4918822"/>
            <a:ext cx="8011886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07F331A-088A-5E4B-ADDD-52C41D93C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1732130" y="1587834"/>
            <a:ext cx="1700881" cy="1700798"/>
          </a:xfrm>
          <a:prstGeom prst="rect">
            <a:avLst/>
          </a:prstGeom>
        </p:spPr>
        <p:txBody>
          <a:bodyPr/>
          <a:lstStyle/>
          <a:p>
            <a:endParaRPr lang="en-US" sz="2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4F310C-2089-97AC-AE64-D6BB59BB61DA}"/>
              </a:ext>
            </a:extLst>
          </p:cNvPr>
          <p:cNvSpPr txBox="1"/>
          <p:nvPr/>
        </p:nvSpPr>
        <p:spPr>
          <a:xfrm>
            <a:off x="2777565" y="39904"/>
            <a:ext cx="6636869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000" b="1" spc="100" dirty="0">
                <a:solidFill>
                  <a:srgbClr val="125B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Topics 1–2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46711"/>
      </p:ext>
    </p:extLst>
  </p:cSld>
  <p:clrMapOvr>
    <a:masterClrMapping/>
  </p:clrMapOvr>
  <p:extLst>
    <p:ext uri="urn:marptopptx:slide-metadata">
      <m2p:meta xmlns:m2p="urn:marptopptx:metadata" version="2">
        <m2p:deckId>deck-4b7b4bd90e5e</m2p:deckId>
        <m2p:slideId>module-01</m2p:slideId>
        <m2p:title>Module 01</m2p:title>
        <m2p:hash>sha256:a22e6cea11e3b90e798d7f0c3a843fb3901cb3325f54d560fef42acb50f85059</m2p:hash>
        <m2p:sourceSlide>module-01-slides.md#slide-1</m2p:sourceSlide>
        <m2p:generatorVersion>1.0.0.0</m2p:generatorVersion>
        <m2p:layoutRef>Template[3]</m2p:layoutRef>
        <m2p:templateRef>EMFCC26_SpeakerPPT_TemplateA_Styled_Accessibility Review_Updated_11Aug.pptx</m2p:templateRef>
      </m2p:meta>
    </p:ext>
  </p:extLst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Learning objectives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By the end of this module you can:</a:t>
            </a:r>
            <a:endParaRPr lang="en-US"/>
          </a:p>
          <a:p xmlns:a="http://schemas.openxmlformats.org/drawingml/2006/main">
            <a:pPr lvl="0"/>
            <a:r>
              <a:rPr lang="en-US"/>
              <a:t>Describe where Fabric IQ sits relative to Lakehouse, Eventhouse, and Power BI</a:t>
            </a:r>
            <a:endParaRPr lang="en-US"/>
          </a:p>
          <a:p xmlns:a="http://schemas.openxmlformats.org/drawingml/2006/main">
            <a:pPr lvl="0"/>
            <a:r>
              <a:rPr lang="en-US"/>
              <a:t>Explain, in one sentence, why raw events need business context to be actionable</a:t>
            </a:r>
            <a:endParaRPr lang="en-US"/>
          </a:p>
          <a:p xmlns:a="http://schemas.openxmlformats.org/drawingml/2006/main">
            <a:pPr lvl="0"/>
            <a:r>
              <a:rPr lang="en-US"/>
              <a:t>Recognize the three architectural layers we'll build through today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deck-4b7b4bd90e5e</m2p:deckId>
        <m2p:slideId>learning-objectives</m2p:slideId>
        <m2p:title>Learning objectives</m2p:title>
        <m2p:hash>sha256:30f59bd76c4e9859db4bc18a6d71b71c99726c3732d0bed5655257a9264d8efa</m2p:hash>
        <m2p:sourceSlide>module-01-slides.md#slide-2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Topic 1 — What is Fabric IQ?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/>
              <a:t>Fabric IQ is Microsoft's </a:t>
            </a:r>
            <a:r>
              <a:rPr lang="en-US" b="1"/>
              <a:t>ontology / semantic / agent layer</a:t>
            </a:r>
            <a:r>
              <a:rPr lang="en-US"/>
              <a:t> on top of Fabric</a:t>
            </a:r>
            <a:endParaRPr lang="en-US"/>
          </a:p>
          <a:p xmlns:a="http://schemas.openxmlformats.org/drawingml/2006/main">
            <a:pPr lvl="0"/>
            <a:r>
              <a:rPr lang="en-US"/>
              <a:t>It doesn't store a second copy of your data — it </a:t>
            </a:r>
            <a:r>
              <a:rPr lang="en-US" b="1"/>
              <a:t>overlays meaning</a:t>
            </a:r>
            <a:r>
              <a:rPr lang="en-US"/>
              <a:t> on data that already lives in OneLake</a:t>
            </a:r>
            <a:endParaRPr lang="en-US"/>
          </a:p>
          <a:p xmlns:a="http://schemas.openxmlformats.org/drawingml/2006/main">
            <a:pPr lvl="0"/>
            <a:r>
              <a:rPr lang="en-US"/>
              <a:t>Built for one purpose: make operational data </a:t>
            </a:r>
            <a:r>
              <a:rPr lang="en-US" b="1"/>
              <a:t>understandable and actionable</a:t>
            </a:r>
            <a:r>
              <a:rPr lang="en-US"/>
              <a:t> by both people and AI agents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deck-4b7b4bd90e5e</m2p:deckId>
        <m2p:slideId>topic-1-what-is-fabric-iq</m2p:slideId>
        <m2p:title>Topic 1 — What is Fabric IQ?</m2p:title>
        <m2p:hash>sha256:99cebdf404bdf6de769cc2ddd470a61121ec3a7181fa81694a4773363ebdee77</m2p:hash>
        <m2p:sourceSlide>module-01-slides.md#slide-3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The architecture, three layers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AutoNum type="arabicPeriod" startAt="1"/>
            </a:pPr>
            <a:r>
              <a:rPr lang="en-US" b="1"/>
              <a:t>Data layer</a:t>
            </a:r>
            <a:r>
              <a:rPr lang="en-US"/>
              <a:t> — Lakehouse (</a:t>
            </a:r>
            <a:r>
              <a:rPr lang="en-US"/>
              <a:t>ColdChainLakehouse</a:t>
            </a:r>
            <a:r>
              <a:rPr lang="en-US"/>
              <a:t>), Eventhouse (</a:t>
            </a:r>
            <a:r>
              <a:rPr lang="en-US"/>
              <a:t>ColdChainEventhouse</a:t>
            </a:r>
            <a:r>
              <a:rPr lang="en-US"/>
              <a:t>) — this is what RTI already built</a:t>
            </a:r>
            <a:endParaRPr lang="en-US"/>
          </a:p>
          <a:p xmlns:a="http://schemas.openxmlformats.org/drawingml/2006/main">
            <a:pPr lvl="0">
              <a:buAutoNum type="arabicPeriod" startAt="2"/>
            </a:pPr>
            <a:r>
              <a:rPr lang="en-US" b="1"/>
              <a:t>Semantic layer</a:t>
            </a:r>
            <a:r>
              <a:rPr lang="en-US"/>
              <a:t> — the </a:t>
            </a:r>
            <a:r>
              <a:rPr lang="en-US" b="1"/>
              <a:t>ontology</a:t>
            </a:r>
            <a:r>
              <a:rPr lang="en-US"/>
              <a:t> (</a:t>
            </a:r>
            <a:r>
              <a:rPr lang="en-US"/>
              <a:t>ColdChainOntology</a:t>
            </a:r>
            <a:r>
              <a:rPr lang="en-US"/>
              <a:t>, built in Module 03) — entities, properties, relationships, bound to the data layer with </a:t>
            </a:r>
            <a:r>
              <a:rPr lang="en-US" i="1"/>
              <a:t>no copying</a:t>
            </a:r>
            <a:endParaRPr lang="en-US"/>
          </a:p>
          <a:p xmlns:a="http://schemas.openxmlformats.org/drawingml/2006/main">
            <a:pPr lvl="0">
              <a:buAutoNum type="arabicPeriod" startAt="3"/>
            </a:pPr>
            <a:r>
              <a:rPr lang="en-US" b="1"/>
              <a:t>Agent layer</a:t>
            </a:r>
            <a:r>
              <a:rPr lang="en-US"/>
              <a:t> — Data Agent, Operations Agent, Activator Ontology Rules (Module 04) — reason and act over the semantic layer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deck-4b7b4bd90e5e</m2p:deckId>
        <m2p:slideId>the-architecture-three-layers</m2p:slideId>
        <m2p:title>The architecture, three layers</m2p:title>
        <m2p:hash>sha256:97609dac44f209cdbd8148421eda17350a14b7300a8de7cb7f9118b8dc59710f</m2p:hash>
        <m2p:sourceSlide>module-01-slides.md#slide-4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How the layers connect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 b="1"/>
              <a:t>Static context</a:t>
            </a:r>
            <a:r>
              <a:rPr lang="en-US"/>
              <a:t> (customer records, store master data, freezer specs) → </a:t>
            </a:r>
            <a:r>
              <a:rPr lang="en-US" b="1"/>
              <a:t>Lakehouse</a:t>
            </a:r>
            <a:endParaRPr lang="en-US"/>
          </a:p>
          <a:p xmlns:a="http://schemas.openxmlformats.org/drawingml/2006/main">
            <a:pPr lvl="0"/>
            <a:r>
              <a:rPr lang="en-US" b="1"/>
              <a:t>Live signals</a:t>
            </a:r>
            <a:r>
              <a:rPr lang="en-US"/>
              <a:t> (freezer temperature, door state) → </a:t>
            </a:r>
            <a:r>
              <a:rPr lang="en-US" b="1"/>
              <a:t>Eventstream → Eventhouse</a:t>
            </a:r>
            <a:endParaRPr lang="en-US"/>
          </a:p>
          <a:p xmlns:a="http://schemas.openxmlformats.org/drawingml/2006/main">
            <a:pPr lvl="0"/>
            <a:r>
              <a:rPr lang="en-US" b="1"/>
              <a:t>Ontology</a:t>
            </a:r>
            <a:r>
              <a:rPr lang="en-US"/>
              <a:t> binds both, without moving either</a:t>
            </a:r>
            <a:endParaRPr lang="en-US"/>
          </a:p>
          <a:p xmlns:a="http://schemas.openxmlformats.org/drawingml/2006/main">
            <a:pPr lvl="0"/>
            <a:r>
              <a:rPr lang="en-US" b="1"/>
              <a:t>Agents</a:t>
            </a:r>
            <a:r>
              <a:rPr lang="en-US"/>
              <a:t> query and act through the ontology — never against raw tables directly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deck-4b7b4bd90e5e</m2p:deckId>
        <m2p:slideId>how-the-layers-connect</m2p:slideId>
        <m2p:title>How the layers connect</m2p:title>
        <m2p:hash>sha256:8c5138bc19b295c799c11ccce2ecdc966b92c54641f31a8ed280b17ce72ce6d0</m2p:hash>
        <m2p:sourceSlide>module-01-slides.md#slide-5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Topic 2 — Why context matters for event interpretation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/>
              <a:t>A telemetry event is just </a:t>
            </a:r>
            <a:r>
              <a:rPr lang="en-US" b="1"/>
              <a:t>a number with a timestamp</a:t>
            </a:r>
            <a:endParaRPr lang="en-US"/>
          </a:p>
          <a:p xmlns:a="http://schemas.openxmlformats.org/drawingml/2006/main">
            <a:pPr lvl="0"/>
            <a:r>
              <a:rPr lang="en-US"/>
              <a:t>The same number can mean </a:t>
            </a:r>
            <a:r>
              <a:rPr lang="en-US" i="1"/>
              <a:t>nothing</a:t>
            </a:r>
            <a:r>
              <a:rPr lang="en-US"/>
              <a:t> or </a:t>
            </a:r>
            <a:r>
              <a:rPr lang="en-US" i="1"/>
              <a:t>everything</a:t>
            </a:r>
            <a:r>
              <a:rPr lang="en-US"/>
              <a:t>, depending on what it's attached to</a:t>
            </a:r>
            <a:endParaRPr lang="en-US"/>
          </a:p>
          <a:p xmlns:a="http://schemas.openxmlformats.org/drawingml/2006/main">
            <a:pPr lvl="0"/>
            <a:r>
              <a:rPr lang="en-US"/>
              <a:t>Without context, every downstream system — dashboards, alerts, agents — has to </a:t>
            </a:r>
            <a:r>
              <a:rPr lang="en-US" i="1"/>
              <a:t>guess</a:t>
            </a:r>
            <a:r>
              <a:rPr lang="en-US"/>
              <a:t> at meaning</a:t>
            </a:r>
            <a:endParaRPr lang="en-US"/>
          </a:p>
          <a:p xmlns:a="http://schemas.openxmlformats.org/drawingml/2006/main">
            <a:pPr lvl="0"/>
            <a:r>
              <a:rPr lang="en-US"/>
              <a:t>With context, the same event becomes a </a:t>
            </a:r>
            <a:r>
              <a:rPr lang="en-US" b="1"/>
              <a:t>traceable, explainable business fact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deck-4b7b4bd90e5e</m2p:deckId>
        <m2p:slideId>topic-2-why-context-matters-for-event-interpretation</m2p:slideId>
        <m2p:title>Topic 2 — Why context matters for event interpretation</m2p:title>
        <m2p:hash>sha256:bd7282733e10d4655bc403c42c558ff9a62c900abcf36dff7891969b5dfda2a8</m2p:hash>
        <m2p:sourceSlide>module-01-slides.md#slide-6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Case study: what does -9°C mean?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 b="1"/>
              <a:t>Without context</a:t>
            </a:r>
            <a:endParaRPr lang="en-US"/>
          </a:p>
          <a:p xmlns:a="http://schemas.openxmlformats.org/drawingml/2006/main">
            <a:pPr lvl="0"/>
            <a:r>
              <a:rPr lang="en-US"/>
              <a:t>Reading: </a:t>
            </a:r>
            <a:r>
              <a:rPr lang="en-US"/>
              <a:t>-9°C</a:t>
            </a:r>
            <a:endParaRPr lang="en-US"/>
          </a:p>
          <a:p xmlns:a="http://schemas.openxmlformats.org/drawingml/2006/main">
            <a:pPr lvl="0"/>
            <a:r>
              <a:rPr lang="en-US"/>
              <a:t>Source: </a:t>
            </a:r>
            <a:r>
              <a:rPr lang="en-US"/>
              <a:t>sensor-4471</a:t>
            </a:r>
            <a:endParaRPr lang="en-US"/>
          </a:p>
          <a:p xmlns:a="http://schemas.openxmlformats.org/drawingml/2006/main">
            <a:pPr lvl="0"/>
            <a:r>
              <a:rPr lang="en-US"/>
              <a:t>...is that bad?</a:t>
            </a:r>
            <a:endParaRPr lang="en-US"/>
          </a:p>
          <a:p xmlns:a="http://schemas.openxmlformats.org/drawingml/2006/main">
            <a:pPr>
              <a:buNone/>
            </a:pPr>
            <a:r>
              <a:rPr lang="en-US" b="1"/>
              <a:t>With context</a:t>
            </a:r>
            <a:endParaRPr lang="en-US"/>
          </a:p>
          <a:p xmlns:a="http://schemas.openxmlformats.org/drawingml/2006/main">
            <a:pPr lvl="0"/>
            <a:r>
              <a:rPr lang="en-US"/>
              <a:t>Reading: </a:t>
            </a:r>
            <a:r>
              <a:rPr lang="en-US"/>
              <a:t>-9°C</a:t>
            </a:r>
            <a:endParaRPr lang="en-US"/>
          </a:p>
          <a:p xmlns:a="http://schemas.openxmlformats.org/drawingml/2006/main">
            <a:pPr lvl="0"/>
            <a:r>
              <a:rPr lang="en-US"/>
              <a:t>Entity: </a:t>
            </a:r>
            <a:r>
              <a:rPr lang="en-US" b="1"/>
              <a:t>Freezer FZ-118</a:t>
            </a:r>
            <a:endParaRPr lang="en-US"/>
          </a:p>
          <a:p xmlns:a="http://schemas.openxmlformats.org/drawingml/2006/main">
            <a:pPr lvl="0"/>
            <a:r>
              <a:rPr lang="en-US"/>
              <a:t>Normal range: </a:t>
            </a:r>
            <a:r>
              <a:rPr lang="en-US" b="1"/>
              <a:t>-18°C to -22°C</a:t>
            </a:r>
            <a:endParaRPr lang="en-US"/>
          </a:p>
          <a:p xmlns:a="http://schemas.openxmlformats.org/drawingml/2006/main">
            <a:pPr lvl="0"/>
            <a:r>
              <a:rPr lang="en-US"/>
              <a:t>Store: </a:t>
            </a:r>
            <a:r>
              <a:rPr lang="en-US" b="1"/>
              <a:t>Copenhagen Nørrebro</a:t>
            </a:r>
            <a:endParaRPr lang="en-US"/>
          </a:p>
          <a:p xmlns:a="http://schemas.openxmlformats.org/drawingml/2006/main">
            <a:pPr lvl="0"/>
            <a:r>
              <a:rPr lang="en-US"/>
              <a:t>⚠️ </a:t>
            </a:r>
            <a:r>
              <a:rPr lang="en-US" b="1"/>
              <a:t>9°C above spec — door open or compressor fault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deck-4b7b4bd90e5e</m2p:deckId>
        <m2p:slideId>case-study-what-does-9-c-mean</m2p:slideId>
        <m2p:title>Case study: what does -9°C mean?</m2p:title>
        <m2p:hash>sha256:fc3a92fd55919698f92c28d11179e4212801b91ffc28645f9e4e3a090f0c2533</m2p:hash>
        <m2p:sourceSlide>module-01-slides.md#slide-7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The same reading, a different entity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/>
              <a:t>-9°C</a:t>
            </a:r>
            <a:r>
              <a:rPr lang="en-US"/>
              <a:t> at a </a:t>
            </a:r>
            <a:r>
              <a:rPr lang="en-US" b="1"/>
              <a:t>freezer</a:t>
            </a:r>
            <a:r>
              <a:rPr lang="en-US"/>
              <a:t> → alarming, act now</a:t>
            </a:r>
            <a:endParaRPr lang="en-US"/>
          </a:p>
          <a:p xmlns:a="http://schemas.openxmlformats.org/drawingml/2006/main">
            <a:pPr lvl="0"/>
            <a:r>
              <a:rPr lang="en-US"/>
              <a:t>-9°C</a:t>
            </a:r>
            <a:r>
              <a:rPr lang="en-US"/>
              <a:t> at a </a:t>
            </a:r>
            <a:r>
              <a:rPr lang="en-US" b="1"/>
              <a:t>loading dock cold room</a:t>
            </a:r>
            <a:r>
              <a:rPr lang="en-US"/>
              <a:t> (spec: -5°C to -10°C) → perfectly normal</a:t>
            </a:r>
            <a:endParaRPr lang="en-US"/>
          </a:p>
          <a:p xmlns:a="http://schemas.openxmlformats.org/drawingml/2006/main">
            <a:pPr lvl="0"/>
            <a:r>
              <a:rPr lang="en-US"/>
              <a:t>The raw event is identical — </a:t>
            </a:r>
            <a:r>
              <a:rPr lang="en-US" b="1"/>
              <a:t>only the entity context changes the required action</a:t>
            </a:r>
            <a:endParaRPr lang="en-US"/>
          </a:p>
          <a:p xmlns:a="http://schemas.openxmlformats.org/drawingml/2006/main">
            <a:pPr lvl="0"/>
            <a:r>
              <a:rPr lang="en-US"/>
              <a:t>This is exactly what an ontology encodes: which entity, what's normal for it, what it relates to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deck-4b7b4bd90e5e</m2p:deckId>
        <m2p:slideId>the-same-reading-a-different-entity</m2p:slideId>
        <m2p:title>The same reading, a different entity</m2p:title>
        <m2p:hash>sha256:6139994c5cea8ed224c79dca73ca04adcc6a4d525cc91d57c679ed8479a6e373</m2p:hash>
        <m2p:sourceSlide>module-01-slides.md#slide-8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Where we're headed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 b="1"/>
              <a:t>Module 02</a:t>
            </a:r>
            <a:r>
              <a:rPr lang="en-US"/>
              <a:t> — get the static and live data ready for grounding</a:t>
            </a:r>
            <a:endParaRPr lang="en-US"/>
          </a:p>
          <a:p xmlns:a="http://schemas.openxmlformats.org/drawingml/2006/main">
            <a:pPr lvl="0"/>
            <a:r>
              <a:rPr lang="en-US" b="1"/>
              <a:t>Module 03</a:t>
            </a:r>
            <a:r>
              <a:rPr lang="en-US"/>
              <a:t> — build </a:t>
            </a:r>
            <a:r>
              <a:rPr lang="en-US"/>
              <a:t>ColdChainOntology</a:t>
            </a:r>
            <a:r>
              <a:rPr lang="en-US"/>
              <a:t> so "-9°C" always resolves to the right entity and meaning</a:t>
            </a:r>
            <a:endParaRPr lang="en-US"/>
          </a:p>
          <a:p xmlns:a="http://schemas.openxmlformats.org/drawingml/2006/main">
            <a:pPr lvl="0"/>
            <a:r>
              <a:rPr lang="en-US" b="1"/>
              <a:t>Module 04</a:t>
            </a:r>
            <a:r>
              <a:rPr lang="en-US"/>
              <a:t> — put agents on top that reason in business terms, not raw thresholds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deck-4b7b4bd90e5e</m2p:deckId>
        <m2p:slideId>where-we-re-headed</m2p:slideId>
        <m2p:title>Where we're headed</m2p:title>
        <m2p:hash>sha256:aeabe4c1ba98266c66f58be65e3d1e2b7e673a2e219288e201f9e4363dc75da0</m2p:hash>
        <m2p:sourceSlide>module-01-slides.md#slide-9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ent Placeholder"/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 b="1"/>
              <a:t>Hands-on lab</a:t>
            </a:r>
            <a:endParaRPr lang="en-US"/>
          </a:p>
          <a:p xmlns:a="http://schemas.openxmlformats.org/drawingml/2006/main">
            <a:pPr>
              <a:buNone/>
            </a:pPr>
            <a:r>
              <a:rPr lang="en-US" b="1"/>
              <a:t>Lab 01 — Architecture &amp; context walkthrough</a:t>
            </a:r>
            <a:endParaRPr lang="en-US"/>
          </a:p>
          <a:p xmlns:a="http://schemas.openxmlformats.org/drawingml/2006/main">
            <a:pPr lvl="0"/>
            <a:r>
              <a:rPr lang="en-US"/>
              <a:t>Tour the </a:t>
            </a:r>
            <a:r>
              <a:rPr lang="en-US"/>
              <a:t>Fabric IQ</a:t>
            </a:r>
            <a:r>
              <a:rPr lang="en-US"/>
              <a:t> workspace and identify each architectural layer</a:t>
            </a:r>
            <a:endParaRPr lang="en-US"/>
          </a:p>
          <a:p xmlns:a="http://schemas.openxmlformats.org/drawingml/2006/main">
            <a:pPr lvl="0"/>
            <a:r>
              <a:rPr lang="en-US"/>
              <a:t>Inspect the raw telemetry stream and discuss what context is missing</a:t>
            </a:r>
            <a:endParaRPr lang="en-US"/>
          </a:p>
          <a:p xmlns:a="http://schemas.openxmlformats.org/drawingml/2006/main">
            <a:pPr>
              <a:buNone/>
            </a:pPr>
            <a:r>
              <a:rPr lang="en-US"/>
              <a:t>📄 </a:t>
            </a:r>
            <a:r>
              <a:rPr lang="en-US"/>
              <a:t>modules/module-01-architecture-and-context/lab-01-explore-workspace-and-data-landscape.md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deck-4b7b4bd90e5e</m2p:deckId>
        <m2p:slideId>hands-on-lab</m2p:slideId>
        <m2p:title>Hands-on lab</m2p:title>
        <m2p:hash>sha256:aee21dff6e89dfb7a3f1cd40efce9900c880bf1e8baf51717061c9e3762e23aa</m2p:hash>
        <m2p:sourceSlide>module-01-slides.md#slide-10</m2p:sourceSlide>
        <m2p:generatorVersion>1.0.0.0</m2p:generatorVersion>
        <m2p:layoutRef>Section Break Slide</m2p:layoutRef>
        <m2p:templateRef>EMFCC26_SpeakerPPT_TemplateA_Styled_Accessibility Review_Updated_11Aug.pptx</m2p:templateRef>
      </m2p:meta>
    </p:ext>
  </p:extLst>
</p:sld>
</file>

<file path=ppt/theme/theme1.xml><?xml version="1.0" encoding="utf-8"?>
<a:theme xmlns:thm15="http://schemas.microsoft.com/office/thememl/2012/main" xmlns:a="http://schemas.openxmlformats.org/drawingml/2006/main" name="Splash Scre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ai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t">
        <a:spAutoFit/>
      </a:bodyPr>
      <a:lstStyle>
        <a:defPPr algn="l">
          <a:defRPr sz="2400" dirty="0">
            <a:latin typeface="Calibri Light" charset="0"/>
            <a:ea typeface="Calibri Light" charset="0"/>
            <a:cs typeface="Calibri Light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Scre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21fbb9a-23db-4311-a69c-34622b264696">
      <Terms xmlns="http://schemas.microsoft.com/office/infopath/2007/PartnerControls"/>
    </lcf76f155ced4ddcb4097134ff3c332f>
    <TaxCatchAll xmlns="1b3b1065-ae42-4d8a-aa8c-0a73a17faba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51F54D7AD26C459333D1AFF09839BE" ma:contentTypeVersion="14" ma:contentTypeDescription="Create a new document." ma:contentTypeScope="" ma:versionID="267f41264e04a5c3ada0074a8fd340dc">
  <xsd:schema xmlns:xsd="http://www.w3.org/2001/XMLSchema" xmlns:xs="http://www.w3.org/2001/XMLSchema" xmlns:p="http://schemas.microsoft.com/office/2006/metadata/properties" xmlns:ns2="221fbb9a-23db-4311-a69c-34622b264696" xmlns:ns3="1b3b1065-ae42-4d8a-aa8c-0a73a17faba8" targetNamespace="http://schemas.microsoft.com/office/2006/metadata/properties" ma:root="true" ma:fieldsID="b5806782e6246c3a79c8d8c00ea8f5e6" ns2:_="" ns3:_="">
    <xsd:import namespace="221fbb9a-23db-4311-a69c-34622b264696"/>
    <xsd:import namespace="1b3b1065-ae42-4d8a-aa8c-0a73a17fab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1fbb9a-23db-4311-a69c-34622b2646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d530a17-84a2-4d03-b447-f9955f42fe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3b1065-ae42-4d8a-aa8c-0a73a17faba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72881c0-9f09-48c0-b71c-fddfa2680fd3}" ma:internalName="TaxCatchAll" ma:showField="CatchAllData" ma:web="1b3b1065-ae42-4d8a-aa8c-0a73a17fab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7D26BB1-7F1F-46F1-8F3C-0C47CE043432}">
  <ds:schemaRefs>
    <ds:schemaRef ds:uri="221fbb9a-23db-4311-a69c-34622b264696"/>
    <ds:schemaRef ds:uri="http://purl.org/dc/dcmitype/"/>
    <ds:schemaRef ds:uri="http://purl.org/dc/terms/"/>
    <ds:schemaRef ds:uri="http://schemas.microsoft.com/office/2006/metadata/properties"/>
    <ds:schemaRef ds:uri="1b3b1065-ae42-4d8a-aa8c-0a73a17faba8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E38309D-794A-4787-9F1D-A760486AD1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1fbb9a-23db-4311-a69c-34622b264696"/>
    <ds:schemaRef ds:uri="1b3b1065-ae42-4d8a-aa8c-0a73a17fab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157E49-3C57-4281-B896-98EEEB20EAB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:vt="http://schemas.openxmlformats.org/officeDocument/2006/docPropsVTypes" xmlns="http://schemas.openxmlformats.org/officeDocument/2006/extended-properties">
  <TotalTime>0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Aptos Display</vt:lpstr>
      <vt:lpstr>MarpToPptx Theme</vt:lpstr>
      <vt:lpstr>Module 01</vt:lpstr>
      <vt:lpstr>Learning objectives</vt:lpstr>
      <vt:lpstr>Topic 1 — What is Fabric IQ?</vt:lpstr>
      <vt:lpstr>The architecture, three layers</vt:lpstr>
      <vt:lpstr>How the layers connect</vt:lpstr>
      <vt:lpstr>Topic 2 — Why context matters for event interpretation</vt:lpstr>
      <vt:lpstr>Case study: what does -9°C mean?</vt:lpstr>
      <vt:lpstr>The same reading, a different entity</vt:lpstr>
      <vt:lpstr>Where we're headed</vt:lpstr>
      <vt:lpstr>Hands-on lab</vt:lpstr>
    </vt:vector>
  </TitlesOfParts>
  <Company>Created by MarpToPptx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01</dc:title>
  <dc:subject>PowerPoint Presentation</dc:subject>
  <dc:creator>MarpToPptx</dc:creator>
  <cp:lastModifiedBy>MarpToPptx</cp:lastModifiedBy>
  <cp:revision>1</cp:revision>
  <dcterms:created xsi:type="dcterms:W3CDTF">2026-09-06T19:09:21Z</dcterms:created>
  <dcterms:modified xsi:type="dcterms:W3CDTF">2026-09-06T19:09:21Z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0x010100A051F54D7AD26C459333D1AFF09839BE</vt:lpwstr>
  </property>
</Properties>
</file>
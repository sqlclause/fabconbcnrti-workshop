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35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2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B44"/>
    <a:srgbClr val="007864"/>
    <a:srgbClr val="013F34"/>
    <a:srgbClr val="BCA045"/>
    <a:srgbClr val="FFC300"/>
    <a:srgbClr val="F4F4F4"/>
    <a:srgbClr val="002C4C"/>
    <a:srgbClr val="FF4713"/>
    <a:srgbClr val="D0DBFF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A60C5-3AC7-2D4E-951A-6654EB0F1546}" v="2" dt="2026-08-11T14:48:25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viewPr xmlns:a="http://schemas.openxmlformats.org/drawingml/2006/main" xmlns:r="http://schemas.openxmlformats.org/officeDocument/2006/relationships" xmlns="http://schemas.openxmlformats.org/presentationml/2006/main">
  <normalViewPr horzBarState="maximized">
    <restoredLeft sz="15611"/>
    <restoredTop sz="94610"/>
  </normalViewPr>
  <slideViewPr>
    <cSldViewPr snapToGrid="0" snapToObjects="1">
      <cViewPr varScale="1">
        <scale>
          <a:sx n="136" d="100"/>
          <a:sy n="136" d="100"/>
        </scale>
        <origin x="216" y="312"/>
      </cViewPr>
      <guideLst/>
    </cSldViewPr>
  </slideViewPr>
  <notesTextViewPr>
    <cViewPr>
      <scale>
        <a:sx n="1" d="1"/>
        <a:sy n="1" d="1"/>
      </scale>
      <origin x="0" y="0"/>
    </cViewPr>
  </notesTextViewPr>
  <gridSpacing cx="76200" cy="76200"/>
</viewPr>
</file>

<file path=ppt/_rels/presentation.xml.rels>&#65279;<?xml version="1.0" encoding="utf-8"?>
<Relationships xmlns="http://schemas.openxmlformats.org/package/2006/relationships">
  <Relationship Type="http://schemas.openxmlformats.org/officeDocument/2006/relationships/theme" Target="theme/theme1.xml" Id="rId26" />
  <Relationship Type="http://schemas.openxmlformats.org/officeDocument/2006/relationships/customXml" Target="../customXml/item3.xml" Id="rId3" />
  <Relationship Type="http://schemas.openxmlformats.org/officeDocument/2006/relationships/slideMaster" Target="slideMasters/slideMaster4.xml" Id="rId7" />
  <Relationship Type="http://schemas.openxmlformats.org/officeDocument/2006/relationships/viewProps" Target="viewProps.xml" Id="rId25" />
  <Relationship Type="http://schemas.openxmlformats.org/officeDocument/2006/relationships/customXml" Target="../customXml/item2.xml" Id="rId2" />
  <Relationship Type="http://schemas.microsoft.com/office/2018/10/relationships/authors" Target="authors.xml" Id="rId29" />
  <Relationship Type="http://schemas.openxmlformats.org/officeDocument/2006/relationships/customXml" Target="../customXml/item1.xml" Id="rId1" />
  <Relationship Type="http://schemas.openxmlformats.org/officeDocument/2006/relationships/slideMaster" Target="slideMasters/slideMaster3.xml" Id="rId6" />
  <Relationship Type="http://schemas.openxmlformats.org/officeDocument/2006/relationships/presProps" Target="presProps.xml" Id="rId24" />
  <Relationship Type="http://schemas.openxmlformats.org/officeDocument/2006/relationships/slideMaster" Target="slideMasters/slideMaster2.xml" Id="rId5" />
  <Relationship Type="http://schemas.openxmlformats.org/officeDocument/2006/relationships/commentAuthors" Target="commentAuthors.xml" Id="rId23" />
  <Relationship Type="http://schemas.microsoft.com/office/2015/10/relationships/revisionInfo" Target="revisionInfo.xml" Id="rId28" />
  <Relationship Type="http://schemas.openxmlformats.org/officeDocument/2006/relationships/slideMaster" Target="slideMasters/slideMaster1.xml" Id="rId4" />
  <Relationship Type="http://schemas.openxmlformats.org/officeDocument/2006/relationships/notesMaster" Target="notesMasters/notesMaster1.xml" Id="rId22" />
  <Relationship Type="http://schemas.openxmlformats.org/officeDocument/2006/relationships/tableStyles" Target="tableStyles.xml" Id="rId27" />
  <Relationship Type="http://schemas.openxmlformats.org/officeDocument/2006/relationships/slide" Target="slides/slide29.xml" Id="rId8" />
  <Relationship Type="http://schemas.openxmlformats.org/officeDocument/2006/relationships/slide" Target="slides/slide30.xml" Id="rId9" />
  <Relationship Type="http://schemas.openxmlformats.org/officeDocument/2006/relationships/slide" Target="slides/slide31.xml" Id="rId10" />
  <Relationship Type="http://schemas.openxmlformats.org/officeDocument/2006/relationships/slide" Target="slides/slide32.xml" Id="rId11" />
  <Relationship Type="http://schemas.openxmlformats.org/officeDocument/2006/relationships/slide" Target="slides/slide33.xml" Id="rId12" />
  <Relationship Type="http://schemas.openxmlformats.org/officeDocument/2006/relationships/slide" Target="slides/slide34.xml" Id="rId13" />
  <Relationship Type="http://schemas.openxmlformats.org/officeDocument/2006/relationships/slide" Target="slides/slide35.xml" Id="rId14" />
  <Relationship Type="http://schemas.openxmlformats.org/officeDocument/2006/relationships/slide" Target="slides/slide36.xml" Id="rId15" 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&#65279;<?xml version="1.0" encoding="utf-8"?>
<Relationships xmlns="http://schemas.openxmlformats.org/package/2006/relationships">
  <Relationship Type="http://schemas.openxmlformats.org/officeDocument/2006/relationships/image" Target="../media/image2.jpg" Id="rId3" />
  <Relationship Type="http://schemas.openxmlformats.org/officeDocument/2006/relationships/slideLayout" Target="../slideLayouts/slideLayout2.xml" Id="rId1" />
</Relationships>
</file>

<file path=ppt/slides/_rels/slide30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8.xml" Id="rId1" />
</Relationships>
</file>

<file path=ppt/slides/_rels/slide3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2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  <Relationship Type="http://schemas.openxmlformats.org/officeDocument/2006/relationships/hyperlink" Target="https://learn.microsoft.com/fabric/iq/get-started-with-fabric-iq" TargetMode="External" Id="R9d9b7825cce84557" />
  <Relationship Type="http://schemas.openxmlformats.org/officeDocument/2006/relationships/hyperlink" Target="https://learn.microsoft.com/fabric/iq/overview" TargetMode="External" Id="R0a260acc53794166" />
  <Relationship Type="http://schemas.openxmlformats.org/officeDocument/2006/relationships/hyperlink" Target="https://learn.microsoft.com/fabric/iq/ontology/tutorial-0-introduction" TargetMode="External" Id="R3209c550285c4a8d" />
  <Relationship Type="http://schemas.openxmlformats.org/officeDocument/2006/relationships/hyperlink" Target="https://learn.microsoft.com/fabric/iq/ontology/tutorial-1-create-ontology" TargetMode="External" Id="R8296b8b32f734e85" />
  <Relationship Type="http://schemas.openxmlformats.org/officeDocument/2006/relationships/hyperlink" Target="https://learn.microsoft.com/fabric/iq/ontology/tutorial-4-create-data-agent" TargetMode="External" Id="Re0eadd7b236643c1" />
</Relationships>
</file>

<file path=ppt/slides/_rels/slide33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  <Relationship Type="http://schemas.openxmlformats.org/officeDocument/2006/relationships/hyperlink" Target="https://learn.microsoft.com/fabric/real-time-intelligence/digital-twin-builder/tutorial-rti-1-upload-contextual-data" TargetMode="External" Id="R0edad3f6bd3f495e" />
  <Relationship Type="http://schemas.openxmlformats.org/officeDocument/2006/relationships/hyperlink" Target="https://learn.microsoft.com/kusto/management/update-policy" TargetMode="External" Id="Rc15f3c0e67774afa" />
  <Relationship Type="http://schemas.openxmlformats.org/officeDocument/2006/relationships/hyperlink" Target="https://learn.microsoft.com/kusto/management/materialized-views/materialized-view-use-cases" TargetMode="External" Id="Re761ecb1344a47b3" />
  <Relationship Type="http://schemas.openxmlformats.org/officeDocument/2006/relationships/hyperlink" Target="https://learn.microsoft.com/fabric/iq/ontology/how-to-create-operations-agent" TargetMode="External" Id="R087c1fc13e204e8e" />
  <Relationship Type="http://schemas.openxmlformats.org/officeDocument/2006/relationships/hyperlink" Target="https://learn.microsoft.com/fabric/iq/ontology/how-to-use-rules" TargetMode="External" Id="Racf66d28fd1d426b" />
  <Relationship Type="http://schemas.openxmlformats.org/officeDocument/2006/relationships/hyperlink" Target="https://learn.microsoft.com/fabric/iq/ontology/concepts-agent-integration" TargetMode="External" Id="Rd31afe86c7f549cd" />
  <Relationship Type="http://schemas.openxmlformats.org/officeDocument/2006/relationships/hyperlink" Target="https://learn.microsoft.com/microsoft-copilot-studio/mcp-fabric-iq-ontology" TargetMode="External" Id="R3f53e9a39f4d4a28" />
  <Relationship Type="http://schemas.openxmlformats.org/officeDocument/2006/relationships/hyperlink" Target="https://microsoftlearning.github.io/mslearn-fabric/" TargetMode="External" Id="R6ef56560a5af4f19" />
</Relationships>
</file>

<file path=ppt/slides/_rels/slide34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5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6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2.xml" Id="rId1" />
</Relationships>
</file>

<file path=ppt/slides/slide29.xml><?xml version="1.0" encoding="utf-8"?>
<p:sld xmlns:a16="http://schemas.microsoft.com/office/drawing/2014/main" xmlns:adec="http://schemas.microsoft.com/office/drawing/2017/decorative" xmlns:p14="http://schemas.microsoft.com/office/powerpoint/2010/main" xmlns:m2p="urn:marptopptx:metadata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0CC446-2BE1-533C-6F9A-2CADE0533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479919"/>
          </a:xfrm>
          <a:prstGeom prst="rect">
            <a:avLst/>
          </a:prstGeom>
          <a:solidFill>
            <a:srgbClr val="BCA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Wrap-up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FE7F2-7594-C345-99E2-801E68C39C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25891" y="1396314"/>
            <a:ext cx="8011886" cy="14465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rPr>
              <a:t>Module 06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EF1E-D858-9C47-9A95-2D236BFD2F31}"/>
              </a:ext>
            </a:extLst>
          </p:cNvPr>
          <p:cNvSpPr txBox="1"/>
          <p:nvPr/>
        </p:nvSpPr>
        <p:spPr>
          <a:xfrm>
            <a:off x="3925891" y="4302696"/>
            <a:ext cx="8011886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3891A-AA58-D14F-909B-BF581581CD69}"/>
              </a:ext>
            </a:extLst>
          </p:cNvPr>
          <p:cNvSpPr txBox="1"/>
          <p:nvPr/>
        </p:nvSpPr>
        <p:spPr>
          <a:xfrm>
            <a:off x="3925891" y="4918822"/>
            <a:ext cx="801188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07F331A-088A-5E4B-ADDD-52C41D93C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32130" y="1587834"/>
            <a:ext cx="1700881" cy="1700798"/>
          </a:xfrm>
          <a:prstGeom prst="rect">
            <a:avLst/>
          </a:prstGeom>
        </p:spPr>
        <p:txBody>
          <a:bodyPr/>
          <a:lstStyle/>
          <a:p>
            <a:endParaRPr lang="en-US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F310C-2089-97AC-AE64-D6BB59BB61DA}"/>
              </a:ext>
            </a:extLst>
          </p:cNvPr>
          <p:cNvSpPr txBox="1"/>
          <p:nvPr/>
        </p:nvSpPr>
        <p:spPr>
          <a:xfrm>
            <a:off x="2777565" y="39904"/>
            <a:ext cx="663686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b="1" spc="100" dirty="0">
                <a:solidFill>
                  <a:srgbClr val="125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 · resources · next steps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6711"/>
      </p:ext>
    </p:extLst>
  </p:cSld>
  <p:clrMapOvr>
    <a:masterClrMapping/>
  </p:clrMapOvr>
  <p:extLst>
    <p:ext uri="urn:marptopptx:slide-metadata">
      <m2p:meta xmlns:m2p="urn:marptopptx:metadata" version="2">
        <m2p:deckId>deck-b901080406aa</m2p:deckId>
        <m2p:slideId>module-06</m2p:slideId>
        <m2p:title>Module 06</m2p:title>
        <m2p:hash>sha256:e1bffb00ad2bb45b4ea8bf4c46be9e1e67d34b3d6296b48988c1e1ee522a9129</m2p:hash>
        <m2p:sourceSlide>module-06-slides.md#slide-1</m2p:sourceSlide>
        <m2p:generatorVersion>1.0.0.0</m2p:generatorVersion>
        <m2p:layoutRef>Template[3]</m2p:layoutRef>
        <m2p:templateRef>EMFCC26_SpeakerPPT_TemplateA_Styled_Accessibility Review_Updated_11Aug.pptx</m2p:templateRef>
      </m2p:meta>
    </p:ext>
  </p:extLst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What you built today</a:t>
            </a:r>
            <a:endParaRPr lang="en-US"/>
          </a:p>
        </p:txBody>
      </p:sp>
      <p:sp>
        <p:nvSpPr>
          <p:cNvPr id="3" name="Code (text)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2005263"/>
            <a:ext cx="5213433" cy="39145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0F766E"/>
            </a:solidFill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Fabric IQ (workspace)</a:t>
            </a:r>
            <a:endParaRPr lang="en-US" sz="1089"/>
          </a:p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  │</a:t>
            </a:r>
            <a:endParaRPr lang="en-US" sz="1089"/>
          </a:p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  ├── ColdChainLakehouse ─── Customers · Stores · Freezers</a:t>
            </a:r>
            <a:endParaRPr lang="en-US" sz="1089"/>
          </a:p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  ├── ColdChainEventhouse ── ColdChainKQLDB</a:t>
            </a:r>
            <a:endParaRPr lang="en-US" sz="1089"/>
          </a:p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  │      FreezerTelemetryRaw ──▶ FreezerTelemetryEnriched</a:t>
            </a:r>
            <a:endParaRPr lang="en-US" sz="1089"/>
          </a:p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  ├── FreezerTelemetryEventstream</a:t>
            </a:r>
            <a:endParaRPr lang="en-US" sz="1089"/>
          </a:p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  │</a:t>
            </a:r>
            <a:endParaRPr lang="en-US" sz="1089"/>
          </a:p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  ├── ColdChainOntology ──── Customer ─shops at→ Store ─has→ Freezer</a:t>
            </a:r>
            <a:endParaRPr lang="en-US" sz="1089"/>
          </a:p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  │                                                    (static + live bound)</a:t>
            </a:r>
            <a:endParaRPr lang="en-US" sz="1089"/>
          </a:p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  │</a:t>
            </a:r>
            <a:endParaRPr lang="en-US" sz="1089"/>
          </a:p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  ├── ColdChainDataAgent ─────── grounded in ColdChainOntology</a:t>
            </a:r>
            <a:endParaRPr lang="en-US" sz="1089"/>
          </a:p>
          <a:p xmlns:a="http://schemas.openxmlformats.org/drawingml/2006/main">
            <a:r>
              <a:rPr lang="en-US" sz="1089" b="0">
                <a:solidFill>
                  <a:srgbClr val="F8FAFC"/>
                </a:solidFill>
                <a:latin typeface="Cascadia Mono"/>
              </a:rPr>
              <a:t>  └── ColdChainOperationsAgent ─ + "Freezer running warm" rule</a:t>
            </a:r>
            <a:endParaRPr lang="en-US" sz="1089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deck-b901080406aa</m2p:deckId>
        <m2p:slideId>what-you-built-today</m2p:slideId>
        <m2p:title>What you built today</m2p:title>
        <m2p:hash>sha256:b6da08f265d41e3f9ea9837d9a397dc980e57912e4f1fddf5ae1cb27e0044695</m2p:hash>
        <m2p:sourceSlide>module-06-slides.md#slide-2</m2p:sourceSlide>
        <m2p:generatorVersion>1.0.0.0</m2p:generatorVersion>
        <m2p:layoutRef>Main Content : Title + Visual Data</m2p:layoutRef>
        <m2p:templateRef>EMFCC26_SpeakerPPT_TemplateA_Styled_Accessibility Review_Updated_11Aug.pptx</m2p:templateRef>
      </m2p:meta>
    </p:ext>
  </p:extLst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The arc of the day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AutoNum type="arabicPeriod" startAt="1"/>
            </a:pPr>
            <a:r>
              <a:rPr lang="en-US" b="1"/>
              <a:t>Module 01</a:t>
            </a:r>
            <a:r>
              <a:rPr lang="en-US"/>
              <a:t> — a raw reading means nothing without context</a:t>
            </a:r>
            <a:endParaRPr lang="en-US"/>
          </a:p>
          <a:p xmlns:a="http://schemas.openxmlformats.org/drawingml/2006/main">
            <a:pPr lvl="0">
              <a:buAutoNum type="arabicPeriod" startAt="2"/>
            </a:pPr>
            <a:r>
              <a:rPr lang="en-US" b="1"/>
              <a:t>Module 02</a:t>
            </a:r>
            <a:r>
              <a:rPr lang="en-US"/>
              <a:t> — prepared static context and live telemetry to be groundable</a:t>
            </a:r>
            <a:endParaRPr lang="en-US"/>
          </a:p>
          <a:p xmlns:a="http://schemas.openxmlformats.org/drawingml/2006/main">
            <a:pPr lvl="0">
              <a:buAutoNum type="arabicPeriod" startAt="3"/>
            </a:pPr>
            <a:r>
              <a:rPr lang="en-US" b="1"/>
              <a:t>Module 03</a:t>
            </a:r>
            <a:r>
              <a:rPr lang="en-US"/>
              <a:t> — built the ontology that gives every reading a business meaning</a:t>
            </a:r>
            <a:endParaRPr lang="en-US"/>
          </a:p>
          <a:p xmlns:a="http://schemas.openxmlformats.org/drawingml/2006/main">
            <a:pPr lvl="0">
              <a:buAutoNum type="arabicPeriod" startAt="4"/>
            </a:pPr>
            <a:r>
              <a:rPr lang="en-US" b="1"/>
              <a:t>Module 04</a:t>
            </a:r>
            <a:r>
              <a:rPr lang="en-US"/>
              <a:t> — put agents on top that reason and act in business language</a:t>
            </a:r>
            <a:endParaRPr lang="en-US"/>
          </a:p>
          <a:p xmlns:a="http://schemas.openxmlformats.org/drawingml/2006/main">
            <a:pPr lvl="0">
              <a:buAutoNum type="arabicPeriod" startAt="5"/>
            </a:pPr>
            <a:r>
              <a:rPr lang="en-US" b="1"/>
              <a:t>Module 05</a:t>
            </a:r>
            <a:r>
              <a:rPr lang="en-US"/>
              <a:t> — saw how grounding makes those agents trustworthy and auditable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deck-b901080406aa</m2p:deckId>
        <m2p:slideId>the-arc-of-the-day</m2p:slideId>
        <m2p:title>The arc of the day</m2p:title>
        <m2p:hash>sha256:d7c075cb6805dff6ca3ad299874bb5ee4d46cc1a106290608ebd8a7a545f4ebc</m2p:hash>
        <m2p:sourceSlide>module-06-slides.md#slide-3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Official Microsoft tutorials this workshop adapted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>
                <a:hlinkClick xmlns:r="http://schemas.openxmlformats.org/officeDocument/2006/relationships" r:id="R9d9b7825cce84557"/>
              </a:rPr>
              <a:t>Get started with Fabric IQ</a:t>
            </a:r>
            <a:endParaRPr lang="en-US"/>
          </a:p>
          <a:p xmlns:a="http://schemas.openxmlformats.org/drawingml/2006/main">
            <a:pPr lvl="0"/>
            <a:r>
              <a:rPr lang="en-US">
                <a:hlinkClick xmlns:r="http://schemas.openxmlformats.org/officeDocument/2006/relationships" r:id="R0a260acc53794166"/>
              </a:rPr>
              <a:t>Fabric IQ overview</a:t>
            </a:r>
            <a:endParaRPr lang="en-US"/>
          </a:p>
          <a:p xmlns:a="http://schemas.openxmlformats.org/drawingml/2006/main">
            <a:pPr lvl="0"/>
            <a:r>
              <a:rPr lang="en-US">
                <a:hlinkClick xmlns:r="http://schemas.openxmlformats.org/officeDocument/2006/relationships" r:id="R3209c550285c4a8d"/>
              </a:rPr>
              <a:t>Ontology tutorial 0 — Introduction</a:t>
            </a:r>
            <a:endParaRPr lang="en-US"/>
          </a:p>
          <a:p xmlns:a="http://schemas.openxmlformats.org/drawingml/2006/main">
            <a:pPr lvl="0"/>
            <a:r>
              <a:rPr lang="en-US">
                <a:hlinkClick xmlns:r="http://schemas.openxmlformats.org/officeDocument/2006/relationships" r:id="R8296b8b32f734e85"/>
              </a:rPr>
              <a:t>Ontology tutorial 1 — Create an ontology</a:t>
            </a:r>
            <a:endParaRPr lang="en-US"/>
          </a:p>
          <a:p xmlns:a="http://schemas.openxmlformats.org/drawingml/2006/main">
            <a:pPr lvl="0"/>
            <a:r>
              <a:rPr lang="en-US">
                <a:hlinkClick xmlns:r="http://schemas.openxmlformats.org/officeDocument/2006/relationships" r:id="Re0eadd7b236643c1"/>
              </a:rPr>
              <a:t>Ontology tutorial 4 — Create a data agent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deck-b901080406aa</m2p:deckId>
        <m2p:slideId>official-microsoft-tutorials-this-workshop-adapted</m2p:slideId>
        <m2p:title>Official Microsoft tutorials this workshop adapted</m2p:title>
        <m2p:hash>sha256:293f233c8de85ae5b8f7a4886bdc0ab6bbb8f41b25719d8e320f7648c5059335</m2p:hash>
        <m2p:sourceSlide>module-06-slides.md#slide-4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Official Microsoft tutorials, continued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>
                <a:hlinkClick xmlns:r="http://schemas.openxmlformats.org/officeDocument/2006/relationships" r:id="R0edad3f6bd3f495e"/>
              </a:rPr>
              <a:t>Digital Twin Builder RTI tutorial — upload contextual data</a:t>
            </a:r>
            <a:endParaRPr lang="en-US"/>
          </a:p>
          <a:p xmlns:a="http://schemas.openxmlformats.org/drawingml/2006/main">
            <a:pPr lvl="0"/>
            <a:r>
              <a:rPr lang="en-US">
                <a:hlinkClick xmlns:r="http://schemas.openxmlformats.org/officeDocument/2006/relationships" r:id="Rc15f3c0e67774afa"/>
              </a:rPr>
              <a:t>Kusto update policies</a:t>
            </a:r>
            <a:endParaRPr lang="en-US"/>
          </a:p>
          <a:p xmlns:a="http://schemas.openxmlformats.org/drawingml/2006/main">
            <a:pPr lvl="0"/>
            <a:r>
              <a:rPr lang="en-US">
                <a:hlinkClick xmlns:r="http://schemas.openxmlformats.org/officeDocument/2006/relationships" r:id="Re761ecb1344a47b3"/>
              </a:rPr>
              <a:t>Kusto materialized views — use cases</a:t>
            </a:r>
            <a:endParaRPr lang="en-US"/>
          </a:p>
          <a:p xmlns:a="http://schemas.openxmlformats.org/drawingml/2006/main">
            <a:pPr lvl="0"/>
            <a:r>
              <a:rPr lang="en-US">
                <a:hlinkClick xmlns:r="http://schemas.openxmlformats.org/officeDocument/2006/relationships" r:id="R087c1fc13e204e8e"/>
              </a:rPr>
              <a:t>Create an operations agent</a:t>
            </a:r>
            <a:endParaRPr lang="en-US"/>
          </a:p>
          <a:p xmlns:a="http://schemas.openxmlformats.org/drawingml/2006/main">
            <a:pPr lvl="0"/>
            <a:r>
              <a:rPr lang="en-US">
                <a:hlinkClick xmlns:r="http://schemas.openxmlformats.org/officeDocument/2006/relationships" r:id="Racf66d28fd1d426b"/>
              </a:rPr>
              <a:t>Ontology rules</a:t>
            </a:r>
            <a:endParaRPr lang="en-US"/>
          </a:p>
          <a:p xmlns:a="http://schemas.openxmlformats.org/drawingml/2006/main">
            <a:pPr lvl="0"/>
            <a:r>
              <a:rPr lang="en-US">
                <a:hlinkClick xmlns:r="http://schemas.openxmlformats.org/officeDocument/2006/relationships" r:id="Rd31afe86c7f549cd"/>
              </a:rPr>
              <a:t>Agent integration concepts</a:t>
            </a:r>
            <a:endParaRPr lang="en-US"/>
          </a:p>
          <a:p xmlns:a="http://schemas.openxmlformats.org/drawingml/2006/main">
            <a:pPr lvl="0"/>
            <a:r>
              <a:rPr lang="en-US">
                <a:hlinkClick xmlns:r="http://schemas.openxmlformats.org/officeDocument/2006/relationships" r:id="R3f53e9a39f4d4a28"/>
              </a:rPr>
              <a:t>Fabric IQ Ontology MCP connector</a:t>
            </a:r>
            <a:endParaRPr lang="en-US"/>
          </a:p>
          <a:p xmlns:a="http://schemas.openxmlformats.org/drawingml/2006/main">
            <a:pPr lvl="0"/>
            <a:r>
              <a:rPr lang="en-US">
                <a:hlinkClick xmlns:r="http://schemas.openxmlformats.org/officeDocument/2006/relationships" r:id="R6ef56560a5af4f19"/>
              </a:rPr>
              <a:t>mslearn-fabric hands-on labs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deck-b901080406aa</m2p:deckId>
        <m2p:slideId>official-microsoft-tutorials-continued</m2p:slideId>
        <m2p:title>Official Microsoft tutorials, continued</m2p:title>
        <m2p:hash>sha256:67e20fea3e7189e74f8569cc9ed3522cf2247972af547a4245d24208af6f735c</m2p:hash>
        <m2p:sourceSlide>module-06-slides.md#slide-5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Keep learning after today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Rerun today's labs in your own tenant — the </a:t>
            </a:r>
            <a:r>
              <a:rPr lang="en-US"/>
              <a:t>modules/</a:t>
            </a:r>
            <a:r>
              <a:rPr lang="en-US"/>
              <a:t> folder is yours to keep</a:t>
            </a:r>
            <a:endParaRPr lang="en-US"/>
          </a:p>
          <a:p xmlns:a="http://schemas.openxmlformats.org/drawingml/2006/main">
            <a:pPr lvl="0"/>
            <a:r>
              <a:rPr lang="en-US"/>
              <a:t>Extend </a:t>
            </a:r>
            <a:r>
              <a:rPr lang="en-US"/>
              <a:t>ColdChainOntology</a:t>
            </a:r>
            <a:r>
              <a:rPr lang="en-US"/>
              <a:t> with a new entity type (e.g. </a:t>
            </a:r>
            <a:r>
              <a:rPr lang="en-US"/>
              <a:t>MaintenanceTicket</a:t>
            </a:r>
            <a:r>
              <a:rPr lang="en-US"/>
              <a:t>) as a self-study exercise</a:t>
            </a:r>
            <a:endParaRPr lang="en-US"/>
          </a:p>
          <a:p xmlns:a="http://schemas.openxmlformats.org/drawingml/2006/main">
            <a:pPr lvl="0"/>
            <a:r>
              <a:rPr lang="en-US"/>
              <a:t>Try grounding an external agent via the </a:t>
            </a:r>
            <a:r>
              <a:rPr lang="en-US" b="1"/>
              <a:t>Copilot Studio MCP connector</a:t>
            </a:r>
            <a:r>
              <a:rPr lang="en-US"/>
              <a:t> against your ontology</a:t>
            </a:r>
            <a:endParaRPr lang="en-US"/>
          </a:p>
          <a:p xmlns:a="http://schemas.openxmlformats.org/drawingml/2006/main">
            <a:pPr lvl="0"/>
            <a:r>
              <a:rPr lang="en-US"/>
              <a:t>Explore </a:t>
            </a:r>
            <a:r>
              <a:rPr lang="en-US" b="1"/>
              <a:t>Foundry IQ</a:t>
            </a:r>
            <a:r>
              <a:rPr lang="en-US"/>
              <a:t> if you're already building custom agentic apps in Azure AI Foundry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deck-b901080406aa</m2p:deckId>
        <m2p:slideId>keep-learning-after-today</m2p:slideId>
        <m2p:title>Keep learning after today</m2p:title>
        <m2p:hash>sha256:8bad30e2d20b5d62abc02f0b942ae5d467e50a857a74e8fc1d7719c7f5ebc0b8</m2p:hash>
        <m2p:sourceSlide>module-06-slides.md#slide-6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Before you go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If you provisioned a trial/temporary capacity just for today, remember to </a:t>
            </a:r>
            <a:r>
              <a:rPr lang="en-US" b="1"/>
              <a:t>clean up</a:t>
            </a:r>
            <a:r>
              <a:rPr lang="en-US"/>
              <a:t> the </a:t>
            </a:r>
            <a:r>
              <a:rPr lang="en-US"/>
              <a:t>Fabric IQ</a:t>
            </a:r>
            <a:r>
              <a:rPr lang="en-US"/>
              <a:t> workspace to avoid ongoing charges</a:t>
            </a:r>
            <a:endParaRPr lang="en-US"/>
          </a:p>
          <a:p xmlns:a="http://schemas.openxmlformats.org/drawingml/2006/main">
            <a:pPr lvl="0"/>
            <a:r>
              <a:rPr lang="en-US"/>
              <a:t>Slides, lab guides, and setup scripts all live in this repo — clone it, don't just screenshot it</a:t>
            </a:r>
            <a:endParaRPr lang="en-US"/>
          </a:p>
          <a:p xmlns:a="http://schemas.openxmlformats.org/drawingml/2006/main">
            <a:pPr lvl="0"/>
            <a:r>
              <a:rPr lang="en-US"/>
              <a:t>Feedback helps us improve the next run of this workshop — please fill in the session survey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deck-b901080406aa</m2p:deckId>
        <m2p:slideId>before-you-go</m2p:slideId>
        <m2p:title>Before you go</m2p:title>
        <m2p:hash>sha256:47aafb6d60646778bb1594f6ab32688024c385c156c3fc60dbd1b066e2b0e59e</m2p:hash>
        <m2p:sourceSlide>module-06-slides.md#slide-7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Thank you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Questions, feedback, and freezer-alert war stories always welcome.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deck-b901080406aa</m2p:deckId>
        <m2p:slideId>thank-you</m2p:slideId>
        <m2p:title>Thank you</m2p:title>
        <m2p:hash>sha256:94b834bbfd1a48711e11bcee9cc5b7d62b4aafbf84754ba5728b31b08fc961bf</m2p:hash>
        <m2p:sourceSlide>module-06-slides.md#slide-8</m2p:sourceSlide>
        <m2p:generatorVersion>1.0.0.0</m2p:generatorVersion>
        <m2p:layoutRef>Section Break Slide</m2p:layoutRef>
        <m2p:templateRef>EMFCC26_SpeakerPPT_TemplateA_Styled_Accessibility Review_Updated_11Aug.pptx</m2p:templateRef>
      </m2p:meta>
    </p:ext>
  </p:extLst>
</p:sld>
</file>

<file path=ppt/theme/theme1.xml><?xml version="1.0" encoding="utf-8"?>
<a:theme xmlns:thm15="http://schemas.microsoft.com/office/thememl/2012/main"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1fbb9a-23db-4311-a69c-34622b264696">
      <Terms xmlns="http://schemas.microsoft.com/office/infopath/2007/PartnerControls"/>
    </lcf76f155ced4ddcb4097134ff3c332f>
    <TaxCatchAll xmlns="1b3b1065-ae42-4d8a-aa8c-0a73a17faba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267f41264e04a5c3ada0074a8fd340dc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b5806782e6246c3a79c8d8c00ea8f5e6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D26BB1-7F1F-46F1-8F3C-0C47CE043432}">
  <ds:schemaRefs>
    <ds:schemaRef ds:uri="221fbb9a-23db-4311-a69c-34622b264696"/>
    <ds:schemaRef ds:uri="http://purl.org/dc/dcmitype/"/>
    <ds:schemaRef ds:uri="http://purl.org/dc/terms/"/>
    <ds:schemaRef ds:uri="http://schemas.microsoft.com/office/2006/metadata/properties"/>
    <ds:schemaRef ds:uri="1b3b1065-ae42-4d8a-aa8c-0a73a17faba8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E38309D-794A-4787-9F1D-A760486AD1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bb9a-23db-4311-a69c-34622b264696"/>
    <ds:schemaRef ds:uri="1b3b1065-ae42-4d8a-aa8c-0a73a17fa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157E49-3C57-4281-B896-98EEEB20EA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:vt="http://schemas.openxmlformats.org/officeDocument/2006/docPropsVTypes" xmlns="http://schemas.openxmlformats.org/officeDocument/2006/extended-properties">
  <TotalTime>0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Aptos Display</vt:lpstr>
      <vt:lpstr>MarpToPptx Theme</vt:lpstr>
      <vt:lpstr>Module 06</vt:lpstr>
      <vt:lpstr>What you built today</vt:lpstr>
      <vt:lpstr>The arc of the day</vt:lpstr>
      <vt:lpstr>Official Microsoft tutorials this workshop adapted</vt:lpstr>
      <vt:lpstr>Official Microsoft tutorials, continued</vt:lpstr>
      <vt:lpstr>Keep learning after today</vt:lpstr>
      <vt:lpstr>Before you go</vt:lpstr>
      <vt:lpstr>Thank you</vt:lpstr>
    </vt:vector>
  </TitlesOfParts>
  <Company>Created by MarpToPptx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06</dc:title>
  <dc:subject>PowerPoint Presentation</dc:subject>
  <dc:creator>MarpToPptx</dc:creator>
  <cp:lastModifiedBy>MarpToPptx</cp:lastModifiedBy>
  <cp:revision>1</cp:revision>
  <dcterms:created xsi:type="dcterms:W3CDTF">2026-09-06T19:09:22Z</dcterms:created>
  <dcterms:modified xsi:type="dcterms:W3CDTF">2026-09-06T19:09:22Z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0x010100A051F54D7AD26C459333D1AFF09839BE</vt:lpwstr>
  </property>
</Properties>
</file>